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57" r:id="rId3"/>
    <p:sldId id="258" r:id="rId4"/>
    <p:sldId id="263" r:id="rId5"/>
    <p:sldId id="259" r:id="rId6"/>
    <p:sldId id="260" r:id="rId7"/>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34A151-DD95-4C70-8D2E-7517ECAAE413}" v="1" dt="2026-04-18T15:46:30.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David Ortuno" userId="8d6f9c2417ad38a8" providerId="LiveId" clId="{52E4B027-2DEB-4021-9CA5-8041D6476B8F}"/>
    <pc:docChg chg="custSel modSld">
      <pc:chgData name="Bryan David Ortuno" userId="8d6f9c2417ad38a8" providerId="LiveId" clId="{52E4B027-2DEB-4021-9CA5-8041D6476B8F}" dt="2026-04-18T15:46:46.289" v="20" actId="115"/>
      <pc:docMkLst>
        <pc:docMk/>
      </pc:docMkLst>
      <pc:sldChg chg="modSp mod">
        <pc:chgData name="Bryan David Ortuno" userId="8d6f9c2417ad38a8" providerId="LiveId" clId="{52E4B027-2DEB-4021-9CA5-8041D6476B8F}" dt="2026-04-18T15:46:06.525" v="9" actId="20577"/>
        <pc:sldMkLst>
          <pc:docMk/>
          <pc:sldMk cId="3914707074" sldId="257"/>
        </pc:sldMkLst>
        <pc:spChg chg="mod">
          <ac:chgData name="Bryan David Ortuno" userId="8d6f9c2417ad38a8" providerId="LiveId" clId="{52E4B027-2DEB-4021-9CA5-8041D6476B8F}" dt="2026-04-18T15:46:06.525" v="9" actId="20577"/>
          <ac:spMkLst>
            <pc:docMk/>
            <pc:sldMk cId="3914707074" sldId="257"/>
            <ac:spMk id="8" creationId="{138FF13E-EF4A-4575-B106-0994E0548412}"/>
          </ac:spMkLst>
        </pc:spChg>
      </pc:sldChg>
      <pc:sldChg chg="modSp mod">
        <pc:chgData name="Bryan David Ortuno" userId="8d6f9c2417ad38a8" providerId="LiveId" clId="{52E4B027-2DEB-4021-9CA5-8041D6476B8F}" dt="2026-04-18T15:46:03.033" v="7" actId="20577"/>
        <pc:sldMkLst>
          <pc:docMk/>
          <pc:sldMk cId="3736651408" sldId="258"/>
        </pc:sldMkLst>
        <pc:spChg chg="mod">
          <ac:chgData name="Bryan David Ortuno" userId="8d6f9c2417ad38a8" providerId="LiveId" clId="{52E4B027-2DEB-4021-9CA5-8041D6476B8F}" dt="2026-04-18T15:46:03.033" v="7" actId="20577"/>
          <ac:spMkLst>
            <pc:docMk/>
            <pc:sldMk cId="3736651408" sldId="258"/>
            <ac:spMk id="4" creationId="{C0F1D5AD-F25C-4B88-8644-ACF8A999A567}"/>
          </ac:spMkLst>
        </pc:spChg>
      </pc:sldChg>
      <pc:sldChg chg="modSp mod">
        <pc:chgData name="Bryan David Ortuno" userId="8d6f9c2417ad38a8" providerId="LiveId" clId="{52E4B027-2DEB-4021-9CA5-8041D6476B8F}" dt="2026-04-18T15:46:18.708" v="11" actId="20577"/>
        <pc:sldMkLst>
          <pc:docMk/>
          <pc:sldMk cId="3685436569" sldId="259"/>
        </pc:sldMkLst>
        <pc:spChg chg="mod">
          <ac:chgData name="Bryan David Ortuno" userId="8d6f9c2417ad38a8" providerId="LiveId" clId="{52E4B027-2DEB-4021-9CA5-8041D6476B8F}" dt="2026-04-18T15:46:18.708" v="11" actId="20577"/>
          <ac:spMkLst>
            <pc:docMk/>
            <pc:sldMk cId="3685436569" sldId="259"/>
            <ac:spMk id="4" creationId="{BC6C27D4-B1FA-4DB6-85D2-71DAF8CCC79F}"/>
          </ac:spMkLst>
        </pc:spChg>
      </pc:sldChg>
      <pc:sldChg chg="modSp mod">
        <pc:chgData name="Bryan David Ortuno" userId="8d6f9c2417ad38a8" providerId="LiveId" clId="{52E4B027-2DEB-4021-9CA5-8041D6476B8F}" dt="2026-04-18T15:46:22.331" v="13" actId="20577"/>
        <pc:sldMkLst>
          <pc:docMk/>
          <pc:sldMk cId="3273740169" sldId="260"/>
        </pc:sldMkLst>
        <pc:spChg chg="mod">
          <ac:chgData name="Bryan David Ortuno" userId="8d6f9c2417ad38a8" providerId="LiveId" clId="{52E4B027-2DEB-4021-9CA5-8041D6476B8F}" dt="2026-04-18T15:46:22.331" v="13" actId="20577"/>
          <ac:spMkLst>
            <pc:docMk/>
            <pc:sldMk cId="3273740169" sldId="260"/>
            <ac:spMk id="4" creationId="{5E5B23A3-7659-44A1-8632-EB900D2F6216}"/>
          </ac:spMkLst>
        </pc:spChg>
      </pc:sldChg>
      <pc:sldChg chg="delSp mod">
        <pc:chgData name="Bryan David Ortuno" userId="8d6f9c2417ad38a8" providerId="LiveId" clId="{52E4B027-2DEB-4021-9CA5-8041D6476B8F}" dt="2026-04-18T14:54:28.161" v="1" actId="478"/>
        <pc:sldMkLst>
          <pc:docMk/>
          <pc:sldMk cId="3723385700" sldId="262"/>
        </pc:sldMkLst>
        <pc:spChg chg="del">
          <ac:chgData name="Bryan David Ortuno" userId="8d6f9c2417ad38a8" providerId="LiveId" clId="{52E4B027-2DEB-4021-9CA5-8041D6476B8F}" dt="2026-04-18T14:54:28.161" v="1" actId="478"/>
          <ac:spMkLst>
            <pc:docMk/>
            <pc:sldMk cId="3723385700" sldId="262"/>
            <ac:spMk id="7" creationId="{2452A548-062B-4F10-ABB3-3D42809B299E}"/>
          </ac:spMkLst>
        </pc:spChg>
        <pc:spChg chg="del">
          <ac:chgData name="Bryan David Ortuno" userId="8d6f9c2417ad38a8" providerId="LiveId" clId="{52E4B027-2DEB-4021-9CA5-8041D6476B8F}" dt="2026-04-18T14:54:27.333" v="0" actId="478"/>
          <ac:spMkLst>
            <pc:docMk/>
            <pc:sldMk cId="3723385700" sldId="262"/>
            <ac:spMk id="8" creationId="{4B5EAFFD-1BF6-488E-94DD-7957E45A73DB}"/>
          </ac:spMkLst>
        </pc:spChg>
      </pc:sldChg>
      <pc:sldChg chg="addSp modSp mod">
        <pc:chgData name="Bryan David Ortuno" userId="8d6f9c2417ad38a8" providerId="LiveId" clId="{52E4B027-2DEB-4021-9CA5-8041D6476B8F}" dt="2026-04-18T15:46:46.289" v="20" actId="115"/>
        <pc:sldMkLst>
          <pc:docMk/>
          <pc:sldMk cId="553085830" sldId="263"/>
        </pc:sldMkLst>
        <pc:spChg chg="mod">
          <ac:chgData name="Bryan David Ortuno" userId="8d6f9c2417ad38a8" providerId="LiveId" clId="{52E4B027-2DEB-4021-9CA5-8041D6476B8F}" dt="2026-04-18T15:46:39.632" v="18" actId="1076"/>
          <ac:spMkLst>
            <pc:docMk/>
            <pc:sldMk cId="553085830" sldId="263"/>
            <ac:spMk id="5" creationId="{A7D7C9BF-ADD0-4FA3-A29A-E5C85CF53DBE}"/>
          </ac:spMkLst>
        </pc:spChg>
        <pc:spChg chg="mod">
          <ac:chgData name="Bryan David Ortuno" userId="8d6f9c2417ad38a8" providerId="LiveId" clId="{52E4B027-2DEB-4021-9CA5-8041D6476B8F}" dt="2026-04-18T15:46:46.289" v="20" actId="115"/>
          <ac:spMkLst>
            <pc:docMk/>
            <pc:sldMk cId="553085830" sldId="263"/>
            <ac:spMk id="6" creationId="{5ACD94CE-B4C3-48B3-9FF6-7E43D6099EE8}"/>
          </ac:spMkLst>
        </pc:spChg>
        <pc:spChg chg="add mod">
          <ac:chgData name="Bryan David Ortuno" userId="8d6f9c2417ad38a8" providerId="LiveId" clId="{52E4B027-2DEB-4021-9CA5-8041D6476B8F}" dt="2026-04-18T15:46:32.340" v="17" actId="20577"/>
          <ac:spMkLst>
            <pc:docMk/>
            <pc:sldMk cId="553085830" sldId="263"/>
            <ac:spMk id="48" creationId="{5FB07602-A48A-3F8C-A71B-9605E5EE43F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2A34A4-ADEF-17C9-BF11-BAE052E7D5E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A2599C53-0F63-24FC-F9F0-F03B1C4F50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2B6A87A5-850C-C668-44D5-3E42B194B2A3}"/>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5" name="Marcador de pie de página 4">
            <a:extLst>
              <a:ext uri="{FF2B5EF4-FFF2-40B4-BE49-F238E27FC236}">
                <a16:creationId xmlns:a16="http://schemas.microsoft.com/office/drawing/2014/main" id="{6380F5BD-41D2-F063-E361-5654F65F865A}"/>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0D9E82B1-FB7B-9521-A8CE-D92B59A4B349}"/>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1464074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DDD39-8611-E40E-3C36-987124926C9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E00F4029-3FCE-893C-156B-DFE60FCC0A7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DCC3C698-D37D-FD10-64A3-F0044071776E}"/>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5" name="Marcador de pie de página 4">
            <a:extLst>
              <a:ext uri="{FF2B5EF4-FFF2-40B4-BE49-F238E27FC236}">
                <a16:creationId xmlns:a16="http://schemas.microsoft.com/office/drawing/2014/main" id="{401AFE2A-32BD-3AC8-4636-7B8E13F6140D}"/>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1FFCF082-DA03-11D2-5337-B73BEC375EBF}"/>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4159915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E791D6-D1D8-015E-EF7F-32976892498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5947D4D5-3279-0E6F-3107-2E5F3FF5FD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F388A71-FA7F-C3A0-F4AE-FF2888DC0B90}"/>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5" name="Marcador de pie de página 4">
            <a:extLst>
              <a:ext uri="{FF2B5EF4-FFF2-40B4-BE49-F238E27FC236}">
                <a16:creationId xmlns:a16="http://schemas.microsoft.com/office/drawing/2014/main" id="{2D34D613-C44E-5FF3-4F35-9DA0D859288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BA297580-C9FD-16B5-1400-A1B00EDC298C}"/>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1527601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ACFD27-1A08-71C1-F6A5-D895891C7D20}"/>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454E8317-AA33-50A3-0082-B8A8EC15B4B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5F2280F4-D91C-0745-CFBD-112B22F276C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CE369FFB-468A-20B2-AB82-09ABC38BAF66}"/>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6" name="Marcador de pie de página 5">
            <a:extLst>
              <a:ext uri="{FF2B5EF4-FFF2-40B4-BE49-F238E27FC236}">
                <a16:creationId xmlns:a16="http://schemas.microsoft.com/office/drawing/2014/main" id="{9DC5C298-D33C-AD1A-6EF8-D59A393C7EE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E6BA7771-A4AA-6EED-9D9C-D4BDEBC22EDF}"/>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2291103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7D7C25-15C7-2893-DB13-3C153990897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D0119FCB-E87E-CF7C-BC8D-B4F1C845E3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1B332FC-A315-A49D-E3F1-51C6A6F9349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DFE093-955E-4BD5-D70B-A0CE6DF650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F14AD10-2182-1F90-5479-9A96EF10D94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AF2FE251-8FFE-8C17-862A-C4DF26E4B1EB}"/>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8" name="Marcador de pie de página 7">
            <a:extLst>
              <a:ext uri="{FF2B5EF4-FFF2-40B4-BE49-F238E27FC236}">
                <a16:creationId xmlns:a16="http://schemas.microsoft.com/office/drawing/2014/main" id="{16F72499-C022-4CD4-6C63-91903CBC268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F0115844-316F-4FF9-7968-3DAA83A8D789}"/>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1831909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1E7A9-E432-67C8-4C9B-1F58DA9A76F9}"/>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52ED56E2-18FD-27C9-F77D-843E9AE10C41}"/>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4" name="Marcador de pie de página 3">
            <a:extLst>
              <a:ext uri="{FF2B5EF4-FFF2-40B4-BE49-F238E27FC236}">
                <a16:creationId xmlns:a16="http://schemas.microsoft.com/office/drawing/2014/main" id="{5B79B707-2DFA-3B65-C6FE-41A58B7A22D6}"/>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8F7B18BB-C99E-4FFC-970D-9C8F7FE1C036}"/>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4223865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FCBC1D-CF67-B800-6835-D2E7C0FEC628}"/>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3" name="Marcador de pie de página 2">
            <a:extLst>
              <a:ext uri="{FF2B5EF4-FFF2-40B4-BE49-F238E27FC236}">
                <a16:creationId xmlns:a16="http://schemas.microsoft.com/office/drawing/2014/main" id="{C1C42339-47E6-7429-588B-DC068F8471DA}"/>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6B929A48-74D2-BDC4-F793-49F2E7FAA621}"/>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145566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E723-1CB6-D971-7A1F-EE3615663C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CD4AFC54-7A22-871B-D5F8-918AAE41E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A3DCF630-6F41-90F7-E09B-BDE945F1FE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5BDD9C-5AB3-55C7-CB41-1E1EEA5218CD}"/>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6" name="Marcador de pie de página 5">
            <a:extLst>
              <a:ext uri="{FF2B5EF4-FFF2-40B4-BE49-F238E27FC236}">
                <a16:creationId xmlns:a16="http://schemas.microsoft.com/office/drawing/2014/main" id="{30D57F43-5FB4-F6B3-D186-66886070593B}"/>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266E4854-024A-FFC2-6927-8D7C6B543E84}"/>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2273316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F655A5-910C-B5B6-C2B9-915E3506AE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91EB108F-08AD-38CC-1954-84DFCF5E0D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4323B5C9-24DF-98B9-6B64-9DAFA8FA9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7F6665E-ACDF-F7D4-8C25-FC975C96AED1}"/>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6" name="Marcador de pie de página 5">
            <a:extLst>
              <a:ext uri="{FF2B5EF4-FFF2-40B4-BE49-F238E27FC236}">
                <a16:creationId xmlns:a16="http://schemas.microsoft.com/office/drawing/2014/main" id="{54C2B66C-F7D4-EAD6-6692-C301599ED96C}"/>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7FA6EFF8-C29E-5F55-A3B9-84C2CD8CED6D}"/>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1151366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67B856-3510-4BE2-EE1E-F0EF00A5B972}"/>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15D43015-2F40-6439-3D42-D7AC0DBC68F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EE6CA329-089A-1452-C7C8-B39B2BD0B4AC}"/>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5" name="Marcador de pie de página 4">
            <a:extLst>
              <a:ext uri="{FF2B5EF4-FFF2-40B4-BE49-F238E27FC236}">
                <a16:creationId xmlns:a16="http://schemas.microsoft.com/office/drawing/2014/main" id="{ED79CB4E-BE14-1E82-8662-1376D5DA5B6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07D7AC86-B96E-FC76-7366-A0FBFED02875}"/>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2790058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258114A-ADCB-6C55-6161-38DB63DC200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862E37-DE27-D206-8B94-3830CB1A912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0AFD4904-8C94-5726-FB2A-DCB3C5D077E1}"/>
              </a:ext>
            </a:extLst>
          </p:cNvPr>
          <p:cNvSpPr>
            <a:spLocks noGrp="1"/>
          </p:cNvSpPr>
          <p:nvPr>
            <p:ph type="dt" sz="half" idx="10"/>
          </p:nvPr>
        </p:nvSpPr>
        <p:spPr/>
        <p:txBody>
          <a:bodyPr/>
          <a:lstStyle/>
          <a:p>
            <a:fld id="{53D1CFC5-95A3-483A-B261-FFF2E6098CC0}" type="datetimeFigureOut">
              <a:rPr lang="es-419" smtClean="0"/>
              <a:t>18/4/2026</a:t>
            </a:fld>
            <a:endParaRPr lang="es-419"/>
          </a:p>
        </p:txBody>
      </p:sp>
      <p:sp>
        <p:nvSpPr>
          <p:cNvPr id="5" name="Marcador de pie de página 4">
            <a:extLst>
              <a:ext uri="{FF2B5EF4-FFF2-40B4-BE49-F238E27FC236}">
                <a16:creationId xmlns:a16="http://schemas.microsoft.com/office/drawing/2014/main" id="{DD086BEF-082C-E09C-6FCB-161DD3ED3D6C}"/>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18DD97F0-A43D-CCAC-E815-87DDCB893189}"/>
              </a:ext>
            </a:extLst>
          </p:cNvPr>
          <p:cNvSpPr>
            <a:spLocks noGrp="1"/>
          </p:cNvSpPr>
          <p:nvPr>
            <p:ph type="sldNum" sz="quarter" idx="12"/>
          </p:nvPr>
        </p:nvSpPr>
        <p:spPr/>
        <p:txBody>
          <a:bodyPr/>
          <a:lstStyle/>
          <a:p>
            <a:fld id="{919C1087-405B-4383-94D1-1026B3114907}" type="slidenum">
              <a:rPr lang="es-419" smtClean="0"/>
              <a:t>‹Nº›</a:t>
            </a:fld>
            <a:endParaRPr lang="es-419"/>
          </a:p>
        </p:txBody>
      </p:sp>
    </p:spTree>
    <p:extLst>
      <p:ext uri="{BB962C8B-B14F-4D97-AF65-F5344CB8AC3E}">
        <p14:creationId xmlns:p14="http://schemas.microsoft.com/office/powerpoint/2010/main" val="426363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6149F54-F2E4-475A-E6AC-5D5913EFCE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E171BADB-BB42-70B7-41AB-49256C4522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749C5FFB-BF51-7E95-CBC3-39FDB1D1A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D1CFC5-95A3-483A-B261-FFF2E6098CC0}" type="datetimeFigureOut">
              <a:rPr lang="es-419" smtClean="0"/>
              <a:t>18/4/2026</a:t>
            </a:fld>
            <a:endParaRPr lang="es-419"/>
          </a:p>
        </p:txBody>
      </p:sp>
      <p:sp>
        <p:nvSpPr>
          <p:cNvPr id="5" name="Marcador de pie de página 4">
            <a:extLst>
              <a:ext uri="{FF2B5EF4-FFF2-40B4-BE49-F238E27FC236}">
                <a16:creationId xmlns:a16="http://schemas.microsoft.com/office/drawing/2014/main" id="{956741E1-74E0-B3A6-C2A9-4577CF1A3B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419"/>
          </a:p>
        </p:txBody>
      </p:sp>
      <p:sp>
        <p:nvSpPr>
          <p:cNvPr id="6" name="Marcador de número de diapositiva 5">
            <a:extLst>
              <a:ext uri="{FF2B5EF4-FFF2-40B4-BE49-F238E27FC236}">
                <a16:creationId xmlns:a16="http://schemas.microsoft.com/office/drawing/2014/main" id="{0FE08A98-875A-6F69-D32B-E467221C96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9C1087-405B-4383-94D1-1026B3114907}" type="slidenum">
              <a:rPr lang="es-419" smtClean="0"/>
              <a:t>‹Nº›</a:t>
            </a:fld>
            <a:endParaRPr lang="es-419"/>
          </a:p>
        </p:txBody>
      </p:sp>
      <p:sp>
        <p:nvSpPr>
          <p:cNvPr id="101" name="AccentBar"/>
          <p:cNvSpPr>
            <a:spLocks noGrp="1"/>
          </p:cNvSpPr>
          <p:nvPr>
            <p:ph type="body" idx="99"/>
          </p:nvPr>
        </p:nvSpPr>
        <p:spPr>
          <a:xfrm>
            <a:off x="0" y="0"/>
            <a:ext cx="27000" cy="6858000"/>
          </a:xfrm>
          <a:prstGeom prst="rect">
            <a:avLst/>
          </a:prstGeom>
          <a:solidFill>
            <a:srgbClr val="156082"/>
          </a:solidFill>
          <a:ln>
            <a:noFill/>
          </a:ln>
        </p:spPr>
        <p:txBody>
          <a:bodyPr/>
          <a:lstStyle/>
          <a:p>
            <a:endParaRPr lang="es-ES"/>
          </a:p>
        </p:txBody>
      </p:sp>
      <p:sp>
        <p:nvSpPr>
          <p:cNvPr id="102" name="BottomLine"/>
          <p:cNvSpPr>
            <a:spLocks noGrp="1"/>
          </p:cNvSpPr>
          <p:nvPr>
            <p:ph type="body" idx="98"/>
          </p:nvPr>
        </p:nvSpPr>
        <p:spPr>
          <a:xfrm>
            <a:off x="0" y="6528000"/>
            <a:ext cx="9144000" cy="36000"/>
          </a:xfrm>
          <a:prstGeom prst="rect">
            <a:avLst/>
          </a:prstGeom>
          <a:solidFill>
            <a:srgbClr val="E97132"/>
          </a:solidFill>
          <a:ln>
            <a:noFill/>
          </a:ln>
        </p:spPr>
        <p:txBody>
          <a:bodyPr/>
          <a:lstStyle/>
          <a:p>
            <a:endParaRPr lang="es-ES"/>
          </a:p>
        </p:txBody>
      </p:sp>
    </p:spTree>
    <p:extLst>
      <p:ext uri="{BB962C8B-B14F-4D97-AF65-F5344CB8AC3E}">
        <p14:creationId xmlns:p14="http://schemas.microsoft.com/office/powerpoint/2010/main" val="11351842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0E284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2E3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EBAD7F3-8AB2-4372-A886-E05E96CDDD66}"/>
              </a:ext>
            </a:extLst>
          </p:cNvPr>
          <p:cNvSpPr/>
          <p:nvPr/>
        </p:nvSpPr>
        <p:spPr>
          <a:xfrm>
            <a:off x="0" y="0"/>
            <a:ext cx="12192000" cy="68580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 name="Rectángulo 2">
            <a:extLst>
              <a:ext uri="{FF2B5EF4-FFF2-40B4-BE49-F238E27FC236}">
                <a16:creationId xmlns:a16="http://schemas.microsoft.com/office/drawing/2014/main" id="{54CA8B19-61E3-4F34-A35A-DA8A24F7401D}"/>
              </a:ext>
            </a:extLst>
          </p:cNvPr>
          <p:cNvSpPr/>
          <p:nvPr/>
        </p:nvSpPr>
        <p:spPr>
          <a:xfrm>
            <a:off x="0" y="0"/>
            <a:ext cx="101600" cy="68580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 name="Rectángulo 3">
            <a:extLst>
              <a:ext uri="{FF2B5EF4-FFF2-40B4-BE49-F238E27FC236}">
                <a16:creationId xmlns:a16="http://schemas.microsoft.com/office/drawing/2014/main" id="{2B71DD81-16B3-41DA-8063-78616DDB7F23}"/>
              </a:ext>
            </a:extLst>
          </p:cNvPr>
          <p:cNvSpPr/>
          <p:nvPr/>
        </p:nvSpPr>
        <p:spPr>
          <a:xfrm>
            <a:off x="0" y="6629400"/>
            <a:ext cx="12192000" cy="2286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9" name="CuadroTexto 8">
            <a:extLst>
              <a:ext uri="{FF2B5EF4-FFF2-40B4-BE49-F238E27FC236}">
                <a16:creationId xmlns:a16="http://schemas.microsoft.com/office/drawing/2014/main" id="{7C2EE61E-B91D-4519-AB7E-B44F2AB2DD5B}"/>
              </a:ext>
            </a:extLst>
          </p:cNvPr>
          <p:cNvSpPr txBox="1"/>
          <p:nvPr/>
        </p:nvSpPr>
        <p:spPr>
          <a:xfrm>
            <a:off x="558800" y="660400"/>
            <a:ext cx="7620000" cy="304800"/>
          </a:xfrm>
          <a:prstGeom prst="rect">
            <a:avLst/>
          </a:prstGeom>
          <a:solidFill>
            <a:srgbClr val="0E2841"/>
          </a:solidFill>
          <a:ln>
            <a:noFill/>
          </a:ln>
        </p:spPr>
        <p:txBody>
          <a:bodyPr vertOverflow="overflow" vert="horz" wrap="square" rtlCol="0" anchor="t">
            <a:spAutoFit/>
          </a:bodyPr>
          <a:lstStyle/>
          <a:p>
            <a:pPr algn="l"/>
            <a:r>
              <a:rPr lang="es-419" sz="1300" b="1">
                <a:solidFill>
                  <a:srgbClr val="E97132"/>
                </a:solidFill>
              </a:rPr>
              <a:t>EXPOSICIÓN EJECUTIVA</a:t>
            </a:r>
          </a:p>
        </p:txBody>
      </p:sp>
      <p:sp>
        <p:nvSpPr>
          <p:cNvPr id="10" name="Rectángulo 9">
            <a:extLst>
              <a:ext uri="{FF2B5EF4-FFF2-40B4-BE49-F238E27FC236}">
                <a16:creationId xmlns:a16="http://schemas.microsoft.com/office/drawing/2014/main" id="{BA3290EC-1F09-4249-B53A-57854EDD6997}"/>
              </a:ext>
            </a:extLst>
          </p:cNvPr>
          <p:cNvSpPr/>
          <p:nvPr/>
        </p:nvSpPr>
        <p:spPr>
          <a:xfrm>
            <a:off x="558800" y="1016000"/>
            <a:ext cx="1016000" cy="381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1" name="CuadroTexto 10">
            <a:extLst>
              <a:ext uri="{FF2B5EF4-FFF2-40B4-BE49-F238E27FC236}">
                <a16:creationId xmlns:a16="http://schemas.microsoft.com/office/drawing/2014/main" id="{BB68A926-5C77-416F-9C87-743EB501F18D}"/>
              </a:ext>
            </a:extLst>
          </p:cNvPr>
          <p:cNvSpPr txBox="1"/>
          <p:nvPr/>
        </p:nvSpPr>
        <p:spPr>
          <a:xfrm>
            <a:off x="558800" y="1219200"/>
            <a:ext cx="8636000" cy="2062103"/>
          </a:xfrm>
          <a:prstGeom prst="rect">
            <a:avLst/>
          </a:prstGeom>
          <a:solidFill>
            <a:srgbClr val="0E2841"/>
          </a:solidFill>
          <a:ln>
            <a:noFill/>
          </a:ln>
        </p:spPr>
        <p:txBody>
          <a:bodyPr vertOverflow="overflow" vert="horz" wrap="square" rtlCol="0" anchor="t">
            <a:spAutoFit/>
          </a:bodyPr>
          <a:lstStyle/>
          <a:p>
            <a:pPr algn="l"/>
            <a:r>
              <a:rPr lang="es-419" sz="6400" b="1" dirty="0">
                <a:solidFill>
                  <a:srgbClr val="FFFFFF"/>
                </a:solidFill>
              </a:rPr>
              <a:t>Algoritmo de 
Luciérnaga</a:t>
            </a:r>
          </a:p>
        </p:txBody>
      </p:sp>
      <p:sp>
        <p:nvSpPr>
          <p:cNvPr id="12" name="CuadroTexto 11">
            <a:extLst>
              <a:ext uri="{FF2B5EF4-FFF2-40B4-BE49-F238E27FC236}">
                <a16:creationId xmlns:a16="http://schemas.microsoft.com/office/drawing/2014/main" id="{BFA0C69E-D470-4CAD-A9E1-55BFC72AC182}"/>
              </a:ext>
            </a:extLst>
          </p:cNvPr>
          <p:cNvSpPr txBox="1"/>
          <p:nvPr/>
        </p:nvSpPr>
        <p:spPr>
          <a:xfrm>
            <a:off x="558800" y="3429000"/>
            <a:ext cx="7620000" cy="457200"/>
          </a:xfrm>
          <a:prstGeom prst="rect">
            <a:avLst/>
          </a:prstGeom>
          <a:solidFill>
            <a:srgbClr val="0E2841"/>
          </a:solidFill>
          <a:ln>
            <a:noFill/>
          </a:ln>
        </p:spPr>
        <p:txBody>
          <a:bodyPr vertOverflow="overflow" vert="horz" wrap="square" rtlCol="0" anchor="t">
            <a:spAutoFit/>
          </a:bodyPr>
          <a:lstStyle/>
          <a:p>
            <a:pPr algn="l"/>
            <a:r>
              <a:rPr lang="es-419" sz="2200" i="1">
                <a:solidFill>
                  <a:srgbClr val="7AADCC"/>
                </a:solidFill>
              </a:rPr>
              <a:t>FA — Firefly Algorithm</a:t>
            </a:r>
          </a:p>
        </p:txBody>
      </p:sp>
      <p:sp>
        <p:nvSpPr>
          <p:cNvPr id="13" name="Rectángulo 12">
            <a:extLst>
              <a:ext uri="{FF2B5EF4-FFF2-40B4-BE49-F238E27FC236}">
                <a16:creationId xmlns:a16="http://schemas.microsoft.com/office/drawing/2014/main" id="{163080A1-CE76-491A-921E-01E973C4EAB7}"/>
              </a:ext>
            </a:extLst>
          </p:cNvPr>
          <p:cNvSpPr/>
          <p:nvPr/>
        </p:nvSpPr>
        <p:spPr>
          <a:xfrm>
            <a:off x="558800" y="4038600"/>
            <a:ext cx="5080000" cy="25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4" name="CuadroTexto 13">
            <a:extLst>
              <a:ext uri="{FF2B5EF4-FFF2-40B4-BE49-F238E27FC236}">
                <a16:creationId xmlns:a16="http://schemas.microsoft.com/office/drawing/2014/main" id="{6BA6F8E5-A240-4018-97A7-038C9D1C6FC6}"/>
              </a:ext>
            </a:extLst>
          </p:cNvPr>
          <p:cNvSpPr txBox="1"/>
          <p:nvPr/>
        </p:nvSpPr>
        <p:spPr>
          <a:xfrm>
            <a:off x="558800" y="4191000"/>
            <a:ext cx="8890000" cy="711200"/>
          </a:xfrm>
          <a:prstGeom prst="rect">
            <a:avLst/>
          </a:prstGeom>
          <a:solidFill>
            <a:srgbClr val="0E2841"/>
          </a:solidFill>
          <a:ln>
            <a:noFill/>
          </a:ln>
        </p:spPr>
        <p:txBody>
          <a:bodyPr vertOverflow="overflow" vert="horz" wrap="square" rtlCol="0" anchor="t">
            <a:spAutoFit/>
          </a:bodyPr>
          <a:lstStyle/>
          <a:p>
            <a:pPr algn="l"/>
            <a:r>
              <a:rPr lang="es-ES" sz="1400">
                <a:solidFill>
                  <a:srgbClr val="B0C4D4"/>
                </a:solidFill>
              </a:rPr>
              <a:t>Optimización de rutas logísticas mediante búsqueda inteligente
para una operación de 15 camiones, 6 bodegas y 120 puntos de entrega en Quito.</a:t>
            </a:r>
            <a:endParaRPr lang="es-419" sz="1400">
              <a:solidFill>
                <a:srgbClr val="B0C4D4"/>
              </a:solidFill>
            </a:endParaRPr>
          </a:p>
        </p:txBody>
      </p:sp>
      <p:sp>
        <p:nvSpPr>
          <p:cNvPr id="15" name="Rectángulo: esquinas redondeadas 14">
            <a:extLst>
              <a:ext uri="{FF2B5EF4-FFF2-40B4-BE49-F238E27FC236}">
                <a16:creationId xmlns:a16="http://schemas.microsoft.com/office/drawing/2014/main" id="{3BAAF9B4-BB50-4CE2-B85A-899D37B382FE}"/>
              </a:ext>
            </a:extLst>
          </p:cNvPr>
          <p:cNvSpPr/>
          <p:nvPr/>
        </p:nvSpPr>
        <p:spPr>
          <a:xfrm>
            <a:off x="558800" y="5181600"/>
            <a:ext cx="1651000" cy="4572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6" name="CuadroTexto 15">
            <a:extLst>
              <a:ext uri="{FF2B5EF4-FFF2-40B4-BE49-F238E27FC236}">
                <a16:creationId xmlns:a16="http://schemas.microsoft.com/office/drawing/2014/main" id="{D6F8F302-638A-4A9C-89C8-29AC5A23F029}"/>
              </a:ext>
            </a:extLst>
          </p:cNvPr>
          <p:cNvSpPr txBox="1"/>
          <p:nvPr/>
        </p:nvSpPr>
        <p:spPr>
          <a:xfrm>
            <a:off x="558800" y="5181600"/>
            <a:ext cx="1651000" cy="457200"/>
          </a:xfrm>
          <a:prstGeom prst="rect">
            <a:avLst/>
          </a:prstGeom>
          <a:solidFill>
            <a:srgbClr val="156082"/>
          </a:solidFill>
          <a:ln>
            <a:noFill/>
          </a:ln>
        </p:spPr>
        <p:txBody>
          <a:bodyPr vertOverflow="overflow" vert="horz" wrap="none" rtlCol="0" anchor="ctr" anchorCtr="0">
            <a:noAutofit/>
          </a:bodyPr>
          <a:lstStyle/>
          <a:p>
            <a:pPr algn="l"/>
            <a:r>
              <a:rPr lang="es-419" sz="1600" b="1">
                <a:solidFill>
                  <a:srgbClr val="FFFFFF"/>
                </a:solidFill>
              </a:rPr>
              <a:t>GRUPO 7</a:t>
            </a:r>
          </a:p>
        </p:txBody>
      </p:sp>
      <p:sp>
        <p:nvSpPr>
          <p:cNvPr id="17" name="CuadroTexto 16">
            <a:extLst>
              <a:ext uri="{FF2B5EF4-FFF2-40B4-BE49-F238E27FC236}">
                <a16:creationId xmlns:a16="http://schemas.microsoft.com/office/drawing/2014/main" id="{42F8842A-6309-4A30-8659-B923DFE1C64D}"/>
              </a:ext>
            </a:extLst>
          </p:cNvPr>
          <p:cNvSpPr txBox="1"/>
          <p:nvPr/>
        </p:nvSpPr>
        <p:spPr>
          <a:xfrm>
            <a:off x="558800" y="6273800"/>
            <a:ext cx="8890000" cy="177800"/>
          </a:xfrm>
          <a:prstGeom prst="rect">
            <a:avLst/>
          </a:prstGeom>
          <a:solidFill>
            <a:srgbClr val="0E2841"/>
          </a:solidFill>
          <a:ln>
            <a:noFill/>
          </a:ln>
        </p:spPr>
        <p:txBody>
          <a:bodyPr vertOverflow="overflow" vert="horz" wrap="square" rtlCol="0" anchor="t">
            <a:spAutoFit/>
          </a:bodyPr>
          <a:lstStyle/>
          <a:p>
            <a:pPr algn="l"/>
            <a:r>
              <a:rPr lang="es-ES" sz="1000">
                <a:solidFill>
                  <a:srgbClr val="4A6070"/>
                </a:solidFill>
              </a:rPr>
              <a:t>Propuesta Técnica · Investigación de Operaciones</a:t>
            </a:r>
            <a:endParaRPr lang="es-419" sz="1000">
              <a:solidFill>
                <a:srgbClr val="4A6070"/>
              </a:solidFill>
            </a:endParaRPr>
          </a:p>
        </p:txBody>
      </p:sp>
    </p:spTree>
    <p:extLst>
      <p:ext uri="{BB962C8B-B14F-4D97-AF65-F5344CB8AC3E}">
        <p14:creationId xmlns:p14="http://schemas.microsoft.com/office/powerpoint/2010/main" val="3723385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alpha val="100000"/>
          </a:srgbClr>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4B285E39-B412-4B94-9DD2-311B57CCD25E}"/>
              </a:ext>
            </a:extLst>
          </p:cNvPr>
          <p:cNvSpPr/>
          <p:nvPr/>
        </p:nvSpPr>
        <p:spPr>
          <a:xfrm>
            <a:off x="0" y="0"/>
            <a:ext cx="355600" cy="68580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7" name="Rectángulo 6">
            <a:extLst>
              <a:ext uri="{FF2B5EF4-FFF2-40B4-BE49-F238E27FC236}">
                <a16:creationId xmlns:a16="http://schemas.microsoft.com/office/drawing/2014/main" id="{DEBA69E4-AB4F-45CC-B67F-E835AD4E37F2}"/>
              </a:ext>
            </a:extLst>
          </p:cNvPr>
          <p:cNvSpPr/>
          <p:nvPr/>
        </p:nvSpPr>
        <p:spPr>
          <a:xfrm>
            <a:off x="0" y="6705600"/>
            <a:ext cx="12192000" cy="152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8" name="CuadroTexto 7">
            <a:extLst>
              <a:ext uri="{FF2B5EF4-FFF2-40B4-BE49-F238E27FC236}">
                <a16:creationId xmlns:a16="http://schemas.microsoft.com/office/drawing/2014/main" id="{138FF13E-EF4A-4575-B106-0994E0548412}"/>
              </a:ext>
            </a:extLst>
          </p:cNvPr>
          <p:cNvSpPr txBox="1"/>
          <p:nvPr/>
        </p:nvSpPr>
        <p:spPr>
          <a:xfrm>
            <a:off x="558800" y="101600"/>
            <a:ext cx="1524000" cy="246221"/>
          </a:xfrm>
          <a:prstGeom prst="rect">
            <a:avLst/>
          </a:prstGeom>
          <a:solidFill>
            <a:srgbClr val="F7F8FA"/>
          </a:solidFill>
          <a:ln>
            <a:noFill/>
          </a:ln>
        </p:spPr>
        <p:txBody>
          <a:bodyPr vertOverflow="overflow" vert="horz" wrap="square" rtlCol="0" anchor="t">
            <a:spAutoFit/>
          </a:bodyPr>
          <a:lstStyle/>
          <a:p>
            <a:pPr algn="l"/>
            <a:r>
              <a:rPr lang="es-419" sz="1000" b="1" dirty="0">
                <a:solidFill>
                  <a:srgbClr val="B04E1A"/>
                </a:solidFill>
              </a:rPr>
              <a:t>01 / 05</a:t>
            </a:r>
          </a:p>
        </p:txBody>
      </p:sp>
      <p:sp>
        <p:nvSpPr>
          <p:cNvPr id="9" name="CuadroTexto 8">
            <a:extLst>
              <a:ext uri="{FF2B5EF4-FFF2-40B4-BE49-F238E27FC236}">
                <a16:creationId xmlns:a16="http://schemas.microsoft.com/office/drawing/2014/main" id="{F5D76D9D-EA88-4241-867F-F8B6CC7C3E45}"/>
              </a:ext>
            </a:extLst>
          </p:cNvPr>
          <p:cNvSpPr txBox="1"/>
          <p:nvPr/>
        </p:nvSpPr>
        <p:spPr>
          <a:xfrm>
            <a:off x="558800" y="330200"/>
            <a:ext cx="11430000" cy="762000"/>
          </a:xfrm>
          <a:prstGeom prst="rect">
            <a:avLst/>
          </a:prstGeom>
          <a:solidFill>
            <a:srgbClr val="F7F8FA"/>
          </a:solidFill>
          <a:ln>
            <a:noFill/>
          </a:ln>
        </p:spPr>
        <p:txBody>
          <a:bodyPr vertOverflow="overflow" vert="horz" wrap="square" rtlCol="0" anchor="t">
            <a:spAutoFit/>
          </a:bodyPr>
          <a:lstStyle/>
          <a:p>
            <a:pPr algn="l"/>
            <a:r>
              <a:rPr lang="es-ES" sz="2600" b="1">
                <a:solidFill>
                  <a:srgbClr val="0E2841"/>
                </a:solidFill>
              </a:rPr>
              <a:t>La planificación logística opera por debajo de su potencial real</a:t>
            </a:r>
            <a:endParaRPr lang="es-419" sz="2600" b="1">
              <a:solidFill>
                <a:srgbClr val="0E2841"/>
              </a:solidFill>
            </a:endParaRPr>
          </a:p>
        </p:txBody>
      </p:sp>
      <p:sp>
        <p:nvSpPr>
          <p:cNvPr id="10" name="CuadroTexto 9">
            <a:extLst>
              <a:ext uri="{FF2B5EF4-FFF2-40B4-BE49-F238E27FC236}">
                <a16:creationId xmlns:a16="http://schemas.microsoft.com/office/drawing/2014/main" id="{78C16D8C-5F9F-40FB-80C4-8931C6F8B8E6}"/>
              </a:ext>
            </a:extLst>
          </p:cNvPr>
          <p:cNvSpPr txBox="1"/>
          <p:nvPr/>
        </p:nvSpPr>
        <p:spPr>
          <a:xfrm>
            <a:off x="558800" y="1219200"/>
            <a:ext cx="3556000" cy="177800"/>
          </a:xfrm>
          <a:prstGeom prst="rect">
            <a:avLst/>
          </a:prstGeom>
          <a:solidFill>
            <a:srgbClr val="F7F8FA"/>
          </a:solidFill>
          <a:ln>
            <a:noFill/>
          </a:ln>
        </p:spPr>
        <p:txBody>
          <a:bodyPr vertOverflow="overflow" vert="horz" wrap="square" rtlCol="0" anchor="t">
            <a:spAutoFit/>
          </a:bodyPr>
          <a:lstStyle/>
          <a:p>
            <a:pPr algn="l"/>
            <a:r>
              <a:rPr lang="es-419" sz="900" b="1">
                <a:solidFill>
                  <a:srgbClr val="156082"/>
                </a:solidFill>
              </a:rPr>
              <a:t>CONTEXTO OPERATIVO</a:t>
            </a:r>
          </a:p>
        </p:txBody>
      </p:sp>
      <p:sp>
        <p:nvSpPr>
          <p:cNvPr id="11" name="CuadroTexto 10">
            <a:extLst>
              <a:ext uri="{FF2B5EF4-FFF2-40B4-BE49-F238E27FC236}">
                <a16:creationId xmlns:a16="http://schemas.microsoft.com/office/drawing/2014/main" id="{BFE366B8-306D-40A7-9D21-A9C17DCBA206}"/>
              </a:ext>
            </a:extLst>
          </p:cNvPr>
          <p:cNvSpPr txBox="1"/>
          <p:nvPr/>
        </p:nvSpPr>
        <p:spPr>
          <a:xfrm>
            <a:off x="558800" y="1422400"/>
            <a:ext cx="3556000" cy="533400"/>
          </a:xfrm>
          <a:prstGeom prst="rect">
            <a:avLst/>
          </a:prstGeom>
          <a:solidFill>
            <a:srgbClr val="F7F8FA"/>
          </a:solidFill>
          <a:ln>
            <a:noFill/>
          </a:ln>
        </p:spPr>
        <p:txBody>
          <a:bodyPr vertOverflow="overflow" vert="horz" wrap="square" rtlCol="0" anchor="t">
            <a:spAutoFit/>
          </a:bodyPr>
          <a:lstStyle/>
          <a:p>
            <a:pPr algn="l"/>
            <a:r>
              <a:rPr lang="es-ES" sz="1200">
                <a:solidFill>
                  <a:srgbClr val="1A2E3F"/>
                </a:solidFill>
              </a:rPr>
              <a:t>15 camiones · 6 bodegas · 120 puntos en Quito
Planificación manual basada en experiencia acumulada.</a:t>
            </a:r>
            <a:endParaRPr lang="es-419" sz="1200">
              <a:solidFill>
                <a:srgbClr val="1A2E3F"/>
              </a:solidFill>
            </a:endParaRPr>
          </a:p>
        </p:txBody>
      </p:sp>
      <p:sp>
        <p:nvSpPr>
          <p:cNvPr id="12" name="Rectángulo: esquinas redondeadas 11">
            <a:extLst>
              <a:ext uri="{FF2B5EF4-FFF2-40B4-BE49-F238E27FC236}">
                <a16:creationId xmlns:a16="http://schemas.microsoft.com/office/drawing/2014/main" id="{B13EDDF2-977F-4131-9AD3-F5E99934DC96}"/>
              </a:ext>
            </a:extLst>
          </p:cNvPr>
          <p:cNvSpPr/>
          <p:nvPr/>
        </p:nvSpPr>
        <p:spPr>
          <a:xfrm>
            <a:off x="558800" y="2032000"/>
            <a:ext cx="2032000" cy="8382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3" name="CuadroTexto 12">
            <a:extLst>
              <a:ext uri="{FF2B5EF4-FFF2-40B4-BE49-F238E27FC236}">
                <a16:creationId xmlns:a16="http://schemas.microsoft.com/office/drawing/2014/main" id="{DDAB5FEF-DF02-494A-857E-A991A13C3432}"/>
              </a:ext>
            </a:extLst>
          </p:cNvPr>
          <p:cNvSpPr txBox="1"/>
          <p:nvPr/>
        </p:nvSpPr>
        <p:spPr>
          <a:xfrm>
            <a:off x="660400" y="2082800"/>
            <a:ext cx="1854200" cy="369332"/>
          </a:xfrm>
          <a:prstGeom prst="rect">
            <a:avLst/>
          </a:prstGeom>
          <a:solidFill>
            <a:srgbClr val="EDF3F8"/>
          </a:solidFill>
          <a:ln>
            <a:noFill/>
          </a:ln>
        </p:spPr>
        <p:txBody>
          <a:bodyPr vertOverflow="overflow" vert="horz" wrap="square" rtlCol="0" anchor="t">
            <a:spAutoFit/>
          </a:bodyPr>
          <a:lstStyle/>
          <a:p>
            <a:r>
              <a:rPr lang="es-419" b="1" dirty="0">
                <a:solidFill>
                  <a:srgbClr val="156082"/>
                </a:solidFill>
              </a:rPr>
              <a:t>10^80</a:t>
            </a:r>
          </a:p>
        </p:txBody>
      </p:sp>
      <p:sp>
        <p:nvSpPr>
          <p:cNvPr id="14" name="CuadroTexto 13">
            <a:extLst>
              <a:ext uri="{FF2B5EF4-FFF2-40B4-BE49-F238E27FC236}">
                <a16:creationId xmlns:a16="http://schemas.microsoft.com/office/drawing/2014/main" id="{19D6F262-DE7B-47A9-9182-7F60888A43B8}"/>
              </a:ext>
            </a:extLst>
          </p:cNvPr>
          <p:cNvSpPr txBox="1"/>
          <p:nvPr/>
        </p:nvSpPr>
        <p:spPr>
          <a:xfrm>
            <a:off x="660400" y="2413000"/>
            <a:ext cx="1854200" cy="406400"/>
          </a:xfrm>
          <a:prstGeom prst="rect">
            <a:avLst/>
          </a:prstGeom>
          <a:solidFill>
            <a:srgbClr val="EDF3F8"/>
          </a:solidFill>
          <a:ln>
            <a:noFill/>
          </a:ln>
        </p:spPr>
        <p:txBody>
          <a:bodyPr vertOverflow="overflow" vert="horz" wrap="square" rtlCol="0" anchor="t">
            <a:spAutoFit/>
          </a:bodyPr>
          <a:lstStyle/>
          <a:p>
            <a:pPr algn="l"/>
            <a:r>
              <a:rPr lang="es-419" sz="1000">
                <a:solidFill>
                  <a:srgbClr val="4A6070"/>
                </a:solidFill>
              </a:rPr>
              <a:t>combinaciones posibles</a:t>
            </a:r>
          </a:p>
        </p:txBody>
      </p:sp>
      <p:sp>
        <p:nvSpPr>
          <p:cNvPr id="15" name="Rectángulo: esquinas redondeadas 14">
            <a:extLst>
              <a:ext uri="{FF2B5EF4-FFF2-40B4-BE49-F238E27FC236}">
                <a16:creationId xmlns:a16="http://schemas.microsoft.com/office/drawing/2014/main" id="{62769483-9684-49D7-91B2-246F5D7B67BF}"/>
              </a:ext>
            </a:extLst>
          </p:cNvPr>
          <p:cNvSpPr/>
          <p:nvPr/>
        </p:nvSpPr>
        <p:spPr>
          <a:xfrm>
            <a:off x="2743200" y="2032000"/>
            <a:ext cx="2032000" cy="8382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6" name="CuadroTexto 15">
            <a:extLst>
              <a:ext uri="{FF2B5EF4-FFF2-40B4-BE49-F238E27FC236}">
                <a16:creationId xmlns:a16="http://schemas.microsoft.com/office/drawing/2014/main" id="{D833B9BA-7B78-4453-A6A4-FD56ABC5817B}"/>
              </a:ext>
            </a:extLst>
          </p:cNvPr>
          <p:cNvSpPr txBox="1"/>
          <p:nvPr/>
        </p:nvSpPr>
        <p:spPr>
          <a:xfrm>
            <a:off x="2844800" y="2082800"/>
            <a:ext cx="1854200" cy="330200"/>
          </a:xfrm>
          <a:prstGeom prst="rect">
            <a:avLst/>
          </a:prstGeom>
          <a:solidFill>
            <a:srgbClr val="EDF3F8"/>
          </a:solidFill>
          <a:ln>
            <a:noFill/>
          </a:ln>
        </p:spPr>
        <p:txBody>
          <a:bodyPr vertOverflow="overflow" vert="horz" wrap="square" rtlCol="0" anchor="t">
            <a:spAutoFit/>
          </a:bodyPr>
          <a:lstStyle/>
          <a:p>
            <a:pPr algn="l"/>
            <a:r>
              <a:rPr lang="es-419" b="1" dirty="0">
                <a:solidFill>
                  <a:srgbClr val="156082"/>
                </a:solidFill>
              </a:rPr>
              <a:t>~Decenas</a:t>
            </a:r>
          </a:p>
        </p:txBody>
      </p:sp>
      <p:sp>
        <p:nvSpPr>
          <p:cNvPr id="17" name="CuadroTexto 16">
            <a:extLst>
              <a:ext uri="{FF2B5EF4-FFF2-40B4-BE49-F238E27FC236}">
                <a16:creationId xmlns:a16="http://schemas.microsoft.com/office/drawing/2014/main" id="{82175276-9E59-4CD3-BF56-407473A320AE}"/>
              </a:ext>
            </a:extLst>
          </p:cNvPr>
          <p:cNvSpPr txBox="1"/>
          <p:nvPr/>
        </p:nvSpPr>
        <p:spPr>
          <a:xfrm>
            <a:off x="2844800" y="2413000"/>
            <a:ext cx="1854200" cy="406400"/>
          </a:xfrm>
          <a:prstGeom prst="rect">
            <a:avLst/>
          </a:prstGeom>
          <a:solidFill>
            <a:srgbClr val="EDF3F8"/>
          </a:solidFill>
          <a:ln>
            <a:noFill/>
          </a:ln>
        </p:spPr>
        <p:txBody>
          <a:bodyPr vertOverflow="overflow" vert="horz" wrap="square" rtlCol="0" anchor="t">
            <a:spAutoFit/>
          </a:bodyPr>
          <a:lstStyle/>
          <a:p>
            <a:pPr algn="l"/>
            <a:r>
              <a:rPr lang="es-419" sz="1000">
                <a:solidFill>
                  <a:srgbClr val="4A6070"/>
                </a:solidFill>
              </a:rPr>
              <a:t>opciones por día (actual)</a:t>
            </a:r>
          </a:p>
        </p:txBody>
      </p:sp>
      <p:sp>
        <p:nvSpPr>
          <p:cNvPr id="18" name="Rectángulo: esquinas redondeadas 17">
            <a:extLst>
              <a:ext uri="{FF2B5EF4-FFF2-40B4-BE49-F238E27FC236}">
                <a16:creationId xmlns:a16="http://schemas.microsoft.com/office/drawing/2014/main" id="{516E74EA-DA3F-490C-8911-937FED8F30A8}"/>
              </a:ext>
            </a:extLst>
          </p:cNvPr>
          <p:cNvSpPr/>
          <p:nvPr/>
        </p:nvSpPr>
        <p:spPr>
          <a:xfrm>
            <a:off x="4927600" y="2032000"/>
            <a:ext cx="2032000" cy="8382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9" name="CuadroTexto 18">
            <a:extLst>
              <a:ext uri="{FF2B5EF4-FFF2-40B4-BE49-F238E27FC236}">
                <a16:creationId xmlns:a16="http://schemas.microsoft.com/office/drawing/2014/main" id="{41BBB564-BDD1-410F-B83A-5BD827C62B23}"/>
              </a:ext>
            </a:extLst>
          </p:cNvPr>
          <p:cNvSpPr txBox="1"/>
          <p:nvPr/>
        </p:nvSpPr>
        <p:spPr>
          <a:xfrm>
            <a:off x="5029200" y="2082800"/>
            <a:ext cx="1854200" cy="330200"/>
          </a:xfrm>
          <a:prstGeom prst="rect">
            <a:avLst/>
          </a:prstGeom>
          <a:solidFill>
            <a:srgbClr val="EDF3F8"/>
          </a:solidFill>
          <a:ln>
            <a:noFill/>
          </a:ln>
        </p:spPr>
        <p:txBody>
          <a:bodyPr vertOverflow="overflow" vert="horz" wrap="square" rtlCol="0" anchor="t">
            <a:spAutoFit/>
          </a:bodyPr>
          <a:lstStyle/>
          <a:p>
            <a:pPr algn="l"/>
            <a:r>
              <a:rPr lang="es-419" b="1">
                <a:solidFill>
                  <a:srgbClr val="156082"/>
                </a:solidFill>
              </a:rPr>
              <a:t>Diario</a:t>
            </a:r>
          </a:p>
        </p:txBody>
      </p:sp>
      <p:sp>
        <p:nvSpPr>
          <p:cNvPr id="20" name="CuadroTexto 19">
            <a:extLst>
              <a:ext uri="{FF2B5EF4-FFF2-40B4-BE49-F238E27FC236}">
                <a16:creationId xmlns:a16="http://schemas.microsoft.com/office/drawing/2014/main" id="{4656FFC1-2216-40C5-AB54-98E7E93E55C4}"/>
              </a:ext>
            </a:extLst>
          </p:cNvPr>
          <p:cNvSpPr txBox="1"/>
          <p:nvPr/>
        </p:nvSpPr>
        <p:spPr>
          <a:xfrm>
            <a:off x="5029200" y="2413000"/>
            <a:ext cx="1854200" cy="406400"/>
          </a:xfrm>
          <a:prstGeom prst="rect">
            <a:avLst/>
          </a:prstGeom>
          <a:solidFill>
            <a:srgbClr val="EDF3F8"/>
          </a:solidFill>
          <a:ln>
            <a:noFill/>
          </a:ln>
        </p:spPr>
        <p:txBody>
          <a:bodyPr vertOverflow="overflow" vert="horz" wrap="square" rtlCol="0" anchor="t">
            <a:spAutoFit/>
          </a:bodyPr>
          <a:lstStyle/>
          <a:p>
            <a:pPr algn="l"/>
            <a:r>
              <a:rPr lang="es-ES" sz="1000">
                <a:solidFill>
                  <a:srgbClr val="4A6070"/>
                </a:solidFill>
              </a:rPr>
              <a:t>cambio en tráfico y stock</a:t>
            </a:r>
            <a:endParaRPr lang="es-419" sz="1000">
              <a:solidFill>
                <a:srgbClr val="4A6070"/>
              </a:solidFill>
            </a:endParaRPr>
          </a:p>
        </p:txBody>
      </p:sp>
      <p:sp>
        <p:nvSpPr>
          <p:cNvPr id="21" name="CuadroTexto 20">
            <a:extLst>
              <a:ext uri="{FF2B5EF4-FFF2-40B4-BE49-F238E27FC236}">
                <a16:creationId xmlns:a16="http://schemas.microsoft.com/office/drawing/2014/main" id="{40177747-8C54-409F-8C8B-8324B1C12965}"/>
              </a:ext>
            </a:extLst>
          </p:cNvPr>
          <p:cNvSpPr txBox="1"/>
          <p:nvPr/>
        </p:nvSpPr>
        <p:spPr>
          <a:xfrm>
            <a:off x="558800" y="3022600"/>
            <a:ext cx="6858000" cy="177800"/>
          </a:xfrm>
          <a:prstGeom prst="rect">
            <a:avLst/>
          </a:prstGeom>
          <a:solidFill>
            <a:srgbClr val="F7F8FA"/>
          </a:solidFill>
          <a:ln>
            <a:noFill/>
          </a:ln>
        </p:spPr>
        <p:txBody>
          <a:bodyPr vertOverflow="overflow" vert="horz" wrap="square" rtlCol="0" anchor="t">
            <a:spAutoFit/>
          </a:bodyPr>
          <a:lstStyle/>
          <a:p>
            <a:pPr algn="l"/>
            <a:r>
              <a:rPr lang="es-419" sz="900" b="1">
                <a:solidFill>
                  <a:srgbClr val="156082"/>
                </a:solidFill>
              </a:rPr>
              <a:t>LA BRECHA IDENTIFICADA</a:t>
            </a:r>
          </a:p>
        </p:txBody>
      </p:sp>
      <p:sp>
        <p:nvSpPr>
          <p:cNvPr id="22" name="Rectángulo 21">
            <a:extLst>
              <a:ext uri="{FF2B5EF4-FFF2-40B4-BE49-F238E27FC236}">
                <a16:creationId xmlns:a16="http://schemas.microsoft.com/office/drawing/2014/main" id="{EDEE9209-779A-4AD3-B7AD-EEFF37C0541B}"/>
              </a:ext>
            </a:extLst>
          </p:cNvPr>
          <p:cNvSpPr/>
          <p:nvPr/>
        </p:nvSpPr>
        <p:spPr>
          <a:xfrm>
            <a:off x="558800" y="3225800"/>
            <a:ext cx="33020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3" name="CuadroTexto 22">
            <a:extLst>
              <a:ext uri="{FF2B5EF4-FFF2-40B4-BE49-F238E27FC236}">
                <a16:creationId xmlns:a16="http://schemas.microsoft.com/office/drawing/2014/main" id="{32BD1537-29E7-4AAB-BEA0-E674F64F1640}"/>
              </a:ext>
            </a:extLst>
          </p:cNvPr>
          <p:cNvSpPr txBox="1"/>
          <p:nvPr/>
        </p:nvSpPr>
        <p:spPr>
          <a:xfrm>
            <a:off x="635000" y="3251200"/>
            <a:ext cx="3200400" cy="228600"/>
          </a:xfrm>
          <a:prstGeom prst="rect">
            <a:avLst/>
          </a:prstGeom>
          <a:solidFill>
            <a:srgbClr val="156082"/>
          </a:solidFill>
          <a:ln>
            <a:noFill/>
          </a:ln>
        </p:spPr>
        <p:txBody>
          <a:bodyPr vertOverflow="overflow" vert="horz" wrap="square" rtlCol="0" anchor="t">
            <a:spAutoFit/>
          </a:bodyPr>
          <a:lstStyle/>
          <a:p>
            <a:pPr algn="l"/>
            <a:r>
              <a:rPr lang="es-ES" sz="1000" b="1">
                <a:solidFill>
                  <a:srgbClr val="FFFFFF"/>
                </a:solidFill>
              </a:rPr>
              <a:t>Lo que el problema exige</a:t>
            </a:r>
            <a:endParaRPr lang="es-419" sz="1000" b="1">
              <a:solidFill>
                <a:srgbClr val="FFFFFF"/>
              </a:solidFill>
            </a:endParaRPr>
          </a:p>
        </p:txBody>
      </p:sp>
      <p:sp>
        <p:nvSpPr>
          <p:cNvPr id="24" name="Rectángulo 23">
            <a:extLst>
              <a:ext uri="{FF2B5EF4-FFF2-40B4-BE49-F238E27FC236}">
                <a16:creationId xmlns:a16="http://schemas.microsoft.com/office/drawing/2014/main" id="{8C98E1FD-82F6-46C8-B4F7-8518CBB2A863}"/>
              </a:ext>
            </a:extLst>
          </p:cNvPr>
          <p:cNvSpPr/>
          <p:nvPr/>
        </p:nvSpPr>
        <p:spPr>
          <a:xfrm>
            <a:off x="3962400" y="3225800"/>
            <a:ext cx="33020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5" name="CuadroTexto 24">
            <a:extLst>
              <a:ext uri="{FF2B5EF4-FFF2-40B4-BE49-F238E27FC236}">
                <a16:creationId xmlns:a16="http://schemas.microsoft.com/office/drawing/2014/main" id="{DE09795C-5A18-41AD-8F0B-2CDD24C6B5F3}"/>
              </a:ext>
            </a:extLst>
          </p:cNvPr>
          <p:cNvSpPr txBox="1"/>
          <p:nvPr/>
        </p:nvSpPr>
        <p:spPr>
          <a:xfrm>
            <a:off x="4038600" y="3251200"/>
            <a:ext cx="3200400" cy="228600"/>
          </a:xfrm>
          <a:prstGeom prst="rect">
            <a:avLst/>
          </a:prstGeom>
          <a:solidFill>
            <a:srgbClr val="156082"/>
          </a:solidFill>
          <a:ln>
            <a:noFill/>
          </a:ln>
        </p:spPr>
        <p:txBody>
          <a:bodyPr vertOverflow="overflow" vert="horz" wrap="square" rtlCol="0" anchor="t">
            <a:spAutoFit/>
          </a:bodyPr>
          <a:lstStyle/>
          <a:p>
            <a:pPr algn="l"/>
            <a:r>
              <a:rPr lang="es-ES" sz="1000" b="1">
                <a:solidFill>
                  <a:srgbClr val="FFFFFF"/>
                </a:solidFill>
              </a:rPr>
              <a:t>Lo que el método actual ofrece</a:t>
            </a:r>
            <a:endParaRPr lang="es-419" sz="1000" b="1">
              <a:solidFill>
                <a:srgbClr val="FFFFFF"/>
              </a:solidFill>
            </a:endParaRPr>
          </a:p>
        </p:txBody>
      </p:sp>
      <p:sp>
        <p:nvSpPr>
          <p:cNvPr id="26" name="Rectángulo 25">
            <a:extLst>
              <a:ext uri="{FF2B5EF4-FFF2-40B4-BE49-F238E27FC236}">
                <a16:creationId xmlns:a16="http://schemas.microsoft.com/office/drawing/2014/main" id="{3B854A6B-C131-47D8-A9D8-487023ED95A1}"/>
              </a:ext>
            </a:extLst>
          </p:cNvPr>
          <p:cNvSpPr/>
          <p:nvPr/>
        </p:nvSpPr>
        <p:spPr>
          <a:xfrm>
            <a:off x="558800" y="3505200"/>
            <a:ext cx="3302000" cy="330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7" name="CuadroTexto 26">
            <a:extLst>
              <a:ext uri="{FF2B5EF4-FFF2-40B4-BE49-F238E27FC236}">
                <a16:creationId xmlns:a16="http://schemas.microsoft.com/office/drawing/2014/main" id="{9C4844B0-EADA-4F04-9EF2-8A0B966592C0}"/>
              </a:ext>
            </a:extLst>
          </p:cNvPr>
          <p:cNvSpPr txBox="1"/>
          <p:nvPr/>
        </p:nvSpPr>
        <p:spPr>
          <a:xfrm>
            <a:off x="635000" y="3530600"/>
            <a:ext cx="3200400" cy="279400"/>
          </a:xfrm>
          <a:prstGeom prst="rect">
            <a:avLst/>
          </a:prstGeom>
          <a:solidFill>
            <a:srgbClr val="EDF3F8"/>
          </a:solidFill>
          <a:ln>
            <a:noFill/>
          </a:ln>
        </p:spPr>
        <p:txBody>
          <a:bodyPr vertOverflow="overflow" vert="horz" wrap="square" rtlCol="0" anchor="t">
            <a:spAutoFit/>
          </a:bodyPr>
          <a:lstStyle/>
          <a:p>
            <a:pPr algn="l"/>
            <a:r>
              <a:rPr lang="es-419" sz="1100">
                <a:solidFill>
                  <a:srgbClr val="1A2E3F"/>
                </a:solidFill>
              </a:rPr>
              <a:t>Evaluar millones de combinaciones</a:t>
            </a:r>
          </a:p>
        </p:txBody>
      </p:sp>
      <p:sp>
        <p:nvSpPr>
          <p:cNvPr id="28" name="Rectángulo 27">
            <a:extLst>
              <a:ext uri="{FF2B5EF4-FFF2-40B4-BE49-F238E27FC236}">
                <a16:creationId xmlns:a16="http://schemas.microsoft.com/office/drawing/2014/main" id="{832C8D0C-4ACB-46D1-A3F0-2885EFEB1378}"/>
              </a:ext>
            </a:extLst>
          </p:cNvPr>
          <p:cNvSpPr/>
          <p:nvPr/>
        </p:nvSpPr>
        <p:spPr>
          <a:xfrm>
            <a:off x="3962400" y="3505200"/>
            <a:ext cx="3302000" cy="330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9" name="CuadroTexto 28">
            <a:extLst>
              <a:ext uri="{FF2B5EF4-FFF2-40B4-BE49-F238E27FC236}">
                <a16:creationId xmlns:a16="http://schemas.microsoft.com/office/drawing/2014/main" id="{E2A715BD-8D3F-4ECD-A03F-F5863BD11512}"/>
              </a:ext>
            </a:extLst>
          </p:cNvPr>
          <p:cNvSpPr txBox="1"/>
          <p:nvPr/>
        </p:nvSpPr>
        <p:spPr>
          <a:xfrm>
            <a:off x="4038600" y="3530600"/>
            <a:ext cx="3200400" cy="279400"/>
          </a:xfrm>
          <a:prstGeom prst="rect">
            <a:avLst/>
          </a:prstGeom>
          <a:solidFill>
            <a:srgbClr val="EDF3F8"/>
          </a:solidFill>
          <a:ln>
            <a:noFill/>
          </a:ln>
        </p:spPr>
        <p:txBody>
          <a:bodyPr vertOverflow="overflow" vert="horz" wrap="square" rtlCol="0" anchor="t">
            <a:spAutoFit/>
          </a:bodyPr>
          <a:lstStyle/>
          <a:p>
            <a:pPr algn="l"/>
            <a:r>
              <a:rPr lang="es-419" sz="1100">
                <a:solidFill>
                  <a:srgbClr val="1A2E3F"/>
                </a:solidFill>
              </a:rPr>
              <a:t>Evalúa decenas por experiencia</a:t>
            </a:r>
          </a:p>
        </p:txBody>
      </p:sp>
      <p:sp>
        <p:nvSpPr>
          <p:cNvPr id="30" name="Rectángulo 29">
            <a:extLst>
              <a:ext uri="{FF2B5EF4-FFF2-40B4-BE49-F238E27FC236}">
                <a16:creationId xmlns:a16="http://schemas.microsoft.com/office/drawing/2014/main" id="{87B45BB9-0947-4DA8-8E40-CC01D3C8D930}"/>
              </a:ext>
            </a:extLst>
          </p:cNvPr>
          <p:cNvSpPr/>
          <p:nvPr/>
        </p:nvSpPr>
        <p:spPr>
          <a:xfrm>
            <a:off x="558800" y="3835400"/>
            <a:ext cx="3302000" cy="330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1" name="CuadroTexto 30">
            <a:extLst>
              <a:ext uri="{FF2B5EF4-FFF2-40B4-BE49-F238E27FC236}">
                <a16:creationId xmlns:a16="http://schemas.microsoft.com/office/drawing/2014/main" id="{BB1BCC69-85F5-4AA3-90AF-F6DD43C18563}"/>
              </a:ext>
            </a:extLst>
          </p:cNvPr>
          <p:cNvSpPr txBox="1"/>
          <p:nvPr/>
        </p:nvSpPr>
        <p:spPr>
          <a:xfrm>
            <a:off x="635000" y="3860800"/>
            <a:ext cx="3200400" cy="279400"/>
          </a:xfrm>
          <a:prstGeom prst="rect">
            <a:avLst/>
          </a:prstGeom>
          <a:solidFill>
            <a:srgbClr val="FFFFFF"/>
          </a:solidFill>
          <a:ln>
            <a:noFill/>
          </a:ln>
        </p:spPr>
        <p:txBody>
          <a:bodyPr vertOverflow="overflow" vert="horz" wrap="square" rtlCol="0" anchor="t">
            <a:spAutoFit/>
          </a:bodyPr>
          <a:lstStyle/>
          <a:p>
            <a:pPr algn="l"/>
            <a:r>
              <a:rPr lang="es-ES" sz="1100">
                <a:solidFill>
                  <a:srgbClr val="1A2E3F"/>
                </a:solidFill>
              </a:rPr>
              <a:t>Optimización de todo el sistema</a:t>
            </a:r>
            <a:endParaRPr lang="es-419" sz="1100">
              <a:solidFill>
                <a:srgbClr val="1A2E3F"/>
              </a:solidFill>
            </a:endParaRPr>
          </a:p>
        </p:txBody>
      </p:sp>
      <p:sp>
        <p:nvSpPr>
          <p:cNvPr id="32" name="Rectángulo 31">
            <a:extLst>
              <a:ext uri="{FF2B5EF4-FFF2-40B4-BE49-F238E27FC236}">
                <a16:creationId xmlns:a16="http://schemas.microsoft.com/office/drawing/2014/main" id="{BC854339-68A2-48BC-BDCB-166CFCF832F9}"/>
              </a:ext>
            </a:extLst>
          </p:cNvPr>
          <p:cNvSpPr/>
          <p:nvPr/>
        </p:nvSpPr>
        <p:spPr>
          <a:xfrm>
            <a:off x="3962400" y="3835400"/>
            <a:ext cx="3302000" cy="330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3" name="CuadroTexto 32">
            <a:extLst>
              <a:ext uri="{FF2B5EF4-FFF2-40B4-BE49-F238E27FC236}">
                <a16:creationId xmlns:a16="http://schemas.microsoft.com/office/drawing/2014/main" id="{7321E6B3-C67A-4F5A-80D9-E50EFD74DD80}"/>
              </a:ext>
            </a:extLst>
          </p:cNvPr>
          <p:cNvSpPr txBox="1"/>
          <p:nvPr/>
        </p:nvSpPr>
        <p:spPr>
          <a:xfrm>
            <a:off x="4038600" y="3860800"/>
            <a:ext cx="3200400" cy="2794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Optimización parcial por segmentos</a:t>
            </a:r>
          </a:p>
        </p:txBody>
      </p:sp>
      <p:sp>
        <p:nvSpPr>
          <p:cNvPr id="34" name="Rectángulo 33">
            <a:extLst>
              <a:ext uri="{FF2B5EF4-FFF2-40B4-BE49-F238E27FC236}">
                <a16:creationId xmlns:a16="http://schemas.microsoft.com/office/drawing/2014/main" id="{B048F038-ED88-445E-B6E8-00C06EB89C9C}"/>
              </a:ext>
            </a:extLst>
          </p:cNvPr>
          <p:cNvSpPr/>
          <p:nvPr/>
        </p:nvSpPr>
        <p:spPr>
          <a:xfrm>
            <a:off x="558800" y="4165600"/>
            <a:ext cx="3302000" cy="330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5" name="CuadroTexto 34">
            <a:extLst>
              <a:ext uri="{FF2B5EF4-FFF2-40B4-BE49-F238E27FC236}">
                <a16:creationId xmlns:a16="http://schemas.microsoft.com/office/drawing/2014/main" id="{CEFABC9E-577D-4A9F-BDB0-5A36A87B8405}"/>
              </a:ext>
            </a:extLst>
          </p:cNvPr>
          <p:cNvSpPr txBox="1"/>
          <p:nvPr/>
        </p:nvSpPr>
        <p:spPr>
          <a:xfrm>
            <a:off x="635000" y="4191000"/>
            <a:ext cx="3200400" cy="279400"/>
          </a:xfrm>
          <a:prstGeom prst="rect">
            <a:avLst/>
          </a:prstGeom>
          <a:solidFill>
            <a:srgbClr val="EDF3F8"/>
          </a:solidFill>
          <a:ln>
            <a:noFill/>
          </a:ln>
        </p:spPr>
        <p:txBody>
          <a:bodyPr vertOverflow="overflow" vert="horz" wrap="square" rtlCol="0" anchor="t">
            <a:spAutoFit/>
          </a:bodyPr>
          <a:lstStyle/>
          <a:p>
            <a:pPr algn="l"/>
            <a:r>
              <a:rPr lang="es-ES" sz="1100">
                <a:solidFill>
                  <a:srgbClr val="1A2E3F"/>
                </a:solidFill>
              </a:rPr>
              <a:t>Adaptación diaria a condiciones reales</a:t>
            </a:r>
            <a:endParaRPr lang="es-419" sz="1100">
              <a:solidFill>
                <a:srgbClr val="1A2E3F"/>
              </a:solidFill>
            </a:endParaRPr>
          </a:p>
        </p:txBody>
      </p:sp>
      <p:sp>
        <p:nvSpPr>
          <p:cNvPr id="36" name="Rectángulo 35">
            <a:extLst>
              <a:ext uri="{FF2B5EF4-FFF2-40B4-BE49-F238E27FC236}">
                <a16:creationId xmlns:a16="http://schemas.microsoft.com/office/drawing/2014/main" id="{276306B4-C74E-4F37-863E-42E3049D9D74}"/>
              </a:ext>
            </a:extLst>
          </p:cNvPr>
          <p:cNvSpPr/>
          <p:nvPr/>
        </p:nvSpPr>
        <p:spPr>
          <a:xfrm>
            <a:off x="3962400" y="4165600"/>
            <a:ext cx="3302000" cy="330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7" name="CuadroTexto 36">
            <a:extLst>
              <a:ext uri="{FF2B5EF4-FFF2-40B4-BE49-F238E27FC236}">
                <a16:creationId xmlns:a16="http://schemas.microsoft.com/office/drawing/2014/main" id="{E63FEA7D-E052-4502-AF9F-F582144564DD}"/>
              </a:ext>
            </a:extLst>
          </p:cNvPr>
          <p:cNvSpPr txBox="1"/>
          <p:nvPr/>
        </p:nvSpPr>
        <p:spPr>
          <a:xfrm>
            <a:off x="4038600" y="4191000"/>
            <a:ext cx="3200400" cy="279400"/>
          </a:xfrm>
          <a:prstGeom prst="rect">
            <a:avLst/>
          </a:prstGeom>
          <a:solidFill>
            <a:srgbClr val="EDF3F8"/>
          </a:solidFill>
          <a:ln>
            <a:noFill/>
          </a:ln>
        </p:spPr>
        <p:txBody>
          <a:bodyPr vertOverflow="overflow" vert="horz" wrap="square" rtlCol="0" anchor="t">
            <a:spAutoFit/>
          </a:bodyPr>
          <a:lstStyle/>
          <a:p>
            <a:pPr algn="l"/>
            <a:r>
              <a:rPr lang="es-419" sz="1100">
                <a:solidFill>
                  <a:srgbClr val="1A2E3F"/>
                </a:solidFill>
              </a:rPr>
              <a:t>Ajuste manual reactivo</a:t>
            </a:r>
          </a:p>
        </p:txBody>
      </p:sp>
      <p:sp>
        <p:nvSpPr>
          <p:cNvPr id="38" name="Rectángulo 37">
            <a:extLst>
              <a:ext uri="{FF2B5EF4-FFF2-40B4-BE49-F238E27FC236}">
                <a16:creationId xmlns:a16="http://schemas.microsoft.com/office/drawing/2014/main" id="{E2AE356B-0232-4129-A55A-E1FDD4CE3E79}"/>
              </a:ext>
            </a:extLst>
          </p:cNvPr>
          <p:cNvSpPr/>
          <p:nvPr/>
        </p:nvSpPr>
        <p:spPr>
          <a:xfrm>
            <a:off x="7416800" y="1117600"/>
            <a:ext cx="4622800" cy="54102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9" name="CuadroTexto 38">
            <a:extLst>
              <a:ext uri="{FF2B5EF4-FFF2-40B4-BE49-F238E27FC236}">
                <a16:creationId xmlns:a16="http://schemas.microsoft.com/office/drawing/2014/main" id="{034448D6-51A3-4DBF-9FF0-CF00D2EF2389}"/>
              </a:ext>
            </a:extLst>
          </p:cNvPr>
          <p:cNvSpPr txBox="1"/>
          <p:nvPr/>
        </p:nvSpPr>
        <p:spPr>
          <a:xfrm>
            <a:off x="7620000" y="1295400"/>
            <a:ext cx="4241800" cy="177800"/>
          </a:xfrm>
          <a:prstGeom prst="rect">
            <a:avLst/>
          </a:prstGeom>
          <a:solidFill>
            <a:srgbClr val="0E2841"/>
          </a:solidFill>
          <a:ln>
            <a:noFill/>
          </a:ln>
        </p:spPr>
        <p:txBody>
          <a:bodyPr vertOverflow="overflow" vert="horz" wrap="square" rtlCol="0" anchor="t">
            <a:spAutoFit/>
          </a:bodyPr>
          <a:lstStyle/>
          <a:p>
            <a:pPr algn="l"/>
            <a:r>
              <a:rPr lang="es-419" sz="900" b="1">
                <a:solidFill>
                  <a:srgbClr val="E97132"/>
                </a:solidFill>
              </a:rPr>
              <a:t>PREGUNTA TÉCNICA</a:t>
            </a:r>
          </a:p>
        </p:txBody>
      </p:sp>
      <p:sp>
        <p:nvSpPr>
          <p:cNvPr id="40" name="Rectángulo 39">
            <a:extLst>
              <a:ext uri="{FF2B5EF4-FFF2-40B4-BE49-F238E27FC236}">
                <a16:creationId xmlns:a16="http://schemas.microsoft.com/office/drawing/2014/main" id="{5465E858-ED3A-4DB7-9E45-6AACF7310851}"/>
              </a:ext>
            </a:extLst>
          </p:cNvPr>
          <p:cNvSpPr/>
          <p:nvPr/>
        </p:nvSpPr>
        <p:spPr>
          <a:xfrm>
            <a:off x="7620000" y="1524000"/>
            <a:ext cx="635000" cy="381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1" name="CuadroTexto 40">
            <a:extLst>
              <a:ext uri="{FF2B5EF4-FFF2-40B4-BE49-F238E27FC236}">
                <a16:creationId xmlns:a16="http://schemas.microsoft.com/office/drawing/2014/main" id="{BFF372B7-8139-41B4-8C17-ECD048278A71}"/>
              </a:ext>
            </a:extLst>
          </p:cNvPr>
          <p:cNvSpPr txBox="1"/>
          <p:nvPr/>
        </p:nvSpPr>
        <p:spPr>
          <a:xfrm>
            <a:off x="7620000" y="1676400"/>
            <a:ext cx="4241800" cy="1651000"/>
          </a:xfrm>
          <a:prstGeom prst="rect">
            <a:avLst/>
          </a:prstGeom>
          <a:solidFill>
            <a:srgbClr val="0E2841"/>
          </a:solidFill>
          <a:ln>
            <a:noFill/>
          </a:ln>
        </p:spPr>
        <p:txBody>
          <a:bodyPr vertOverflow="overflow" vert="horz" wrap="square" rtlCol="0" anchor="t">
            <a:spAutoFit/>
          </a:bodyPr>
          <a:lstStyle/>
          <a:p>
            <a:pPr algn="l"/>
            <a:r>
              <a:rPr lang="es-ES" sz="1400" i="1">
                <a:solidFill>
                  <a:srgbClr val="FFFFFF"/>
                </a:solidFill>
              </a:rPr>
              <a:t>¿Puede un algoritmo de búsqueda inteligente encontrar una solución suficientemente buena, en tiempo útil para la operación diaria, considerando todas las variables del sistema al mismo tiempo?</a:t>
            </a:r>
            <a:endParaRPr lang="es-419" sz="1400" i="1">
              <a:solidFill>
                <a:srgbClr val="FFFFFF"/>
              </a:solidFill>
            </a:endParaRPr>
          </a:p>
        </p:txBody>
      </p:sp>
      <p:sp>
        <p:nvSpPr>
          <p:cNvPr id="42" name="CuadroTexto 41">
            <a:extLst>
              <a:ext uri="{FF2B5EF4-FFF2-40B4-BE49-F238E27FC236}">
                <a16:creationId xmlns:a16="http://schemas.microsoft.com/office/drawing/2014/main" id="{AB3B0A12-FA4A-483A-83DE-F0392A6B002D}"/>
              </a:ext>
            </a:extLst>
          </p:cNvPr>
          <p:cNvSpPr txBox="1"/>
          <p:nvPr/>
        </p:nvSpPr>
        <p:spPr>
          <a:xfrm>
            <a:off x="7620000" y="3505200"/>
            <a:ext cx="4241800" cy="635000"/>
          </a:xfrm>
          <a:prstGeom prst="rect">
            <a:avLst/>
          </a:prstGeom>
          <a:solidFill>
            <a:srgbClr val="0E2841"/>
          </a:solidFill>
          <a:ln>
            <a:noFill/>
          </a:ln>
        </p:spPr>
        <p:txBody>
          <a:bodyPr vertOverflow="overflow" vert="horz" wrap="square" rtlCol="0" anchor="t">
            <a:spAutoFit/>
          </a:bodyPr>
          <a:lstStyle/>
          <a:p>
            <a:pPr algn="l"/>
            <a:r>
              <a:rPr lang="es-ES" sz="1100">
                <a:solidFill>
                  <a:srgbClr val="7AADCC"/>
                </a:solidFill>
              </a:rPr>
              <a:t>Esta pregunta define el alcance técnico y los criterios de evaluación de toda la propuesta.</a:t>
            </a:r>
            <a:endParaRPr lang="es-419" sz="1100">
              <a:solidFill>
                <a:srgbClr val="7AADCC"/>
              </a:solidFill>
            </a:endParaRPr>
          </a:p>
        </p:txBody>
      </p:sp>
      <p:sp>
        <p:nvSpPr>
          <p:cNvPr id="43" name="CuadroTexto 42">
            <a:extLst>
              <a:ext uri="{FF2B5EF4-FFF2-40B4-BE49-F238E27FC236}">
                <a16:creationId xmlns:a16="http://schemas.microsoft.com/office/drawing/2014/main" id="{A9DDC708-A9BE-4B55-A35F-B3B0A7BEB662}"/>
              </a:ext>
            </a:extLst>
          </p:cNvPr>
          <p:cNvSpPr txBox="1"/>
          <p:nvPr/>
        </p:nvSpPr>
        <p:spPr>
          <a:xfrm>
            <a:off x="558800" y="6515100"/>
            <a:ext cx="8890000" cy="165100"/>
          </a:xfrm>
          <a:prstGeom prst="rect">
            <a:avLst/>
          </a:prstGeom>
          <a:solidFill>
            <a:srgbClr val="F7F8FA"/>
          </a:solidFill>
          <a:ln>
            <a:noFill/>
          </a:ln>
        </p:spPr>
        <p:txBody>
          <a:bodyPr vertOverflow="overflow" vert="horz" wrap="square" rtlCol="0" anchor="t">
            <a:spAutoFit/>
          </a:bodyPr>
          <a:lstStyle/>
          <a:p>
            <a:pPr algn="l"/>
            <a:r>
              <a:rPr lang="es-ES" sz="900">
                <a:solidFill>
                  <a:srgbClr val="5A7A90"/>
                </a:solidFill>
              </a:rPr>
              <a:t>Propuesta Técnica · Algoritmo de Luciérnaga · Optimización Logística</a:t>
            </a:r>
            <a:endParaRPr lang="es-419" sz="900">
              <a:solidFill>
                <a:srgbClr val="5A7A90"/>
              </a:solidFill>
            </a:endParaRPr>
          </a:p>
        </p:txBody>
      </p:sp>
    </p:spTree>
    <p:extLst>
      <p:ext uri="{BB962C8B-B14F-4D97-AF65-F5344CB8AC3E}">
        <p14:creationId xmlns:p14="http://schemas.microsoft.com/office/powerpoint/2010/main" val="3914707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76DB92A-2BE4-46F3-8264-48C0BAA93A64}"/>
              </a:ext>
            </a:extLst>
          </p:cNvPr>
          <p:cNvSpPr/>
          <p:nvPr/>
        </p:nvSpPr>
        <p:spPr>
          <a:xfrm>
            <a:off x="0" y="0"/>
            <a:ext cx="355600" cy="68580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 name="Rectángulo 2">
            <a:extLst>
              <a:ext uri="{FF2B5EF4-FFF2-40B4-BE49-F238E27FC236}">
                <a16:creationId xmlns:a16="http://schemas.microsoft.com/office/drawing/2014/main" id="{EE011876-4E2C-4A65-8D58-C5CE0A80B2BF}"/>
              </a:ext>
            </a:extLst>
          </p:cNvPr>
          <p:cNvSpPr/>
          <p:nvPr/>
        </p:nvSpPr>
        <p:spPr>
          <a:xfrm>
            <a:off x="0" y="6705600"/>
            <a:ext cx="12192000" cy="152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 name="CuadroTexto 3">
            <a:extLst>
              <a:ext uri="{FF2B5EF4-FFF2-40B4-BE49-F238E27FC236}">
                <a16:creationId xmlns:a16="http://schemas.microsoft.com/office/drawing/2014/main" id="{C0F1D5AD-F25C-4B88-8644-ACF8A999A567}"/>
              </a:ext>
            </a:extLst>
          </p:cNvPr>
          <p:cNvSpPr txBox="1"/>
          <p:nvPr/>
        </p:nvSpPr>
        <p:spPr>
          <a:xfrm>
            <a:off x="558800" y="101600"/>
            <a:ext cx="1524000" cy="246221"/>
          </a:xfrm>
          <a:prstGeom prst="rect">
            <a:avLst/>
          </a:prstGeom>
          <a:solidFill>
            <a:srgbClr val="F7F8FA"/>
          </a:solidFill>
          <a:ln>
            <a:noFill/>
          </a:ln>
        </p:spPr>
        <p:txBody>
          <a:bodyPr vertOverflow="overflow" vert="horz" wrap="square" rtlCol="0" anchor="t">
            <a:spAutoFit/>
          </a:bodyPr>
          <a:lstStyle/>
          <a:p>
            <a:pPr algn="l"/>
            <a:r>
              <a:rPr lang="es-419" sz="1000" b="1" dirty="0">
                <a:solidFill>
                  <a:srgbClr val="B04E1A"/>
                </a:solidFill>
              </a:rPr>
              <a:t>02 / 05</a:t>
            </a:r>
          </a:p>
        </p:txBody>
      </p:sp>
      <p:sp>
        <p:nvSpPr>
          <p:cNvPr id="5" name="CuadroTexto 4">
            <a:extLst>
              <a:ext uri="{FF2B5EF4-FFF2-40B4-BE49-F238E27FC236}">
                <a16:creationId xmlns:a16="http://schemas.microsoft.com/office/drawing/2014/main" id="{23199D8A-262A-4020-82ED-DEB3728009E4}"/>
              </a:ext>
            </a:extLst>
          </p:cNvPr>
          <p:cNvSpPr txBox="1"/>
          <p:nvPr/>
        </p:nvSpPr>
        <p:spPr>
          <a:xfrm>
            <a:off x="558800" y="330200"/>
            <a:ext cx="11430000" cy="711200"/>
          </a:xfrm>
          <a:prstGeom prst="rect">
            <a:avLst/>
          </a:prstGeom>
          <a:solidFill>
            <a:srgbClr val="F7F8FA"/>
          </a:solidFill>
          <a:ln>
            <a:noFill/>
          </a:ln>
        </p:spPr>
        <p:txBody>
          <a:bodyPr vertOverflow="overflow" vert="horz" wrap="square" rtlCol="0" anchor="t">
            <a:spAutoFit/>
          </a:bodyPr>
          <a:lstStyle/>
          <a:p>
            <a:pPr algn="l"/>
            <a:r>
              <a:rPr lang="es-ES" sz="2400" b="1" dirty="0">
                <a:solidFill>
                  <a:srgbClr val="0E2841"/>
                </a:solidFill>
              </a:rPr>
              <a:t>Tres enfoques fueron evaluados. Uno se ajusta mejor a este problema.</a:t>
            </a:r>
            <a:endParaRPr lang="es-419" sz="2400" b="1" dirty="0">
              <a:solidFill>
                <a:srgbClr val="0E2841"/>
              </a:solidFill>
            </a:endParaRPr>
          </a:p>
        </p:txBody>
      </p:sp>
      <p:sp>
        <p:nvSpPr>
          <p:cNvPr id="6" name="Rectángulo: esquinas redondeadas 5">
            <a:extLst>
              <a:ext uri="{FF2B5EF4-FFF2-40B4-BE49-F238E27FC236}">
                <a16:creationId xmlns:a16="http://schemas.microsoft.com/office/drawing/2014/main" id="{385521D4-AFAB-49BF-8414-C3B997F64876}"/>
              </a:ext>
            </a:extLst>
          </p:cNvPr>
          <p:cNvSpPr/>
          <p:nvPr/>
        </p:nvSpPr>
        <p:spPr>
          <a:xfrm>
            <a:off x="558800" y="1219200"/>
            <a:ext cx="3581400" cy="3937000"/>
          </a:xfrm>
          <a:prstGeom prst="round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7" name="CuadroTexto 6">
            <a:extLst>
              <a:ext uri="{FF2B5EF4-FFF2-40B4-BE49-F238E27FC236}">
                <a16:creationId xmlns:a16="http://schemas.microsoft.com/office/drawing/2014/main" id="{4554EDC6-18B6-4373-8FBB-E354BE258B4C}"/>
              </a:ext>
            </a:extLst>
          </p:cNvPr>
          <p:cNvSpPr txBox="1"/>
          <p:nvPr/>
        </p:nvSpPr>
        <p:spPr>
          <a:xfrm>
            <a:off x="711200" y="1320800"/>
            <a:ext cx="3276600" cy="482600"/>
          </a:xfrm>
          <a:prstGeom prst="rect">
            <a:avLst/>
          </a:prstGeom>
          <a:solidFill>
            <a:srgbClr val="F0F4F8"/>
          </a:solidFill>
          <a:ln>
            <a:noFill/>
          </a:ln>
        </p:spPr>
        <p:txBody>
          <a:bodyPr vertOverflow="overflow" vert="horz" wrap="square" rtlCol="0" anchor="t">
            <a:spAutoFit/>
          </a:bodyPr>
          <a:lstStyle/>
          <a:p>
            <a:pPr algn="l"/>
            <a:r>
              <a:rPr lang="es-419" sz="1600" b="1">
                <a:solidFill>
                  <a:srgbClr val="0E2841"/>
                </a:solidFill>
              </a:rPr>
              <a:t>Algoritmo Genético</a:t>
            </a:r>
          </a:p>
        </p:txBody>
      </p:sp>
      <p:sp>
        <p:nvSpPr>
          <p:cNvPr id="8" name="Rectángulo 7">
            <a:extLst>
              <a:ext uri="{FF2B5EF4-FFF2-40B4-BE49-F238E27FC236}">
                <a16:creationId xmlns:a16="http://schemas.microsoft.com/office/drawing/2014/main" id="{0C954FC0-888B-416B-BC02-10DD7D6987F2}"/>
              </a:ext>
            </a:extLst>
          </p:cNvPr>
          <p:cNvSpPr/>
          <p:nvPr/>
        </p:nvSpPr>
        <p:spPr>
          <a:xfrm>
            <a:off x="711200" y="1879600"/>
            <a:ext cx="508000" cy="38100"/>
          </a:xfrm>
          <a:prstGeom prst="rect">
            <a:avLst/>
          </a:prstGeom>
          <a:solidFill>
            <a:srgbClr val="C0CDD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9" name="CuadroTexto 8">
            <a:extLst>
              <a:ext uri="{FF2B5EF4-FFF2-40B4-BE49-F238E27FC236}">
                <a16:creationId xmlns:a16="http://schemas.microsoft.com/office/drawing/2014/main" id="{5A90B3AC-1B74-4B9A-8FF8-C9506163B163}"/>
              </a:ext>
            </a:extLst>
          </p:cNvPr>
          <p:cNvSpPr txBox="1"/>
          <p:nvPr/>
        </p:nvSpPr>
        <p:spPr>
          <a:xfrm>
            <a:off x="711200" y="2057400"/>
            <a:ext cx="3276600" cy="177800"/>
          </a:xfrm>
          <a:prstGeom prst="rect">
            <a:avLst/>
          </a:prstGeom>
          <a:solidFill>
            <a:srgbClr val="F0F4F8"/>
          </a:solidFill>
          <a:ln>
            <a:noFill/>
          </a:ln>
        </p:spPr>
        <p:txBody>
          <a:bodyPr vertOverflow="overflow" vert="horz" wrap="square" rtlCol="0" anchor="t">
            <a:spAutoFit/>
          </a:bodyPr>
          <a:lstStyle/>
          <a:p>
            <a:pPr algn="l"/>
            <a:r>
              <a:rPr lang="es-419" sz="800" b="1">
                <a:solidFill>
                  <a:srgbClr val="7A9AB5"/>
                </a:solidFill>
              </a:rPr>
              <a:t>FORTALEZA</a:t>
            </a:r>
          </a:p>
        </p:txBody>
      </p:sp>
      <p:sp>
        <p:nvSpPr>
          <p:cNvPr id="10" name="CuadroTexto 9">
            <a:extLst>
              <a:ext uri="{FF2B5EF4-FFF2-40B4-BE49-F238E27FC236}">
                <a16:creationId xmlns:a16="http://schemas.microsoft.com/office/drawing/2014/main" id="{345E6885-7F33-4CBA-A57C-F27867775F7A}"/>
              </a:ext>
            </a:extLst>
          </p:cNvPr>
          <p:cNvSpPr txBox="1"/>
          <p:nvPr/>
        </p:nvSpPr>
        <p:spPr>
          <a:xfrm>
            <a:off x="711200" y="2260600"/>
            <a:ext cx="3276600" cy="457200"/>
          </a:xfrm>
          <a:prstGeom prst="rect">
            <a:avLst/>
          </a:prstGeom>
          <a:solidFill>
            <a:srgbClr val="F0F4F8"/>
          </a:solidFill>
          <a:ln>
            <a:noFill/>
          </a:ln>
        </p:spPr>
        <p:txBody>
          <a:bodyPr vertOverflow="overflow" vert="horz" wrap="square" rtlCol="0" anchor="t">
            <a:spAutoFit/>
          </a:bodyPr>
          <a:lstStyle/>
          <a:p>
            <a:pPr algn="l"/>
            <a:r>
              <a:rPr lang="es-419" sz="1300">
                <a:solidFill>
                  <a:srgbClr val="0E2841"/>
                </a:solidFill>
              </a:rPr>
              <a:t>Buena exploración global</a:t>
            </a:r>
          </a:p>
        </p:txBody>
      </p:sp>
      <p:sp>
        <p:nvSpPr>
          <p:cNvPr id="11" name="CuadroTexto 10">
            <a:extLst>
              <a:ext uri="{FF2B5EF4-FFF2-40B4-BE49-F238E27FC236}">
                <a16:creationId xmlns:a16="http://schemas.microsoft.com/office/drawing/2014/main" id="{A0A8426F-1671-4B79-95C9-638E1CC0D811}"/>
              </a:ext>
            </a:extLst>
          </p:cNvPr>
          <p:cNvSpPr txBox="1"/>
          <p:nvPr/>
        </p:nvSpPr>
        <p:spPr>
          <a:xfrm>
            <a:off x="711200" y="2844800"/>
            <a:ext cx="3276600" cy="177800"/>
          </a:xfrm>
          <a:prstGeom prst="rect">
            <a:avLst/>
          </a:prstGeom>
          <a:solidFill>
            <a:srgbClr val="F0F4F8"/>
          </a:solidFill>
          <a:ln>
            <a:noFill/>
          </a:ln>
        </p:spPr>
        <p:txBody>
          <a:bodyPr vertOverflow="overflow" vert="horz" wrap="square" rtlCol="0" anchor="t">
            <a:spAutoFit/>
          </a:bodyPr>
          <a:lstStyle/>
          <a:p>
            <a:pPr algn="l"/>
            <a:r>
              <a:rPr lang="es-419" sz="800" b="1">
                <a:solidFill>
                  <a:srgbClr val="7A9AB5"/>
                </a:solidFill>
              </a:rPr>
              <a:t>LIMITACIÓN</a:t>
            </a:r>
          </a:p>
        </p:txBody>
      </p:sp>
      <p:sp>
        <p:nvSpPr>
          <p:cNvPr id="12" name="CuadroTexto 11">
            <a:extLst>
              <a:ext uri="{FF2B5EF4-FFF2-40B4-BE49-F238E27FC236}">
                <a16:creationId xmlns:a16="http://schemas.microsoft.com/office/drawing/2014/main" id="{5D9ACF34-5DA7-4BDF-835E-71EFF2F2B2AC}"/>
              </a:ext>
            </a:extLst>
          </p:cNvPr>
          <p:cNvSpPr txBox="1"/>
          <p:nvPr/>
        </p:nvSpPr>
        <p:spPr>
          <a:xfrm>
            <a:off x="711200" y="3048000"/>
            <a:ext cx="3276600" cy="635000"/>
          </a:xfrm>
          <a:prstGeom prst="rect">
            <a:avLst/>
          </a:prstGeom>
          <a:solidFill>
            <a:srgbClr val="F0F4F8"/>
          </a:solidFill>
          <a:ln>
            <a:noFill/>
          </a:ln>
        </p:spPr>
        <p:txBody>
          <a:bodyPr vertOverflow="overflow" vert="horz" wrap="square" rtlCol="0" anchor="t">
            <a:spAutoFit/>
          </a:bodyPr>
          <a:lstStyle/>
          <a:p>
            <a:pPr algn="l"/>
            <a:r>
              <a:rPr lang="es-ES" sz="1300">
                <a:solidFill>
                  <a:srgbClr val="0E2841"/>
                </a:solidFill>
              </a:rPr>
              <a:t>Convergencia lenta en espacios de alta dimensión</a:t>
            </a:r>
            <a:endParaRPr lang="es-419" sz="1300">
              <a:solidFill>
                <a:srgbClr val="0E2841"/>
              </a:solidFill>
            </a:endParaRPr>
          </a:p>
        </p:txBody>
      </p:sp>
      <p:sp>
        <p:nvSpPr>
          <p:cNvPr id="13" name="Rectángulo: esquinas redondeadas 12">
            <a:extLst>
              <a:ext uri="{FF2B5EF4-FFF2-40B4-BE49-F238E27FC236}">
                <a16:creationId xmlns:a16="http://schemas.microsoft.com/office/drawing/2014/main" id="{B3F6EE0D-3094-49C1-B2BE-9E247A46C622}"/>
              </a:ext>
            </a:extLst>
          </p:cNvPr>
          <p:cNvSpPr/>
          <p:nvPr/>
        </p:nvSpPr>
        <p:spPr>
          <a:xfrm>
            <a:off x="4292600" y="1219200"/>
            <a:ext cx="3581400" cy="3937000"/>
          </a:xfrm>
          <a:prstGeom prst="round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4" name="CuadroTexto 13">
            <a:extLst>
              <a:ext uri="{FF2B5EF4-FFF2-40B4-BE49-F238E27FC236}">
                <a16:creationId xmlns:a16="http://schemas.microsoft.com/office/drawing/2014/main" id="{5DAAD869-0C8B-40C8-8F6C-30FB45B2A845}"/>
              </a:ext>
            </a:extLst>
          </p:cNvPr>
          <p:cNvSpPr txBox="1"/>
          <p:nvPr/>
        </p:nvSpPr>
        <p:spPr>
          <a:xfrm>
            <a:off x="4445000" y="1320800"/>
            <a:ext cx="3276600" cy="482600"/>
          </a:xfrm>
          <a:prstGeom prst="rect">
            <a:avLst/>
          </a:prstGeom>
          <a:solidFill>
            <a:srgbClr val="F0F4F8"/>
          </a:solidFill>
          <a:ln>
            <a:noFill/>
          </a:ln>
        </p:spPr>
        <p:txBody>
          <a:bodyPr vertOverflow="overflow" vert="horz" wrap="square" rtlCol="0" anchor="t">
            <a:spAutoFit/>
          </a:bodyPr>
          <a:lstStyle/>
          <a:p>
            <a:pPr algn="l"/>
            <a:r>
              <a:rPr lang="es-419" sz="1600" b="1">
                <a:solidFill>
                  <a:srgbClr val="0E2841"/>
                </a:solidFill>
              </a:rPr>
              <a:t>Recocido Simulado</a:t>
            </a:r>
          </a:p>
        </p:txBody>
      </p:sp>
      <p:sp>
        <p:nvSpPr>
          <p:cNvPr id="15" name="Rectángulo 14">
            <a:extLst>
              <a:ext uri="{FF2B5EF4-FFF2-40B4-BE49-F238E27FC236}">
                <a16:creationId xmlns:a16="http://schemas.microsoft.com/office/drawing/2014/main" id="{2AF3DF83-C156-46CF-8AB5-DC8D5A882C71}"/>
              </a:ext>
            </a:extLst>
          </p:cNvPr>
          <p:cNvSpPr/>
          <p:nvPr/>
        </p:nvSpPr>
        <p:spPr>
          <a:xfrm>
            <a:off x="4445000" y="1879600"/>
            <a:ext cx="508000" cy="38100"/>
          </a:xfrm>
          <a:prstGeom prst="rect">
            <a:avLst/>
          </a:prstGeom>
          <a:solidFill>
            <a:srgbClr val="C0CDD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6" name="CuadroTexto 15">
            <a:extLst>
              <a:ext uri="{FF2B5EF4-FFF2-40B4-BE49-F238E27FC236}">
                <a16:creationId xmlns:a16="http://schemas.microsoft.com/office/drawing/2014/main" id="{19DC158A-84FE-434B-9E82-387A68299C19}"/>
              </a:ext>
            </a:extLst>
          </p:cNvPr>
          <p:cNvSpPr txBox="1"/>
          <p:nvPr/>
        </p:nvSpPr>
        <p:spPr>
          <a:xfrm>
            <a:off x="4445000" y="2057400"/>
            <a:ext cx="3276600" cy="177800"/>
          </a:xfrm>
          <a:prstGeom prst="rect">
            <a:avLst/>
          </a:prstGeom>
          <a:solidFill>
            <a:srgbClr val="F0F4F8"/>
          </a:solidFill>
          <a:ln>
            <a:noFill/>
          </a:ln>
        </p:spPr>
        <p:txBody>
          <a:bodyPr vertOverflow="overflow" vert="horz" wrap="square" rtlCol="0" anchor="t">
            <a:spAutoFit/>
          </a:bodyPr>
          <a:lstStyle/>
          <a:p>
            <a:pPr algn="l"/>
            <a:r>
              <a:rPr lang="es-419" sz="800" b="1">
                <a:solidFill>
                  <a:srgbClr val="7A9AB5"/>
                </a:solidFill>
              </a:rPr>
              <a:t>FORTALEZA</a:t>
            </a:r>
          </a:p>
        </p:txBody>
      </p:sp>
      <p:sp>
        <p:nvSpPr>
          <p:cNvPr id="17" name="CuadroTexto 16">
            <a:extLst>
              <a:ext uri="{FF2B5EF4-FFF2-40B4-BE49-F238E27FC236}">
                <a16:creationId xmlns:a16="http://schemas.microsoft.com/office/drawing/2014/main" id="{CC5BC411-AD9A-4A09-9B14-8527DC1316BD}"/>
              </a:ext>
            </a:extLst>
          </p:cNvPr>
          <p:cNvSpPr txBox="1"/>
          <p:nvPr/>
        </p:nvSpPr>
        <p:spPr>
          <a:xfrm>
            <a:off x="4445000" y="2260600"/>
            <a:ext cx="3276600" cy="457200"/>
          </a:xfrm>
          <a:prstGeom prst="rect">
            <a:avLst/>
          </a:prstGeom>
          <a:solidFill>
            <a:srgbClr val="F0F4F8"/>
          </a:solidFill>
          <a:ln>
            <a:noFill/>
          </a:ln>
        </p:spPr>
        <p:txBody>
          <a:bodyPr vertOverflow="overflow" vert="horz" wrap="square" rtlCol="0" anchor="t">
            <a:spAutoFit/>
          </a:bodyPr>
          <a:lstStyle/>
          <a:p>
            <a:pPr algn="l"/>
            <a:r>
              <a:rPr lang="es-419" sz="1300">
                <a:solidFill>
                  <a:srgbClr val="0E2841"/>
                </a:solidFill>
              </a:rPr>
              <a:t>Simple de implementar</a:t>
            </a:r>
          </a:p>
        </p:txBody>
      </p:sp>
      <p:sp>
        <p:nvSpPr>
          <p:cNvPr id="18" name="CuadroTexto 17">
            <a:extLst>
              <a:ext uri="{FF2B5EF4-FFF2-40B4-BE49-F238E27FC236}">
                <a16:creationId xmlns:a16="http://schemas.microsoft.com/office/drawing/2014/main" id="{D4941C4F-DA2A-4736-A738-132EE1040BFC}"/>
              </a:ext>
            </a:extLst>
          </p:cNvPr>
          <p:cNvSpPr txBox="1"/>
          <p:nvPr/>
        </p:nvSpPr>
        <p:spPr>
          <a:xfrm>
            <a:off x="4445000" y="2844800"/>
            <a:ext cx="3276600" cy="177800"/>
          </a:xfrm>
          <a:prstGeom prst="rect">
            <a:avLst/>
          </a:prstGeom>
          <a:solidFill>
            <a:srgbClr val="F0F4F8"/>
          </a:solidFill>
          <a:ln>
            <a:noFill/>
          </a:ln>
        </p:spPr>
        <p:txBody>
          <a:bodyPr vertOverflow="overflow" vert="horz" wrap="square" rtlCol="0" anchor="t">
            <a:spAutoFit/>
          </a:bodyPr>
          <a:lstStyle/>
          <a:p>
            <a:pPr algn="l"/>
            <a:r>
              <a:rPr lang="es-419" sz="800" b="1">
                <a:solidFill>
                  <a:srgbClr val="7A9AB5"/>
                </a:solidFill>
              </a:rPr>
              <a:t>LIMITACIÓN</a:t>
            </a:r>
          </a:p>
        </p:txBody>
      </p:sp>
      <p:sp>
        <p:nvSpPr>
          <p:cNvPr id="19" name="CuadroTexto 18">
            <a:extLst>
              <a:ext uri="{FF2B5EF4-FFF2-40B4-BE49-F238E27FC236}">
                <a16:creationId xmlns:a16="http://schemas.microsoft.com/office/drawing/2014/main" id="{AB1E7878-88BD-4BC5-9392-EDD47CAB75EA}"/>
              </a:ext>
            </a:extLst>
          </p:cNvPr>
          <p:cNvSpPr txBox="1"/>
          <p:nvPr/>
        </p:nvSpPr>
        <p:spPr>
          <a:xfrm>
            <a:off x="4445000" y="3048000"/>
            <a:ext cx="3276600" cy="635000"/>
          </a:xfrm>
          <a:prstGeom prst="rect">
            <a:avLst/>
          </a:prstGeom>
          <a:solidFill>
            <a:srgbClr val="F0F4F8"/>
          </a:solidFill>
          <a:ln>
            <a:noFill/>
          </a:ln>
        </p:spPr>
        <p:txBody>
          <a:bodyPr vertOverflow="overflow" vert="horz" wrap="square" rtlCol="0" anchor="t">
            <a:spAutoFit/>
          </a:bodyPr>
          <a:lstStyle/>
          <a:p>
            <a:pPr algn="l"/>
            <a:r>
              <a:rPr lang="es-ES" sz="1300">
                <a:solidFill>
                  <a:srgbClr val="0E2841"/>
                </a:solidFill>
              </a:rPr>
              <a:t>Tendencia a estancarse en óptimos locales</a:t>
            </a:r>
            <a:endParaRPr lang="es-419" sz="1300">
              <a:solidFill>
                <a:srgbClr val="0E2841"/>
              </a:solidFill>
            </a:endParaRPr>
          </a:p>
        </p:txBody>
      </p:sp>
      <p:sp>
        <p:nvSpPr>
          <p:cNvPr id="20" name="Rectángulo: esquinas redondeadas 19">
            <a:extLst>
              <a:ext uri="{FF2B5EF4-FFF2-40B4-BE49-F238E27FC236}">
                <a16:creationId xmlns:a16="http://schemas.microsoft.com/office/drawing/2014/main" id="{73A2D953-69CD-42AF-B71A-B98C6835C2FE}"/>
              </a:ext>
            </a:extLst>
          </p:cNvPr>
          <p:cNvSpPr/>
          <p:nvPr/>
        </p:nvSpPr>
        <p:spPr>
          <a:xfrm>
            <a:off x="8026400" y="1219200"/>
            <a:ext cx="3581400" cy="3937000"/>
          </a:xfrm>
          <a:prstGeom prst="round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1" name="Rectángulo 20">
            <a:extLst>
              <a:ext uri="{FF2B5EF4-FFF2-40B4-BE49-F238E27FC236}">
                <a16:creationId xmlns:a16="http://schemas.microsoft.com/office/drawing/2014/main" id="{012102BB-D494-42B1-AD56-A1C20A6B5C90}"/>
              </a:ext>
            </a:extLst>
          </p:cNvPr>
          <p:cNvSpPr/>
          <p:nvPr/>
        </p:nvSpPr>
        <p:spPr>
          <a:xfrm>
            <a:off x="8026400" y="1219200"/>
            <a:ext cx="3581400" cy="279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2" name="CuadroTexto 21">
            <a:extLst>
              <a:ext uri="{FF2B5EF4-FFF2-40B4-BE49-F238E27FC236}">
                <a16:creationId xmlns:a16="http://schemas.microsoft.com/office/drawing/2014/main" id="{9E5D4335-0F55-4BC0-AA61-9E48467F78F8}"/>
              </a:ext>
            </a:extLst>
          </p:cNvPr>
          <p:cNvSpPr txBox="1"/>
          <p:nvPr/>
        </p:nvSpPr>
        <p:spPr>
          <a:xfrm>
            <a:off x="8102600" y="1244600"/>
            <a:ext cx="3429000" cy="228600"/>
          </a:xfrm>
          <a:prstGeom prst="rect">
            <a:avLst/>
          </a:prstGeom>
          <a:solidFill>
            <a:srgbClr val="E97132"/>
          </a:solidFill>
          <a:ln>
            <a:noFill/>
          </a:ln>
        </p:spPr>
        <p:txBody>
          <a:bodyPr vertOverflow="overflow" vert="horz" wrap="square" rtlCol="0" anchor="t">
            <a:spAutoFit/>
          </a:bodyPr>
          <a:lstStyle/>
          <a:p>
            <a:pPr algn="l"/>
            <a:r>
              <a:rPr lang="es-419" sz="900" b="1">
                <a:solidFill>
                  <a:srgbClr val="FFFFFF"/>
                </a:solidFill>
              </a:rPr>
              <a:t>SELECCIONADO</a:t>
            </a:r>
          </a:p>
        </p:txBody>
      </p:sp>
      <p:sp>
        <p:nvSpPr>
          <p:cNvPr id="23" name="CuadroTexto 22">
            <a:extLst>
              <a:ext uri="{FF2B5EF4-FFF2-40B4-BE49-F238E27FC236}">
                <a16:creationId xmlns:a16="http://schemas.microsoft.com/office/drawing/2014/main" id="{6D3A833C-9771-44D3-9225-C5314D411049}"/>
              </a:ext>
            </a:extLst>
          </p:cNvPr>
          <p:cNvSpPr txBox="1"/>
          <p:nvPr/>
        </p:nvSpPr>
        <p:spPr>
          <a:xfrm>
            <a:off x="8178800" y="1600200"/>
            <a:ext cx="3276600" cy="338554"/>
          </a:xfrm>
          <a:prstGeom prst="rect">
            <a:avLst/>
          </a:prstGeom>
          <a:solidFill>
            <a:srgbClr val="0E2841"/>
          </a:solidFill>
          <a:ln>
            <a:noFill/>
          </a:ln>
        </p:spPr>
        <p:txBody>
          <a:bodyPr vertOverflow="overflow" vert="horz" wrap="square" rtlCol="0" anchor="t">
            <a:spAutoFit/>
          </a:bodyPr>
          <a:lstStyle/>
          <a:p>
            <a:pPr algn="l"/>
            <a:r>
              <a:rPr lang="es-419" sz="1600" b="1" dirty="0">
                <a:solidFill>
                  <a:srgbClr val="FFFFFF"/>
                </a:solidFill>
              </a:rPr>
              <a:t>Algoritmo de Luciérnaga</a:t>
            </a:r>
          </a:p>
        </p:txBody>
      </p:sp>
      <p:sp>
        <p:nvSpPr>
          <p:cNvPr id="24" name="Rectángulo 23">
            <a:extLst>
              <a:ext uri="{FF2B5EF4-FFF2-40B4-BE49-F238E27FC236}">
                <a16:creationId xmlns:a16="http://schemas.microsoft.com/office/drawing/2014/main" id="{9DE9A640-A789-4481-B298-6FFBF3670850}"/>
              </a:ext>
            </a:extLst>
          </p:cNvPr>
          <p:cNvSpPr/>
          <p:nvPr/>
        </p:nvSpPr>
        <p:spPr>
          <a:xfrm>
            <a:off x="8178800" y="2159000"/>
            <a:ext cx="508000" cy="381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5" name="CuadroTexto 24">
            <a:extLst>
              <a:ext uri="{FF2B5EF4-FFF2-40B4-BE49-F238E27FC236}">
                <a16:creationId xmlns:a16="http://schemas.microsoft.com/office/drawing/2014/main" id="{D581915C-F0B0-43EC-BFBA-94D66257893B}"/>
              </a:ext>
            </a:extLst>
          </p:cNvPr>
          <p:cNvSpPr txBox="1"/>
          <p:nvPr/>
        </p:nvSpPr>
        <p:spPr>
          <a:xfrm>
            <a:off x="8178800" y="2336800"/>
            <a:ext cx="3276600" cy="177800"/>
          </a:xfrm>
          <a:prstGeom prst="rect">
            <a:avLst/>
          </a:prstGeom>
          <a:solidFill>
            <a:srgbClr val="0E2841"/>
          </a:solidFill>
          <a:ln>
            <a:noFill/>
          </a:ln>
        </p:spPr>
        <p:txBody>
          <a:bodyPr vertOverflow="overflow" vert="horz" wrap="square" rtlCol="0" anchor="t">
            <a:spAutoFit/>
          </a:bodyPr>
          <a:lstStyle/>
          <a:p>
            <a:pPr algn="l"/>
            <a:r>
              <a:rPr lang="es-419" sz="800" b="1">
                <a:solidFill>
                  <a:srgbClr val="E97132"/>
                </a:solidFill>
              </a:rPr>
              <a:t>FORTALEZA</a:t>
            </a:r>
          </a:p>
        </p:txBody>
      </p:sp>
      <p:sp>
        <p:nvSpPr>
          <p:cNvPr id="26" name="CuadroTexto 25">
            <a:extLst>
              <a:ext uri="{FF2B5EF4-FFF2-40B4-BE49-F238E27FC236}">
                <a16:creationId xmlns:a16="http://schemas.microsoft.com/office/drawing/2014/main" id="{382013DA-18F2-4341-B5B4-CC244AA12AA9}"/>
              </a:ext>
            </a:extLst>
          </p:cNvPr>
          <p:cNvSpPr txBox="1"/>
          <p:nvPr/>
        </p:nvSpPr>
        <p:spPr>
          <a:xfrm>
            <a:off x="8178800" y="2540000"/>
            <a:ext cx="3276600" cy="457200"/>
          </a:xfrm>
          <a:prstGeom prst="rect">
            <a:avLst/>
          </a:prstGeom>
          <a:solidFill>
            <a:srgbClr val="0E2841"/>
          </a:solidFill>
          <a:ln>
            <a:noFill/>
          </a:ln>
        </p:spPr>
        <p:txBody>
          <a:bodyPr vertOverflow="overflow" vert="horz" wrap="square" rtlCol="0" anchor="t">
            <a:spAutoFit/>
          </a:bodyPr>
          <a:lstStyle/>
          <a:p>
            <a:pPr algn="l"/>
            <a:r>
              <a:rPr lang="es-419" sz="1300">
                <a:solidFill>
                  <a:srgbClr val="FFFFFF"/>
                </a:solidFill>
              </a:rPr>
              <a:t>Balance exploración / explotación</a:t>
            </a:r>
          </a:p>
        </p:txBody>
      </p:sp>
      <p:sp>
        <p:nvSpPr>
          <p:cNvPr id="27" name="CuadroTexto 26">
            <a:extLst>
              <a:ext uri="{FF2B5EF4-FFF2-40B4-BE49-F238E27FC236}">
                <a16:creationId xmlns:a16="http://schemas.microsoft.com/office/drawing/2014/main" id="{F8599A09-FC15-42C6-B1FC-3F5C8AEA9388}"/>
              </a:ext>
            </a:extLst>
          </p:cNvPr>
          <p:cNvSpPr txBox="1"/>
          <p:nvPr/>
        </p:nvSpPr>
        <p:spPr>
          <a:xfrm>
            <a:off x="8178800" y="3124200"/>
            <a:ext cx="3276600" cy="177800"/>
          </a:xfrm>
          <a:prstGeom prst="rect">
            <a:avLst/>
          </a:prstGeom>
          <a:solidFill>
            <a:srgbClr val="0E2841"/>
          </a:solidFill>
          <a:ln>
            <a:noFill/>
          </a:ln>
        </p:spPr>
        <p:txBody>
          <a:bodyPr vertOverflow="overflow" vert="horz" wrap="square" rtlCol="0" anchor="t">
            <a:spAutoFit/>
          </a:bodyPr>
          <a:lstStyle/>
          <a:p>
            <a:pPr algn="l"/>
            <a:r>
              <a:rPr lang="es-419" sz="800" b="1">
                <a:solidFill>
                  <a:srgbClr val="E97132"/>
                </a:solidFill>
              </a:rPr>
              <a:t>LIMITACIÓN</a:t>
            </a:r>
          </a:p>
        </p:txBody>
      </p:sp>
      <p:sp>
        <p:nvSpPr>
          <p:cNvPr id="28" name="CuadroTexto 27">
            <a:extLst>
              <a:ext uri="{FF2B5EF4-FFF2-40B4-BE49-F238E27FC236}">
                <a16:creationId xmlns:a16="http://schemas.microsoft.com/office/drawing/2014/main" id="{0DE3C2B0-47CE-4D3F-8650-CF97360A39E4}"/>
              </a:ext>
            </a:extLst>
          </p:cNvPr>
          <p:cNvSpPr txBox="1"/>
          <p:nvPr/>
        </p:nvSpPr>
        <p:spPr>
          <a:xfrm>
            <a:off x="8178800" y="3327400"/>
            <a:ext cx="3276600" cy="635000"/>
          </a:xfrm>
          <a:prstGeom prst="rect">
            <a:avLst/>
          </a:prstGeom>
          <a:solidFill>
            <a:srgbClr val="0E2841"/>
          </a:solidFill>
          <a:ln>
            <a:noFill/>
          </a:ln>
        </p:spPr>
        <p:txBody>
          <a:bodyPr vertOverflow="overflow" vert="horz" wrap="square" rtlCol="0" anchor="t">
            <a:spAutoFit/>
          </a:bodyPr>
          <a:lstStyle/>
          <a:p>
            <a:pPr algn="l"/>
            <a:r>
              <a:rPr lang="es-419" sz="1300">
                <a:solidFill>
                  <a:srgbClr val="FFFFFF"/>
                </a:solidFill>
              </a:rPr>
              <a:t>Seleccionado para esta propuesta</a:t>
            </a:r>
          </a:p>
        </p:txBody>
      </p:sp>
      <p:sp>
        <p:nvSpPr>
          <p:cNvPr id="29" name="Rectángulo 28">
            <a:extLst>
              <a:ext uri="{FF2B5EF4-FFF2-40B4-BE49-F238E27FC236}">
                <a16:creationId xmlns:a16="http://schemas.microsoft.com/office/drawing/2014/main" id="{618DA4D4-9C85-4072-9510-3A03781990C9}"/>
              </a:ext>
            </a:extLst>
          </p:cNvPr>
          <p:cNvSpPr/>
          <p:nvPr/>
        </p:nvSpPr>
        <p:spPr>
          <a:xfrm>
            <a:off x="558800" y="5308600"/>
            <a:ext cx="11049000" cy="1219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0" name="Rectángulo 29">
            <a:extLst>
              <a:ext uri="{FF2B5EF4-FFF2-40B4-BE49-F238E27FC236}">
                <a16:creationId xmlns:a16="http://schemas.microsoft.com/office/drawing/2014/main" id="{0B91F19C-436D-47FF-A9E2-4FACE05BC0A8}"/>
              </a:ext>
            </a:extLst>
          </p:cNvPr>
          <p:cNvSpPr/>
          <p:nvPr/>
        </p:nvSpPr>
        <p:spPr>
          <a:xfrm>
            <a:off x="558800" y="5308600"/>
            <a:ext cx="63500" cy="12192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1" name="CuadroTexto 30">
            <a:extLst>
              <a:ext uri="{FF2B5EF4-FFF2-40B4-BE49-F238E27FC236}">
                <a16:creationId xmlns:a16="http://schemas.microsoft.com/office/drawing/2014/main" id="{46A8A2FB-2015-431B-8B72-0643A00A84E2}"/>
              </a:ext>
            </a:extLst>
          </p:cNvPr>
          <p:cNvSpPr txBox="1"/>
          <p:nvPr/>
        </p:nvSpPr>
        <p:spPr>
          <a:xfrm>
            <a:off x="736600" y="5384800"/>
            <a:ext cx="10922000" cy="177800"/>
          </a:xfrm>
          <a:prstGeom prst="rect">
            <a:avLst/>
          </a:prstGeom>
          <a:solidFill>
            <a:srgbClr val="EDF3F8"/>
          </a:solidFill>
          <a:ln>
            <a:noFill/>
          </a:ln>
        </p:spPr>
        <p:txBody>
          <a:bodyPr vertOverflow="overflow" vert="horz" wrap="square" rtlCol="0" anchor="t">
            <a:spAutoFit/>
          </a:bodyPr>
          <a:lstStyle/>
          <a:p>
            <a:pPr algn="l"/>
            <a:r>
              <a:rPr lang="es-ES" sz="900" b="1">
                <a:solidFill>
                  <a:srgbClr val="156082"/>
                </a:solidFill>
              </a:rPr>
              <a:t>RAZÓN TÉCNICA DE LA SELECCIÓN</a:t>
            </a:r>
            <a:endParaRPr lang="es-419" sz="900" b="1">
              <a:solidFill>
                <a:srgbClr val="156082"/>
              </a:solidFill>
            </a:endParaRPr>
          </a:p>
        </p:txBody>
      </p:sp>
      <p:sp>
        <p:nvSpPr>
          <p:cNvPr id="32" name="CuadroTexto 31">
            <a:extLst>
              <a:ext uri="{FF2B5EF4-FFF2-40B4-BE49-F238E27FC236}">
                <a16:creationId xmlns:a16="http://schemas.microsoft.com/office/drawing/2014/main" id="{D8AA5BC0-3DC1-4162-BABC-89EE9B137AC9}"/>
              </a:ext>
            </a:extLst>
          </p:cNvPr>
          <p:cNvSpPr txBox="1"/>
          <p:nvPr/>
        </p:nvSpPr>
        <p:spPr>
          <a:xfrm>
            <a:off x="736600" y="5613400"/>
            <a:ext cx="10922000" cy="812800"/>
          </a:xfrm>
          <a:prstGeom prst="rect">
            <a:avLst/>
          </a:prstGeom>
          <a:solidFill>
            <a:srgbClr val="EDF3F8"/>
          </a:solidFill>
          <a:ln>
            <a:noFill/>
          </a:ln>
        </p:spPr>
        <p:txBody>
          <a:bodyPr vertOverflow="overflow" vert="horz" wrap="square" rtlCol="0" anchor="t">
            <a:spAutoFit/>
          </a:bodyPr>
          <a:lstStyle/>
          <a:p>
            <a:pPr algn="l"/>
            <a:r>
              <a:rPr lang="es-ES" sz="1200">
                <a:solidFill>
                  <a:srgbClr val="1A2E3F"/>
                </a:solidFill>
              </a:rPr>
              <a:t>El problema exige dos comportamientos simultáneos: cuando una solución es claramente mejor, el sistema la explota y converge. Cuando no hay óptimo dominante, explora alternativas. Ese balance es exactamente lo que requiere un espacio de búsqueda con millones de combinaciones sin un óptimo único evidente.</a:t>
            </a:r>
            <a:endParaRPr lang="es-419" sz="1200">
              <a:solidFill>
                <a:srgbClr val="1A2E3F"/>
              </a:solidFill>
            </a:endParaRPr>
          </a:p>
        </p:txBody>
      </p:sp>
      <p:sp>
        <p:nvSpPr>
          <p:cNvPr id="33" name="CuadroTexto 32">
            <a:extLst>
              <a:ext uri="{FF2B5EF4-FFF2-40B4-BE49-F238E27FC236}">
                <a16:creationId xmlns:a16="http://schemas.microsoft.com/office/drawing/2014/main" id="{9289AD3D-8620-4EF0-8DC7-F9006A03FAE2}"/>
              </a:ext>
            </a:extLst>
          </p:cNvPr>
          <p:cNvSpPr txBox="1"/>
          <p:nvPr/>
        </p:nvSpPr>
        <p:spPr>
          <a:xfrm>
            <a:off x="558800" y="6515100"/>
            <a:ext cx="8890000" cy="165100"/>
          </a:xfrm>
          <a:prstGeom prst="rect">
            <a:avLst/>
          </a:prstGeom>
          <a:solidFill>
            <a:srgbClr val="F7F8FA"/>
          </a:solidFill>
          <a:ln>
            <a:noFill/>
          </a:ln>
        </p:spPr>
        <p:txBody>
          <a:bodyPr vertOverflow="overflow" vert="horz" wrap="square" rtlCol="0" anchor="t">
            <a:spAutoFit/>
          </a:bodyPr>
          <a:lstStyle/>
          <a:p>
            <a:pPr algn="l"/>
            <a:r>
              <a:rPr lang="es-ES" sz="900">
                <a:solidFill>
                  <a:srgbClr val="5A7A90"/>
                </a:solidFill>
              </a:rPr>
              <a:t>Propuesta Técnica · Algoritmo de Luciérnaga · Optimización Logística</a:t>
            </a:r>
            <a:endParaRPr lang="es-419" sz="900">
              <a:solidFill>
                <a:srgbClr val="5A7A90"/>
              </a:solidFill>
            </a:endParaRPr>
          </a:p>
        </p:txBody>
      </p:sp>
    </p:spTree>
    <p:extLst>
      <p:ext uri="{BB962C8B-B14F-4D97-AF65-F5344CB8AC3E}">
        <p14:creationId xmlns:p14="http://schemas.microsoft.com/office/powerpoint/2010/main" val="3736651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FB0F023-E5E4-4B01-A329-5209165F1864}"/>
              </a:ext>
            </a:extLst>
          </p:cNvPr>
          <p:cNvSpPr/>
          <p:nvPr/>
        </p:nvSpPr>
        <p:spPr>
          <a:xfrm>
            <a:off x="0" y="0"/>
            <a:ext cx="12192000" cy="6858000"/>
          </a:xfrm>
          <a:prstGeom prst="rect">
            <a:avLst/>
          </a:prstGeom>
          <a:solidFill>
            <a:srgbClr val="F7F8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 name="Rectángulo 2">
            <a:extLst>
              <a:ext uri="{FF2B5EF4-FFF2-40B4-BE49-F238E27FC236}">
                <a16:creationId xmlns:a16="http://schemas.microsoft.com/office/drawing/2014/main" id="{28CD411A-54B3-478A-AD63-A9842F712E38}"/>
              </a:ext>
            </a:extLst>
          </p:cNvPr>
          <p:cNvSpPr/>
          <p:nvPr/>
        </p:nvSpPr>
        <p:spPr>
          <a:xfrm>
            <a:off x="0" y="0"/>
            <a:ext cx="355600" cy="68580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 name="Rectángulo 3">
            <a:extLst>
              <a:ext uri="{FF2B5EF4-FFF2-40B4-BE49-F238E27FC236}">
                <a16:creationId xmlns:a16="http://schemas.microsoft.com/office/drawing/2014/main" id="{7221B15D-A50C-4517-AD29-E8AB587F7E28}"/>
              </a:ext>
            </a:extLst>
          </p:cNvPr>
          <p:cNvSpPr/>
          <p:nvPr/>
        </p:nvSpPr>
        <p:spPr>
          <a:xfrm>
            <a:off x="0" y="6705600"/>
            <a:ext cx="12192000" cy="152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5" name="CuadroTexto 4">
            <a:extLst>
              <a:ext uri="{FF2B5EF4-FFF2-40B4-BE49-F238E27FC236}">
                <a16:creationId xmlns:a16="http://schemas.microsoft.com/office/drawing/2014/main" id="{A7D7C9BF-ADD0-4FA3-A29A-E5C85CF53DBE}"/>
              </a:ext>
            </a:extLst>
          </p:cNvPr>
          <p:cNvSpPr txBox="1"/>
          <p:nvPr/>
        </p:nvSpPr>
        <p:spPr>
          <a:xfrm>
            <a:off x="2108200" y="101600"/>
            <a:ext cx="2540000" cy="203200"/>
          </a:xfrm>
          <a:prstGeom prst="rect">
            <a:avLst/>
          </a:prstGeom>
          <a:solidFill>
            <a:srgbClr val="F7F8FA"/>
          </a:solidFill>
          <a:ln>
            <a:noFill/>
          </a:ln>
        </p:spPr>
        <p:txBody>
          <a:bodyPr vertOverflow="overflow" vert="horz" wrap="square" rtlCol="0" anchor="t">
            <a:spAutoFit/>
          </a:bodyPr>
          <a:lstStyle/>
          <a:p>
            <a:pPr algn="l"/>
            <a:r>
              <a:rPr lang="es-419" sz="1000" b="1" dirty="0">
                <a:solidFill>
                  <a:srgbClr val="B04E1A"/>
                </a:solidFill>
              </a:rPr>
              <a:t>ANALOGÍA NATURAL</a:t>
            </a:r>
          </a:p>
        </p:txBody>
      </p:sp>
      <p:sp>
        <p:nvSpPr>
          <p:cNvPr id="6" name="CuadroTexto 5">
            <a:extLst>
              <a:ext uri="{FF2B5EF4-FFF2-40B4-BE49-F238E27FC236}">
                <a16:creationId xmlns:a16="http://schemas.microsoft.com/office/drawing/2014/main" id="{5ACD94CE-B4C3-48B3-9FF6-7E43D6099EE8}"/>
              </a:ext>
            </a:extLst>
          </p:cNvPr>
          <p:cNvSpPr txBox="1"/>
          <p:nvPr/>
        </p:nvSpPr>
        <p:spPr>
          <a:xfrm>
            <a:off x="558800" y="304800"/>
            <a:ext cx="11049000" cy="492443"/>
          </a:xfrm>
          <a:prstGeom prst="rect">
            <a:avLst/>
          </a:prstGeom>
          <a:solidFill>
            <a:srgbClr val="F7F8FA"/>
          </a:solidFill>
          <a:ln>
            <a:noFill/>
          </a:ln>
        </p:spPr>
        <p:txBody>
          <a:bodyPr vertOverflow="overflow" vert="horz" wrap="square" rtlCol="0" anchor="t">
            <a:spAutoFit/>
          </a:bodyPr>
          <a:lstStyle/>
          <a:p>
            <a:pPr algn="l"/>
            <a:r>
              <a:rPr lang="es-ES" sz="2600" b="1">
                <a:solidFill>
                  <a:srgbClr val="0E2841"/>
                </a:solidFill>
              </a:rPr>
              <a:t>¿Cómo se comporta una luciérnaga en la naturaleza?</a:t>
            </a:r>
            <a:endParaRPr lang="es-419" sz="2600" b="1">
              <a:solidFill>
                <a:srgbClr val="0E2841"/>
              </a:solidFill>
            </a:endParaRPr>
          </a:p>
        </p:txBody>
      </p:sp>
      <p:sp>
        <p:nvSpPr>
          <p:cNvPr id="7" name="CuadroTexto 6">
            <a:extLst>
              <a:ext uri="{FF2B5EF4-FFF2-40B4-BE49-F238E27FC236}">
                <a16:creationId xmlns:a16="http://schemas.microsoft.com/office/drawing/2014/main" id="{805B22DA-58A3-4231-8617-5AE4DD74CC1F}"/>
              </a:ext>
            </a:extLst>
          </p:cNvPr>
          <p:cNvSpPr txBox="1"/>
          <p:nvPr/>
        </p:nvSpPr>
        <p:spPr>
          <a:xfrm>
            <a:off x="558800" y="1041400"/>
            <a:ext cx="11049000" cy="254000"/>
          </a:xfrm>
          <a:prstGeom prst="rect">
            <a:avLst/>
          </a:prstGeom>
          <a:solidFill>
            <a:srgbClr val="F7F8FA"/>
          </a:solidFill>
          <a:ln>
            <a:noFill/>
          </a:ln>
        </p:spPr>
        <p:txBody>
          <a:bodyPr vertOverflow="overflow" vert="horz" wrap="square" rtlCol="0" anchor="t">
            <a:spAutoFit/>
          </a:bodyPr>
          <a:lstStyle/>
          <a:p>
            <a:pPr algn="l"/>
            <a:r>
              <a:rPr lang="es-ES" sz="1300" i="1">
                <a:solidFill>
                  <a:srgbClr val="4A6070"/>
                </a:solidFill>
              </a:rPr>
              <a:t>De la biología al algoritmo: el mismo principio de atracción e inteligencia colectiva</a:t>
            </a:r>
            <a:endParaRPr lang="es-419" sz="1300" i="1">
              <a:solidFill>
                <a:srgbClr val="4A6070"/>
              </a:solidFill>
            </a:endParaRPr>
          </a:p>
        </p:txBody>
      </p:sp>
      <p:sp>
        <p:nvSpPr>
          <p:cNvPr id="8" name="Rectángulo: esquinas redondeadas 7">
            <a:extLst>
              <a:ext uri="{FF2B5EF4-FFF2-40B4-BE49-F238E27FC236}">
                <a16:creationId xmlns:a16="http://schemas.microsoft.com/office/drawing/2014/main" id="{4639ADCA-5AD2-40D2-A691-C7C7FB3A7B56}"/>
              </a:ext>
            </a:extLst>
          </p:cNvPr>
          <p:cNvSpPr/>
          <p:nvPr/>
        </p:nvSpPr>
        <p:spPr>
          <a:xfrm>
            <a:off x="558800" y="1447800"/>
            <a:ext cx="2641600" cy="3759200"/>
          </a:xfrm>
          <a:prstGeom prst="round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9" name="Rectángulo 8">
            <a:extLst>
              <a:ext uri="{FF2B5EF4-FFF2-40B4-BE49-F238E27FC236}">
                <a16:creationId xmlns:a16="http://schemas.microsoft.com/office/drawing/2014/main" id="{0C703A3B-8AE0-4059-92B5-C8E55790F77A}"/>
              </a:ext>
            </a:extLst>
          </p:cNvPr>
          <p:cNvSpPr/>
          <p:nvPr/>
        </p:nvSpPr>
        <p:spPr>
          <a:xfrm>
            <a:off x="558800" y="1447800"/>
            <a:ext cx="2641600" cy="762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0" name="Elipse 9">
            <a:extLst>
              <a:ext uri="{FF2B5EF4-FFF2-40B4-BE49-F238E27FC236}">
                <a16:creationId xmlns:a16="http://schemas.microsoft.com/office/drawing/2014/main" id="{B01C5D56-083A-4104-91A5-4D939A158300}"/>
              </a:ext>
            </a:extLst>
          </p:cNvPr>
          <p:cNvSpPr/>
          <p:nvPr/>
        </p:nvSpPr>
        <p:spPr>
          <a:xfrm>
            <a:off x="711200" y="1676400"/>
            <a:ext cx="558800" cy="558800"/>
          </a:xfrm>
          <a:prstGeom prst="ellipse">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1" name="CuadroTexto 10">
            <a:extLst>
              <a:ext uri="{FF2B5EF4-FFF2-40B4-BE49-F238E27FC236}">
                <a16:creationId xmlns:a16="http://schemas.microsoft.com/office/drawing/2014/main" id="{8962716D-5272-4750-8D64-BFF109452557}"/>
              </a:ext>
            </a:extLst>
          </p:cNvPr>
          <p:cNvSpPr txBox="1"/>
          <p:nvPr/>
        </p:nvSpPr>
        <p:spPr>
          <a:xfrm>
            <a:off x="711200" y="1676400"/>
            <a:ext cx="558800" cy="558800"/>
          </a:xfrm>
          <a:prstGeom prst="rect">
            <a:avLst/>
          </a:prstGeom>
          <a:solidFill>
            <a:srgbClr val="E97132"/>
          </a:solidFill>
          <a:ln>
            <a:noFill/>
          </a:ln>
        </p:spPr>
        <p:txBody>
          <a:bodyPr vertOverflow="overflow" vert="horz" wrap="none" rtlCol="0" anchor="ctr" anchorCtr="0">
            <a:noAutofit/>
          </a:bodyPr>
          <a:lstStyle/>
          <a:p>
            <a:pPr algn="l"/>
            <a:r>
              <a:rPr lang="es-419" sz="2000" b="1">
                <a:solidFill>
                  <a:srgbClr val="FFFFFF"/>
                </a:solidFill>
              </a:rPr>
              <a:t>✦</a:t>
            </a:r>
          </a:p>
        </p:txBody>
      </p:sp>
      <p:sp>
        <p:nvSpPr>
          <p:cNvPr id="12" name="CuadroTexto 11">
            <a:extLst>
              <a:ext uri="{FF2B5EF4-FFF2-40B4-BE49-F238E27FC236}">
                <a16:creationId xmlns:a16="http://schemas.microsoft.com/office/drawing/2014/main" id="{0E78E61C-F1D8-415B-A2D4-CCDCE8429DCC}"/>
              </a:ext>
            </a:extLst>
          </p:cNvPr>
          <p:cNvSpPr txBox="1"/>
          <p:nvPr/>
        </p:nvSpPr>
        <p:spPr>
          <a:xfrm>
            <a:off x="711200" y="2336800"/>
            <a:ext cx="2336800" cy="304800"/>
          </a:xfrm>
          <a:prstGeom prst="rect">
            <a:avLst/>
          </a:prstGeom>
          <a:solidFill>
            <a:srgbClr val="FFFFFF"/>
          </a:solidFill>
          <a:ln>
            <a:noFill/>
          </a:ln>
        </p:spPr>
        <p:txBody>
          <a:bodyPr vertOverflow="overflow" vert="horz" wrap="square" rtlCol="0" anchor="t">
            <a:spAutoFit/>
          </a:bodyPr>
          <a:lstStyle/>
          <a:p>
            <a:pPr algn="l"/>
            <a:r>
              <a:rPr lang="es-419" sz="1600" b="1">
                <a:solidFill>
                  <a:srgbClr val="0E2841"/>
                </a:solidFill>
              </a:rPr>
              <a:t>Emite luz</a:t>
            </a:r>
          </a:p>
        </p:txBody>
      </p:sp>
      <p:sp>
        <p:nvSpPr>
          <p:cNvPr id="13" name="CuadroTexto 12">
            <a:extLst>
              <a:ext uri="{FF2B5EF4-FFF2-40B4-BE49-F238E27FC236}">
                <a16:creationId xmlns:a16="http://schemas.microsoft.com/office/drawing/2014/main" id="{3F882E85-524D-4CDF-AC3B-1C25E5BA4B7A}"/>
              </a:ext>
            </a:extLst>
          </p:cNvPr>
          <p:cNvSpPr txBox="1"/>
          <p:nvPr/>
        </p:nvSpPr>
        <p:spPr>
          <a:xfrm>
            <a:off x="711200" y="2692400"/>
            <a:ext cx="2336800" cy="1397000"/>
          </a:xfrm>
          <a:prstGeom prst="rect">
            <a:avLst/>
          </a:prstGeom>
          <a:solidFill>
            <a:srgbClr val="FFFFFF"/>
          </a:solidFill>
          <a:ln>
            <a:noFill/>
          </a:ln>
        </p:spPr>
        <p:txBody>
          <a:bodyPr vertOverflow="overflow" vert="horz" wrap="square" rtlCol="0" anchor="t">
            <a:spAutoFit/>
          </a:bodyPr>
          <a:lstStyle/>
          <a:p>
            <a:pPr algn="l"/>
            <a:r>
              <a:rPr lang="es-ES" sz="1200">
                <a:solidFill>
                  <a:srgbClr val="3A5068"/>
                </a:solidFill>
              </a:rPr>
              <a:t>Cada luciérnaga produce un destello de intensidad única. Las más brillantes son las más atractivas para las demás.</a:t>
            </a:r>
            <a:endParaRPr lang="es-419" sz="1200">
              <a:solidFill>
                <a:srgbClr val="3A5068"/>
              </a:solidFill>
            </a:endParaRPr>
          </a:p>
        </p:txBody>
      </p:sp>
      <p:sp>
        <p:nvSpPr>
          <p:cNvPr id="14" name="Rectángulo: esquinas redondeadas 13">
            <a:extLst>
              <a:ext uri="{FF2B5EF4-FFF2-40B4-BE49-F238E27FC236}">
                <a16:creationId xmlns:a16="http://schemas.microsoft.com/office/drawing/2014/main" id="{9E535F66-3610-4F6A-ACC0-D8C7CCB892CF}"/>
              </a:ext>
            </a:extLst>
          </p:cNvPr>
          <p:cNvSpPr/>
          <p:nvPr/>
        </p:nvSpPr>
        <p:spPr>
          <a:xfrm>
            <a:off x="660400" y="4216400"/>
            <a:ext cx="2438400" cy="8128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5" name="CuadroTexto 14">
            <a:extLst>
              <a:ext uri="{FF2B5EF4-FFF2-40B4-BE49-F238E27FC236}">
                <a16:creationId xmlns:a16="http://schemas.microsoft.com/office/drawing/2014/main" id="{2B50297E-94B9-4BCF-B740-BFF3BC3C5297}"/>
              </a:ext>
            </a:extLst>
          </p:cNvPr>
          <p:cNvSpPr txBox="1"/>
          <p:nvPr/>
        </p:nvSpPr>
        <p:spPr>
          <a:xfrm>
            <a:off x="736600" y="4292600"/>
            <a:ext cx="2286000" cy="660400"/>
          </a:xfrm>
          <a:prstGeom prst="rect">
            <a:avLst/>
          </a:prstGeom>
          <a:solidFill>
            <a:srgbClr val="EDF3F8"/>
          </a:solidFill>
          <a:ln>
            <a:noFill/>
          </a:ln>
        </p:spPr>
        <p:txBody>
          <a:bodyPr vertOverflow="overflow" vert="horz" wrap="square" rtlCol="0" anchor="t">
            <a:spAutoFit/>
          </a:bodyPr>
          <a:lstStyle/>
          <a:p>
            <a:pPr algn="l"/>
            <a:r>
              <a:rPr lang="es-ES" sz="1000" b="1">
                <a:solidFill>
                  <a:srgbClr val="156082"/>
                </a:solidFill>
              </a:rPr>
              <a:t>En el algoritmo: brillo = calidad de la solución</a:t>
            </a:r>
            <a:endParaRPr lang="es-419" sz="1000" b="1">
              <a:solidFill>
                <a:srgbClr val="156082"/>
              </a:solidFill>
            </a:endParaRPr>
          </a:p>
        </p:txBody>
      </p:sp>
      <p:sp>
        <p:nvSpPr>
          <p:cNvPr id="16" name="Flecha: a la derecha 15">
            <a:extLst>
              <a:ext uri="{FF2B5EF4-FFF2-40B4-BE49-F238E27FC236}">
                <a16:creationId xmlns:a16="http://schemas.microsoft.com/office/drawing/2014/main" id="{794B939A-6ED2-4D8B-B758-EC1D11E29D1A}"/>
              </a:ext>
            </a:extLst>
          </p:cNvPr>
          <p:cNvSpPr/>
          <p:nvPr/>
        </p:nvSpPr>
        <p:spPr>
          <a:xfrm>
            <a:off x="3225800" y="3149600"/>
            <a:ext cx="228600" cy="177800"/>
          </a:xfrm>
          <a:prstGeom prst="rightArrow">
            <a:avLst/>
          </a:prstGeom>
          <a:solidFill>
            <a:srgbClr val="C0CDD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7" name="Rectángulo: esquinas redondeadas 16">
            <a:extLst>
              <a:ext uri="{FF2B5EF4-FFF2-40B4-BE49-F238E27FC236}">
                <a16:creationId xmlns:a16="http://schemas.microsoft.com/office/drawing/2014/main" id="{BC9CE4E9-03BF-471D-B382-E3E91BA70AEB}"/>
              </a:ext>
            </a:extLst>
          </p:cNvPr>
          <p:cNvSpPr/>
          <p:nvPr/>
        </p:nvSpPr>
        <p:spPr>
          <a:xfrm>
            <a:off x="3327400" y="1447800"/>
            <a:ext cx="2641600" cy="3759200"/>
          </a:xfrm>
          <a:prstGeom prst="round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8" name="Rectángulo 17">
            <a:extLst>
              <a:ext uri="{FF2B5EF4-FFF2-40B4-BE49-F238E27FC236}">
                <a16:creationId xmlns:a16="http://schemas.microsoft.com/office/drawing/2014/main" id="{1D2C61D1-3637-469E-B7EE-ED5F988553A6}"/>
              </a:ext>
            </a:extLst>
          </p:cNvPr>
          <p:cNvSpPr/>
          <p:nvPr/>
        </p:nvSpPr>
        <p:spPr>
          <a:xfrm>
            <a:off x="3327400" y="1447800"/>
            <a:ext cx="2641600" cy="762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9" name="Elipse 18">
            <a:extLst>
              <a:ext uri="{FF2B5EF4-FFF2-40B4-BE49-F238E27FC236}">
                <a16:creationId xmlns:a16="http://schemas.microsoft.com/office/drawing/2014/main" id="{49BB1E8F-883B-4CA4-A3C2-03F267D565D9}"/>
              </a:ext>
            </a:extLst>
          </p:cNvPr>
          <p:cNvSpPr/>
          <p:nvPr/>
        </p:nvSpPr>
        <p:spPr>
          <a:xfrm>
            <a:off x="3479800" y="1676400"/>
            <a:ext cx="558800" cy="558800"/>
          </a:xfrm>
          <a:prstGeom prst="ellipse">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0" name="CuadroTexto 19">
            <a:extLst>
              <a:ext uri="{FF2B5EF4-FFF2-40B4-BE49-F238E27FC236}">
                <a16:creationId xmlns:a16="http://schemas.microsoft.com/office/drawing/2014/main" id="{DE163E01-D612-46F8-B724-DBA7F4FA52D2}"/>
              </a:ext>
            </a:extLst>
          </p:cNvPr>
          <p:cNvSpPr txBox="1"/>
          <p:nvPr/>
        </p:nvSpPr>
        <p:spPr>
          <a:xfrm>
            <a:off x="3479800" y="1676400"/>
            <a:ext cx="558800" cy="558800"/>
          </a:xfrm>
          <a:prstGeom prst="rect">
            <a:avLst/>
          </a:prstGeom>
          <a:solidFill>
            <a:srgbClr val="156082"/>
          </a:solidFill>
          <a:ln>
            <a:noFill/>
          </a:ln>
        </p:spPr>
        <p:txBody>
          <a:bodyPr vertOverflow="overflow" vert="horz" wrap="none" rtlCol="0" anchor="ctr" anchorCtr="0">
            <a:noAutofit/>
          </a:bodyPr>
          <a:lstStyle/>
          <a:p>
            <a:pPr algn="l"/>
            <a:r>
              <a:rPr lang="es-419" sz="2000" b="1">
                <a:solidFill>
                  <a:srgbClr val="FFFFFF"/>
                </a:solidFill>
              </a:rPr>
              <a:t>→</a:t>
            </a:r>
          </a:p>
        </p:txBody>
      </p:sp>
      <p:sp>
        <p:nvSpPr>
          <p:cNvPr id="21" name="CuadroTexto 20">
            <a:extLst>
              <a:ext uri="{FF2B5EF4-FFF2-40B4-BE49-F238E27FC236}">
                <a16:creationId xmlns:a16="http://schemas.microsoft.com/office/drawing/2014/main" id="{729ADED2-C667-4E50-9814-D75B6F1A2510}"/>
              </a:ext>
            </a:extLst>
          </p:cNvPr>
          <p:cNvSpPr txBox="1"/>
          <p:nvPr/>
        </p:nvSpPr>
        <p:spPr>
          <a:xfrm>
            <a:off x="3479800" y="2336800"/>
            <a:ext cx="2336800" cy="304800"/>
          </a:xfrm>
          <a:prstGeom prst="rect">
            <a:avLst/>
          </a:prstGeom>
          <a:solidFill>
            <a:srgbClr val="FFFFFF"/>
          </a:solidFill>
          <a:ln>
            <a:noFill/>
          </a:ln>
        </p:spPr>
        <p:txBody>
          <a:bodyPr vertOverflow="overflow" vert="horz" wrap="square" rtlCol="0" anchor="t">
            <a:spAutoFit/>
          </a:bodyPr>
          <a:lstStyle/>
          <a:p>
            <a:pPr algn="l"/>
            <a:r>
              <a:rPr lang="es-419" sz="1600" b="1">
                <a:solidFill>
                  <a:srgbClr val="0E2841"/>
                </a:solidFill>
              </a:rPr>
              <a:t>Se atrae</a:t>
            </a:r>
          </a:p>
        </p:txBody>
      </p:sp>
      <p:sp>
        <p:nvSpPr>
          <p:cNvPr id="22" name="CuadroTexto 21">
            <a:extLst>
              <a:ext uri="{FF2B5EF4-FFF2-40B4-BE49-F238E27FC236}">
                <a16:creationId xmlns:a16="http://schemas.microsoft.com/office/drawing/2014/main" id="{E1847C94-0CB4-440C-B1B5-C0F0D41B2D40}"/>
              </a:ext>
            </a:extLst>
          </p:cNvPr>
          <p:cNvSpPr txBox="1"/>
          <p:nvPr/>
        </p:nvSpPr>
        <p:spPr>
          <a:xfrm>
            <a:off x="3479800" y="2692400"/>
            <a:ext cx="2336800" cy="1397000"/>
          </a:xfrm>
          <a:prstGeom prst="rect">
            <a:avLst/>
          </a:prstGeom>
          <a:solidFill>
            <a:srgbClr val="FFFFFF"/>
          </a:solidFill>
          <a:ln>
            <a:noFill/>
          </a:ln>
        </p:spPr>
        <p:txBody>
          <a:bodyPr vertOverflow="overflow" vert="horz" wrap="square" rtlCol="0" anchor="t">
            <a:spAutoFit/>
          </a:bodyPr>
          <a:lstStyle/>
          <a:p>
            <a:pPr algn="l"/>
            <a:r>
              <a:rPr lang="es-ES" sz="1200">
                <a:solidFill>
                  <a:srgbClr val="3A5068"/>
                </a:solidFill>
              </a:rPr>
              <a:t>Las luciérnagas menos brillantes se mueven hacia las más brillantes. A mayor distancia, menor es la atracción percibida.</a:t>
            </a:r>
            <a:endParaRPr lang="es-419" sz="1200">
              <a:solidFill>
                <a:srgbClr val="3A5068"/>
              </a:solidFill>
            </a:endParaRPr>
          </a:p>
        </p:txBody>
      </p:sp>
      <p:sp>
        <p:nvSpPr>
          <p:cNvPr id="23" name="Rectángulo: esquinas redondeadas 22">
            <a:extLst>
              <a:ext uri="{FF2B5EF4-FFF2-40B4-BE49-F238E27FC236}">
                <a16:creationId xmlns:a16="http://schemas.microsoft.com/office/drawing/2014/main" id="{D6F6D9D3-0D93-4FB7-BE31-D3BF83657BC1}"/>
              </a:ext>
            </a:extLst>
          </p:cNvPr>
          <p:cNvSpPr/>
          <p:nvPr/>
        </p:nvSpPr>
        <p:spPr>
          <a:xfrm>
            <a:off x="3429000" y="4216400"/>
            <a:ext cx="2438400" cy="8128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4" name="CuadroTexto 23">
            <a:extLst>
              <a:ext uri="{FF2B5EF4-FFF2-40B4-BE49-F238E27FC236}">
                <a16:creationId xmlns:a16="http://schemas.microsoft.com/office/drawing/2014/main" id="{E0447126-E86C-46C1-BA1B-AB6CB2947029}"/>
              </a:ext>
            </a:extLst>
          </p:cNvPr>
          <p:cNvSpPr txBox="1"/>
          <p:nvPr/>
        </p:nvSpPr>
        <p:spPr>
          <a:xfrm>
            <a:off x="3505200" y="4292600"/>
            <a:ext cx="2286000" cy="660400"/>
          </a:xfrm>
          <a:prstGeom prst="rect">
            <a:avLst/>
          </a:prstGeom>
          <a:solidFill>
            <a:srgbClr val="EDF3F8"/>
          </a:solidFill>
          <a:ln>
            <a:noFill/>
          </a:ln>
        </p:spPr>
        <p:txBody>
          <a:bodyPr vertOverflow="overflow" vert="horz" wrap="square" rtlCol="0" anchor="t">
            <a:spAutoFit/>
          </a:bodyPr>
          <a:lstStyle/>
          <a:p>
            <a:pPr algn="l"/>
            <a:r>
              <a:rPr lang="es-ES" sz="1000" b="1">
                <a:solidFill>
                  <a:srgbClr val="156082"/>
                </a:solidFill>
              </a:rPr>
              <a:t>En el algoritmo: moverse = adoptar elementos de una mejor ruta</a:t>
            </a:r>
            <a:endParaRPr lang="es-419" sz="1000" b="1">
              <a:solidFill>
                <a:srgbClr val="156082"/>
              </a:solidFill>
            </a:endParaRPr>
          </a:p>
        </p:txBody>
      </p:sp>
      <p:sp>
        <p:nvSpPr>
          <p:cNvPr id="25" name="Flecha: a la derecha 24">
            <a:extLst>
              <a:ext uri="{FF2B5EF4-FFF2-40B4-BE49-F238E27FC236}">
                <a16:creationId xmlns:a16="http://schemas.microsoft.com/office/drawing/2014/main" id="{7CE9BBFB-F173-4FB1-A16F-96629A10F546}"/>
              </a:ext>
            </a:extLst>
          </p:cNvPr>
          <p:cNvSpPr/>
          <p:nvPr/>
        </p:nvSpPr>
        <p:spPr>
          <a:xfrm>
            <a:off x="5994400" y="3149600"/>
            <a:ext cx="228600" cy="177800"/>
          </a:xfrm>
          <a:prstGeom prst="rightArrow">
            <a:avLst/>
          </a:prstGeom>
          <a:solidFill>
            <a:srgbClr val="C0CDD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6" name="Rectángulo: esquinas redondeadas 25">
            <a:extLst>
              <a:ext uri="{FF2B5EF4-FFF2-40B4-BE49-F238E27FC236}">
                <a16:creationId xmlns:a16="http://schemas.microsoft.com/office/drawing/2014/main" id="{F49262DE-D5CF-4FF9-ACE7-3627E55C7DBB}"/>
              </a:ext>
            </a:extLst>
          </p:cNvPr>
          <p:cNvSpPr/>
          <p:nvPr/>
        </p:nvSpPr>
        <p:spPr>
          <a:xfrm>
            <a:off x="6096000" y="1447800"/>
            <a:ext cx="2641600" cy="3759200"/>
          </a:xfrm>
          <a:prstGeom prst="round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7" name="Rectángulo 26">
            <a:extLst>
              <a:ext uri="{FF2B5EF4-FFF2-40B4-BE49-F238E27FC236}">
                <a16:creationId xmlns:a16="http://schemas.microsoft.com/office/drawing/2014/main" id="{8E1FA022-3C66-4299-BF3F-823F3F3D264C}"/>
              </a:ext>
            </a:extLst>
          </p:cNvPr>
          <p:cNvSpPr/>
          <p:nvPr/>
        </p:nvSpPr>
        <p:spPr>
          <a:xfrm>
            <a:off x="6096000" y="1447800"/>
            <a:ext cx="2641600" cy="76200"/>
          </a:xfrm>
          <a:prstGeom prst="rect">
            <a:avLst/>
          </a:prstGeom>
          <a:solidFill>
            <a:srgbClr val="196B2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8" name="Elipse 27">
            <a:extLst>
              <a:ext uri="{FF2B5EF4-FFF2-40B4-BE49-F238E27FC236}">
                <a16:creationId xmlns:a16="http://schemas.microsoft.com/office/drawing/2014/main" id="{E6AAA78D-3A5C-45EC-A29B-F44123A42E48}"/>
              </a:ext>
            </a:extLst>
          </p:cNvPr>
          <p:cNvSpPr/>
          <p:nvPr/>
        </p:nvSpPr>
        <p:spPr>
          <a:xfrm>
            <a:off x="6248400" y="1676400"/>
            <a:ext cx="558800" cy="558800"/>
          </a:xfrm>
          <a:prstGeom prst="ellipse">
            <a:avLst/>
          </a:prstGeom>
          <a:solidFill>
            <a:srgbClr val="196B2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9" name="CuadroTexto 28">
            <a:extLst>
              <a:ext uri="{FF2B5EF4-FFF2-40B4-BE49-F238E27FC236}">
                <a16:creationId xmlns:a16="http://schemas.microsoft.com/office/drawing/2014/main" id="{D63F13BD-F979-4AEF-9A59-EE65B4BE64D5}"/>
              </a:ext>
            </a:extLst>
          </p:cNvPr>
          <p:cNvSpPr txBox="1"/>
          <p:nvPr/>
        </p:nvSpPr>
        <p:spPr>
          <a:xfrm>
            <a:off x="6248400" y="1676400"/>
            <a:ext cx="558800" cy="558800"/>
          </a:xfrm>
          <a:prstGeom prst="rect">
            <a:avLst/>
          </a:prstGeom>
          <a:solidFill>
            <a:srgbClr val="196B24"/>
          </a:solidFill>
          <a:ln>
            <a:noFill/>
          </a:ln>
        </p:spPr>
        <p:txBody>
          <a:bodyPr vertOverflow="overflow" vert="horz" wrap="none" rtlCol="0" anchor="ctr" anchorCtr="0">
            <a:noAutofit/>
          </a:bodyPr>
          <a:lstStyle/>
          <a:p>
            <a:pPr algn="l"/>
            <a:r>
              <a:rPr lang="es-419" sz="2000" b="1">
                <a:solidFill>
                  <a:srgbClr val="FFFFFF"/>
                </a:solidFill>
              </a:rPr>
              <a:t>⊙</a:t>
            </a:r>
          </a:p>
        </p:txBody>
      </p:sp>
      <p:sp>
        <p:nvSpPr>
          <p:cNvPr id="30" name="CuadroTexto 29">
            <a:extLst>
              <a:ext uri="{FF2B5EF4-FFF2-40B4-BE49-F238E27FC236}">
                <a16:creationId xmlns:a16="http://schemas.microsoft.com/office/drawing/2014/main" id="{8C850C29-A470-46F7-9255-2FFA27197132}"/>
              </a:ext>
            </a:extLst>
          </p:cNvPr>
          <p:cNvSpPr txBox="1"/>
          <p:nvPr/>
        </p:nvSpPr>
        <p:spPr>
          <a:xfrm>
            <a:off x="6248400" y="2336800"/>
            <a:ext cx="2336800" cy="304800"/>
          </a:xfrm>
          <a:prstGeom prst="rect">
            <a:avLst/>
          </a:prstGeom>
          <a:solidFill>
            <a:srgbClr val="FFFFFF"/>
          </a:solidFill>
          <a:ln>
            <a:noFill/>
          </a:ln>
        </p:spPr>
        <p:txBody>
          <a:bodyPr vertOverflow="overflow" vert="horz" wrap="square" rtlCol="0" anchor="t">
            <a:spAutoFit/>
          </a:bodyPr>
          <a:lstStyle/>
          <a:p>
            <a:pPr algn="l"/>
            <a:r>
              <a:rPr lang="es-419" sz="1600" b="1">
                <a:solidFill>
                  <a:srgbClr val="0E2841"/>
                </a:solidFill>
              </a:rPr>
              <a:t>Explora</a:t>
            </a:r>
          </a:p>
        </p:txBody>
      </p:sp>
      <p:sp>
        <p:nvSpPr>
          <p:cNvPr id="31" name="CuadroTexto 30">
            <a:extLst>
              <a:ext uri="{FF2B5EF4-FFF2-40B4-BE49-F238E27FC236}">
                <a16:creationId xmlns:a16="http://schemas.microsoft.com/office/drawing/2014/main" id="{A4296103-F945-4B5D-B316-C70B3380EFC8}"/>
              </a:ext>
            </a:extLst>
          </p:cNvPr>
          <p:cNvSpPr txBox="1"/>
          <p:nvPr/>
        </p:nvSpPr>
        <p:spPr>
          <a:xfrm>
            <a:off x="6248400" y="2692400"/>
            <a:ext cx="2336800" cy="1397000"/>
          </a:xfrm>
          <a:prstGeom prst="rect">
            <a:avLst/>
          </a:prstGeom>
          <a:solidFill>
            <a:srgbClr val="FFFFFF"/>
          </a:solidFill>
          <a:ln>
            <a:noFill/>
          </a:ln>
        </p:spPr>
        <p:txBody>
          <a:bodyPr vertOverflow="overflow" vert="horz" wrap="square" rtlCol="0" anchor="t">
            <a:spAutoFit/>
          </a:bodyPr>
          <a:lstStyle/>
          <a:p>
            <a:pPr algn="l"/>
            <a:r>
              <a:rPr lang="es-ES" sz="1200">
                <a:solidFill>
                  <a:srgbClr val="3A5068"/>
                </a:solidFill>
              </a:rPr>
              <a:t>Si ninguna luciérnaga cercana brilla más, la luciérnaga se mueve de forma aleatoria para buscar nuevas zonas.</a:t>
            </a:r>
            <a:endParaRPr lang="es-419" sz="1200">
              <a:solidFill>
                <a:srgbClr val="3A5068"/>
              </a:solidFill>
            </a:endParaRPr>
          </a:p>
        </p:txBody>
      </p:sp>
      <p:sp>
        <p:nvSpPr>
          <p:cNvPr id="32" name="Rectángulo: esquinas redondeadas 31">
            <a:extLst>
              <a:ext uri="{FF2B5EF4-FFF2-40B4-BE49-F238E27FC236}">
                <a16:creationId xmlns:a16="http://schemas.microsoft.com/office/drawing/2014/main" id="{EB3BA07C-6CC5-4F1E-A97C-477C1BFA60B1}"/>
              </a:ext>
            </a:extLst>
          </p:cNvPr>
          <p:cNvSpPr/>
          <p:nvPr/>
        </p:nvSpPr>
        <p:spPr>
          <a:xfrm>
            <a:off x="6197600" y="4216400"/>
            <a:ext cx="2438400" cy="8128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3" name="CuadroTexto 32">
            <a:extLst>
              <a:ext uri="{FF2B5EF4-FFF2-40B4-BE49-F238E27FC236}">
                <a16:creationId xmlns:a16="http://schemas.microsoft.com/office/drawing/2014/main" id="{1396867E-891D-45E9-B099-507BCAEB9C2A}"/>
              </a:ext>
            </a:extLst>
          </p:cNvPr>
          <p:cNvSpPr txBox="1"/>
          <p:nvPr/>
        </p:nvSpPr>
        <p:spPr>
          <a:xfrm>
            <a:off x="6273800" y="4292600"/>
            <a:ext cx="2286000" cy="660400"/>
          </a:xfrm>
          <a:prstGeom prst="rect">
            <a:avLst/>
          </a:prstGeom>
          <a:solidFill>
            <a:srgbClr val="EDF3F8"/>
          </a:solidFill>
          <a:ln>
            <a:noFill/>
          </a:ln>
        </p:spPr>
        <p:txBody>
          <a:bodyPr vertOverflow="overflow" vert="horz" wrap="square" rtlCol="0" anchor="t">
            <a:spAutoFit/>
          </a:bodyPr>
          <a:lstStyle/>
          <a:p>
            <a:pPr algn="l"/>
            <a:r>
              <a:rPr lang="es-ES" sz="1000" b="1">
                <a:solidFill>
                  <a:srgbClr val="156082"/>
                </a:solidFill>
              </a:rPr>
              <a:t>En el algoritmo: exploración = evaluar combinaciones nuevas</a:t>
            </a:r>
            <a:endParaRPr lang="es-419" sz="1000" b="1">
              <a:solidFill>
                <a:srgbClr val="156082"/>
              </a:solidFill>
            </a:endParaRPr>
          </a:p>
        </p:txBody>
      </p:sp>
      <p:sp>
        <p:nvSpPr>
          <p:cNvPr id="34" name="Flecha: a la derecha 33">
            <a:extLst>
              <a:ext uri="{FF2B5EF4-FFF2-40B4-BE49-F238E27FC236}">
                <a16:creationId xmlns:a16="http://schemas.microsoft.com/office/drawing/2014/main" id="{42293CAA-B141-4CB0-9FFC-126A5354C9C0}"/>
              </a:ext>
            </a:extLst>
          </p:cNvPr>
          <p:cNvSpPr/>
          <p:nvPr/>
        </p:nvSpPr>
        <p:spPr>
          <a:xfrm>
            <a:off x="8763000" y="3149600"/>
            <a:ext cx="228600" cy="177800"/>
          </a:xfrm>
          <a:prstGeom prst="rightArrow">
            <a:avLst/>
          </a:prstGeom>
          <a:solidFill>
            <a:srgbClr val="C0CDD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5" name="Rectángulo: esquinas redondeadas 34">
            <a:extLst>
              <a:ext uri="{FF2B5EF4-FFF2-40B4-BE49-F238E27FC236}">
                <a16:creationId xmlns:a16="http://schemas.microsoft.com/office/drawing/2014/main" id="{32476305-6C3C-4991-A513-877BE457D843}"/>
              </a:ext>
            </a:extLst>
          </p:cNvPr>
          <p:cNvSpPr/>
          <p:nvPr/>
        </p:nvSpPr>
        <p:spPr>
          <a:xfrm>
            <a:off x="8864600" y="1447800"/>
            <a:ext cx="2641600" cy="3759200"/>
          </a:xfrm>
          <a:prstGeom prst="round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6" name="Rectángulo 35">
            <a:extLst>
              <a:ext uri="{FF2B5EF4-FFF2-40B4-BE49-F238E27FC236}">
                <a16:creationId xmlns:a16="http://schemas.microsoft.com/office/drawing/2014/main" id="{CBFEEB0F-CAAD-4897-A221-D1AE6ADA6AC6}"/>
              </a:ext>
            </a:extLst>
          </p:cNvPr>
          <p:cNvSpPr/>
          <p:nvPr/>
        </p:nvSpPr>
        <p:spPr>
          <a:xfrm>
            <a:off x="8864600" y="1447800"/>
            <a:ext cx="2641600" cy="762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7" name="Elipse 36">
            <a:extLst>
              <a:ext uri="{FF2B5EF4-FFF2-40B4-BE49-F238E27FC236}">
                <a16:creationId xmlns:a16="http://schemas.microsoft.com/office/drawing/2014/main" id="{C2E405F0-5584-4F01-8CE9-4A6291C961E3}"/>
              </a:ext>
            </a:extLst>
          </p:cNvPr>
          <p:cNvSpPr/>
          <p:nvPr/>
        </p:nvSpPr>
        <p:spPr>
          <a:xfrm>
            <a:off x="9017000" y="1676400"/>
            <a:ext cx="558800" cy="558800"/>
          </a:xfrm>
          <a:prstGeom prst="ellipse">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8" name="CuadroTexto 37">
            <a:extLst>
              <a:ext uri="{FF2B5EF4-FFF2-40B4-BE49-F238E27FC236}">
                <a16:creationId xmlns:a16="http://schemas.microsoft.com/office/drawing/2014/main" id="{3E97A67E-27F1-41CB-AAD4-A6E28A6E20F7}"/>
              </a:ext>
            </a:extLst>
          </p:cNvPr>
          <p:cNvSpPr txBox="1"/>
          <p:nvPr/>
        </p:nvSpPr>
        <p:spPr>
          <a:xfrm>
            <a:off x="9017000" y="1676400"/>
            <a:ext cx="558800" cy="558800"/>
          </a:xfrm>
          <a:prstGeom prst="rect">
            <a:avLst/>
          </a:prstGeom>
          <a:solidFill>
            <a:srgbClr val="0E2841"/>
          </a:solidFill>
          <a:ln>
            <a:noFill/>
          </a:ln>
        </p:spPr>
        <p:txBody>
          <a:bodyPr vertOverflow="overflow" vert="horz" wrap="none" rtlCol="0" anchor="ctr" anchorCtr="0">
            <a:noAutofit/>
          </a:bodyPr>
          <a:lstStyle/>
          <a:p>
            <a:pPr algn="l"/>
            <a:r>
              <a:rPr lang="es-419" sz="2000" b="1">
                <a:solidFill>
                  <a:srgbClr val="FFFFFF"/>
                </a:solidFill>
              </a:rPr>
              <a:t>★</a:t>
            </a:r>
          </a:p>
        </p:txBody>
      </p:sp>
      <p:sp>
        <p:nvSpPr>
          <p:cNvPr id="39" name="CuadroTexto 38">
            <a:extLst>
              <a:ext uri="{FF2B5EF4-FFF2-40B4-BE49-F238E27FC236}">
                <a16:creationId xmlns:a16="http://schemas.microsoft.com/office/drawing/2014/main" id="{FADE6FE9-F521-498F-A721-4B2F8AFFC628}"/>
              </a:ext>
            </a:extLst>
          </p:cNvPr>
          <p:cNvSpPr txBox="1"/>
          <p:nvPr/>
        </p:nvSpPr>
        <p:spPr>
          <a:xfrm>
            <a:off x="9017000" y="2336800"/>
            <a:ext cx="2336800" cy="304800"/>
          </a:xfrm>
          <a:prstGeom prst="rect">
            <a:avLst/>
          </a:prstGeom>
          <a:solidFill>
            <a:srgbClr val="FFFFFF"/>
          </a:solidFill>
          <a:ln>
            <a:noFill/>
          </a:ln>
        </p:spPr>
        <p:txBody>
          <a:bodyPr vertOverflow="overflow" vert="horz" wrap="square" rtlCol="0" anchor="t">
            <a:spAutoFit/>
          </a:bodyPr>
          <a:lstStyle/>
          <a:p>
            <a:pPr algn="l"/>
            <a:r>
              <a:rPr lang="es-419" sz="1600" b="1">
                <a:solidFill>
                  <a:srgbClr val="0E2841"/>
                </a:solidFill>
              </a:rPr>
              <a:t>Converge</a:t>
            </a:r>
          </a:p>
        </p:txBody>
      </p:sp>
      <p:sp>
        <p:nvSpPr>
          <p:cNvPr id="40" name="CuadroTexto 39">
            <a:extLst>
              <a:ext uri="{FF2B5EF4-FFF2-40B4-BE49-F238E27FC236}">
                <a16:creationId xmlns:a16="http://schemas.microsoft.com/office/drawing/2014/main" id="{A47D2653-EF08-4F3A-AA89-937CFF4BD8C7}"/>
              </a:ext>
            </a:extLst>
          </p:cNvPr>
          <p:cNvSpPr txBox="1"/>
          <p:nvPr/>
        </p:nvSpPr>
        <p:spPr>
          <a:xfrm>
            <a:off x="9017000" y="2692400"/>
            <a:ext cx="2336800" cy="1397000"/>
          </a:xfrm>
          <a:prstGeom prst="rect">
            <a:avLst/>
          </a:prstGeom>
          <a:solidFill>
            <a:srgbClr val="FFFFFF"/>
          </a:solidFill>
          <a:ln>
            <a:noFill/>
          </a:ln>
        </p:spPr>
        <p:txBody>
          <a:bodyPr vertOverflow="overflow" vert="horz" wrap="square" rtlCol="0" anchor="t">
            <a:spAutoFit/>
          </a:bodyPr>
          <a:lstStyle/>
          <a:p>
            <a:pPr algn="l"/>
            <a:r>
              <a:rPr lang="es-ES" sz="1200">
                <a:solidFill>
                  <a:srgbClr val="3A5068"/>
                </a:solidFill>
              </a:rPr>
              <a:t>Con el tiempo, el grupo tiende a concentrarse alrededor de las fuentes de luz más brillantes del entorno.</a:t>
            </a:r>
            <a:endParaRPr lang="es-419" sz="1200">
              <a:solidFill>
                <a:srgbClr val="3A5068"/>
              </a:solidFill>
            </a:endParaRPr>
          </a:p>
        </p:txBody>
      </p:sp>
      <p:sp>
        <p:nvSpPr>
          <p:cNvPr id="41" name="Rectángulo: esquinas redondeadas 40">
            <a:extLst>
              <a:ext uri="{FF2B5EF4-FFF2-40B4-BE49-F238E27FC236}">
                <a16:creationId xmlns:a16="http://schemas.microsoft.com/office/drawing/2014/main" id="{4569E35F-B753-48D9-AE72-4D76CBC7B806}"/>
              </a:ext>
            </a:extLst>
          </p:cNvPr>
          <p:cNvSpPr/>
          <p:nvPr/>
        </p:nvSpPr>
        <p:spPr>
          <a:xfrm>
            <a:off x="8966200" y="4216400"/>
            <a:ext cx="2438400" cy="812800"/>
          </a:xfrm>
          <a:prstGeom prst="round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2" name="CuadroTexto 41">
            <a:extLst>
              <a:ext uri="{FF2B5EF4-FFF2-40B4-BE49-F238E27FC236}">
                <a16:creationId xmlns:a16="http://schemas.microsoft.com/office/drawing/2014/main" id="{4163EFB7-B039-45B8-8BB9-FDFF037DB079}"/>
              </a:ext>
            </a:extLst>
          </p:cNvPr>
          <p:cNvSpPr txBox="1"/>
          <p:nvPr/>
        </p:nvSpPr>
        <p:spPr>
          <a:xfrm>
            <a:off x="9042400" y="4292600"/>
            <a:ext cx="2286000" cy="660400"/>
          </a:xfrm>
          <a:prstGeom prst="rect">
            <a:avLst/>
          </a:prstGeom>
          <a:solidFill>
            <a:srgbClr val="EDF3F8"/>
          </a:solidFill>
          <a:ln>
            <a:noFill/>
          </a:ln>
        </p:spPr>
        <p:txBody>
          <a:bodyPr vertOverflow="overflow" vert="horz" wrap="square" rtlCol="0" anchor="t">
            <a:spAutoFit/>
          </a:bodyPr>
          <a:lstStyle/>
          <a:p>
            <a:pPr algn="l"/>
            <a:r>
              <a:rPr lang="es-ES" sz="1000" b="1">
                <a:solidFill>
                  <a:srgbClr val="156082"/>
                </a:solidFill>
              </a:rPr>
              <a:t>En el algoritmo: convergencia = encontrar la mejor solución disponible</a:t>
            </a:r>
            <a:endParaRPr lang="es-419" sz="1000" b="1">
              <a:solidFill>
                <a:srgbClr val="156082"/>
              </a:solidFill>
            </a:endParaRPr>
          </a:p>
        </p:txBody>
      </p:sp>
      <p:sp>
        <p:nvSpPr>
          <p:cNvPr id="43" name="Rectángulo 42">
            <a:extLst>
              <a:ext uri="{FF2B5EF4-FFF2-40B4-BE49-F238E27FC236}">
                <a16:creationId xmlns:a16="http://schemas.microsoft.com/office/drawing/2014/main" id="{2915708D-4A97-4546-B59C-4CDEF601629D}"/>
              </a:ext>
            </a:extLst>
          </p:cNvPr>
          <p:cNvSpPr/>
          <p:nvPr/>
        </p:nvSpPr>
        <p:spPr>
          <a:xfrm>
            <a:off x="558800" y="5359400"/>
            <a:ext cx="11049000" cy="11684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4" name="Rectángulo 43">
            <a:extLst>
              <a:ext uri="{FF2B5EF4-FFF2-40B4-BE49-F238E27FC236}">
                <a16:creationId xmlns:a16="http://schemas.microsoft.com/office/drawing/2014/main" id="{6247BCAE-B4A4-47CD-BEF6-62C2949F502A}"/>
              </a:ext>
            </a:extLst>
          </p:cNvPr>
          <p:cNvSpPr/>
          <p:nvPr/>
        </p:nvSpPr>
        <p:spPr>
          <a:xfrm>
            <a:off x="558800" y="5359400"/>
            <a:ext cx="76200" cy="1168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5" name="CuadroTexto 44">
            <a:extLst>
              <a:ext uri="{FF2B5EF4-FFF2-40B4-BE49-F238E27FC236}">
                <a16:creationId xmlns:a16="http://schemas.microsoft.com/office/drawing/2014/main" id="{85AF29D7-2A56-4B1C-86CD-2A0FEC8CA5FE}"/>
              </a:ext>
            </a:extLst>
          </p:cNvPr>
          <p:cNvSpPr txBox="1"/>
          <p:nvPr/>
        </p:nvSpPr>
        <p:spPr>
          <a:xfrm>
            <a:off x="762000" y="5461000"/>
            <a:ext cx="10795000" cy="177800"/>
          </a:xfrm>
          <a:prstGeom prst="rect">
            <a:avLst/>
          </a:prstGeom>
          <a:solidFill>
            <a:srgbClr val="0E2841"/>
          </a:solidFill>
          <a:ln>
            <a:noFill/>
          </a:ln>
        </p:spPr>
        <p:txBody>
          <a:bodyPr vertOverflow="overflow" vert="horz" wrap="square" rtlCol="0" anchor="t">
            <a:spAutoFit/>
          </a:bodyPr>
          <a:lstStyle/>
          <a:p>
            <a:pPr algn="l"/>
            <a:r>
              <a:rPr lang="es-ES" sz="900" b="1">
                <a:solidFill>
                  <a:srgbClr val="E97132"/>
                </a:solidFill>
              </a:rPr>
              <a:t>¿POR QUÉ ESTO IMPORTA PARA LA LOGÍSTICA?</a:t>
            </a:r>
            <a:endParaRPr lang="es-419" sz="900" b="1">
              <a:solidFill>
                <a:srgbClr val="E97132"/>
              </a:solidFill>
            </a:endParaRPr>
          </a:p>
        </p:txBody>
      </p:sp>
      <p:sp>
        <p:nvSpPr>
          <p:cNvPr id="46" name="CuadroTexto 45">
            <a:extLst>
              <a:ext uri="{FF2B5EF4-FFF2-40B4-BE49-F238E27FC236}">
                <a16:creationId xmlns:a16="http://schemas.microsoft.com/office/drawing/2014/main" id="{1785BE3B-C7C8-49DE-8A20-01266B779A63}"/>
              </a:ext>
            </a:extLst>
          </p:cNvPr>
          <p:cNvSpPr txBox="1"/>
          <p:nvPr/>
        </p:nvSpPr>
        <p:spPr>
          <a:xfrm>
            <a:off x="762000" y="5715000"/>
            <a:ext cx="10795000" cy="711200"/>
          </a:xfrm>
          <a:prstGeom prst="rect">
            <a:avLst/>
          </a:prstGeom>
          <a:solidFill>
            <a:srgbClr val="0E2841"/>
          </a:solidFill>
          <a:ln>
            <a:noFill/>
          </a:ln>
        </p:spPr>
        <p:txBody>
          <a:bodyPr vertOverflow="overflow" vert="horz" wrap="square" rtlCol="0" anchor="t">
            <a:spAutoFit/>
          </a:bodyPr>
          <a:lstStyle/>
          <a:p>
            <a:pPr algn="l"/>
            <a:r>
              <a:rPr lang="es-ES" sz="1300">
                <a:solidFill>
                  <a:srgbClr val="FFFFFF"/>
                </a:solidFill>
              </a:rPr>
              <a:t>Un enjambre de luciérnagas encuentra colectivamente la fuente de luz más brillante sin que ninguna tenga el mapa completo. De la misma forma, el algoritmo encuentra la ruta más eficiente evaluando miles de combinaciones simultáneamente, sin necesitar explorar todas.</a:t>
            </a:r>
            <a:endParaRPr lang="es-419" sz="1300">
              <a:solidFill>
                <a:srgbClr val="FFFFFF"/>
              </a:solidFill>
            </a:endParaRPr>
          </a:p>
        </p:txBody>
      </p:sp>
      <p:sp>
        <p:nvSpPr>
          <p:cNvPr id="47" name="CuadroTexto 46">
            <a:extLst>
              <a:ext uri="{FF2B5EF4-FFF2-40B4-BE49-F238E27FC236}">
                <a16:creationId xmlns:a16="http://schemas.microsoft.com/office/drawing/2014/main" id="{03CA4140-7244-404C-A3A8-BD4143C34381}"/>
              </a:ext>
            </a:extLst>
          </p:cNvPr>
          <p:cNvSpPr txBox="1"/>
          <p:nvPr/>
        </p:nvSpPr>
        <p:spPr>
          <a:xfrm>
            <a:off x="558800" y="6515100"/>
            <a:ext cx="8890000" cy="165100"/>
          </a:xfrm>
          <a:prstGeom prst="rect">
            <a:avLst/>
          </a:prstGeom>
          <a:solidFill>
            <a:srgbClr val="F7F8FA"/>
          </a:solidFill>
          <a:ln>
            <a:noFill/>
          </a:ln>
        </p:spPr>
        <p:txBody>
          <a:bodyPr vertOverflow="overflow" vert="horz" wrap="square" rtlCol="0" anchor="t">
            <a:spAutoFit/>
          </a:bodyPr>
          <a:lstStyle/>
          <a:p>
            <a:pPr algn="l"/>
            <a:r>
              <a:rPr lang="es-ES" sz="900">
                <a:solidFill>
                  <a:srgbClr val="5A7A90"/>
                </a:solidFill>
              </a:rPr>
              <a:t>Propuesta Técnica · Algoritmo de Luciérnaga · Optimización Logística</a:t>
            </a:r>
            <a:endParaRPr lang="es-419" sz="900">
              <a:solidFill>
                <a:srgbClr val="5A7A90"/>
              </a:solidFill>
            </a:endParaRPr>
          </a:p>
        </p:txBody>
      </p:sp>
      <p:sp>
        <p:nvSpPr>
          <p:cNvPr id="48" name="CuadroTexto 47">
            <a:extLst>
              <a:ext uri="{FF2B5EF4-FFF2-40B4-BE49-F238E27FC236}">
                <a16:creationId xmlns:a16="http://schemas.microsoft.com/office/drawing/2014/main" id="{5FB07602-A48A-3F8C-A71B-9605E5EE43FA}"/>
              </a:ext>
            </a:extLst>
          </p:cNvPr>
          <p:cNvSpPr txBox="1"/>
          <p:nvPr/>
        </p:nvSpPr>
        <p:spPr>
          <a:xfrm>
            <a:off x="558800" y="101600"/>
            <a:ext cx="1524000" cy="246221"/>
          </a:xfrm>
          <a:prstGeom prst="rect">
            <a:avLst/>
          </a:prstGeom>
          <a:solidFill>
            <a:srgbClr val="F7F8FA"/>
          </a:solidFill>
          <a:ln>
            <a:noFill/>
          </a:ln>
        </p:spPr>
        <p:txBody>
          <a:bodyPr vertOverflow="overflow" vert="horz" wrap="square" rtlCol="0" anchor="t">
            <a:spAutoFit/>
          </a:bodyPr>
          <a:lstStyle/>
          <a:p>
            <a:pPr algn="l"/>
            <a:r>
              <a:rPr lang="es-419" sz="1000" b="1" dirty="0">
                <a:solidFill>
                  <a:srgbClr val="B04E1A"/>
                </a:solidFill>
              </a:rPr>
              <a:t>03 / 05</a:t>
            </a:r>
          </a:p>
        </p:txBody>
      </p:sp>
    </p:spTree>
    <p:extLst>
      <p:ext uri="{BB962C8B-B14F-4D97-AF65-F5344CB8AC3E}">
        <p14:creationId xmlns:p14="http://schemas.microsoft.com/office/powerpoint/2010/main" val="55308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D7F95BF-25FC-40AF-8592-1ADE36CBF0C6}"/>
              </a:ext>
            </a:extLst>
          </p:cNvPr>
          <p:cNvSpPr/>
          <p:nvPr/>
        </p:nvSpPr>
        <p:spPr>
          <a:xfrm>
            <a:off x="0" y="0"/>
            <a:ext cx="355600" cy="68580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 name="Rectángulo 2">
            <a:extLst>
              <a:ext uri="{FF2B5EF4-FFF2-40B4-BE49-F238E27FC236}">
                <a16:creationId xmlns:a16="http://schemas.microsoft.com/office/drawing/2014/main" id="{0E12B48C-7EDE-4EB5-8983-13F98EAADAD0}"/>
              </a:ext>
            </a:extLst>
          </p:cNvPr>
          <p:cNvSpPr/>
          <p:nvPr/>
        </p:nvSpPr>
        <p:spPr>
          <a:xfrm>
            <a:off x="0" y="6705600"/>
            <a:ext cx="12192000" cy="152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 name="CuadroTexto 3">
            <a:extLst>
              <a:ext uri="{FF2B5EF4-FFF2-40B4-BE49-F238E27FC236}">
                <a16:creationId xmlns:a16="http://schemas.microsoft.com/office/drawing/2014/main" id="{BC6C27D4-B1FA-4DB6-85D2-71DAF8CCC79F}"/>
              </a:ext>
            </a:extLst>
          </p:cNvPr>
          <p:cNvSpPr txBox="1"/>
          <p:nvPr/>
        </p:nvSpPr>
        <p:spPr>
          <a:xfrm>
            <a:off x="558800" y="101600"/>
            <a:ext cx="1524000" cy="246221"/>
          </a:xfrm>
          <a:prstGeom prst="rect">
            <a:avLst/>
          </a:prstGeom>
          <a:solidFill>
            <a:srgbClr val="F7F8FA"/>
          </a:solidFill>
          <a:ln>
            <a:noFill/>
          </a:ln>
        </p:spPr>
        <p:txBody>
          <a:bodyPr vertOverflow="overflow" vert="horz" wrap="square" rtlCol="0" anchor="t">
            <a:spAutoFit/>
          </a:bodyPr>
          <a:lstStyle/>
          <a:p>
            <a:pPr algn="l"/>
            <a:r>
              <a:rPr lang="es-419" sz="1000" b="1" dirty="0">
                <a:solidFill>
                  <a:srgbClr val="B04E1A"/>
                </a:solidFill>
              </a:rPr>
              <a:t>04 / 05</a:t>
            </a:r>
          </a:p>
        </p:txBody>
      </p:sp>
      <p:sp>
        <p:nvSpPr>
          <p:cNvPr id="5" name="CuadroTexto 4">
            <a:extLst>
              <a:ext uri="{FF2B5EF4-FFF2-40B4-BE49-F238E27FC236}">
                <a16:creationId xmlns:a16="http://schemas.microsoft.com/office/drawing/2014/main" id="{8A1E0D7B-572C-4E5C-8308-F81D2C0EC49C}"/>
              </a:ext>
            </a:extLst>
          </p:cNvPr>
          <p:cNvSpPr txBox="1"/>
          <p:nvPr/>
        </p:nvSpPr>
        <p:spPr>
          <a:xfrm>
            <a:off x="558800" y="330200"/>
            <a:ext cx="11430000" cy="711200"/>
          </a:xfrm>
          <a:prstGeom prst="rect">
            <a:avLst/>
          </a:prstGeom>
          <a:solidFill>
            <a:srgbClr val="F7F8FA"/>
          </a:solidFill>
          <a:ln>
            <a:noFill/>
          </a:ln>
        </p:spPr>
        <p:txBody>
          <a:bodyPr vertOverflow="overflow" vert="horz" wrap="square" rtlCol="0" anchor="t">
            <a:spAutoFit/>
          </a:bodyPr>
          <a:lstStyle/>
          <a:p>
            <a:pPr algn="l"/>
            <a:r>
              <a:rPr lang="es-ES" sz="2400" b="1">
                <a:solidFill>
                  <a:srgbClr val="0E2841"/>
                </a:solidFill>
              </a:rPr>
              <a:t>Así se traduce la operación logística al lenguaje del algoritmo</a:t>
            </a:r>
            <a:endParaRPr lang="es-419" sz="2400" b="1">
              <a:solidFill>
                <a:srgbClr val="0E2841"/>
              </a:solidFill>
            </a:endParaRPr>
          </a:p>
        </p:txBody>
      </p:sp>
      <p:sp>
        <p:nvSpPr>
          <p:cNvPr id="6" name="Rectángulo 5">
            <a:extLst>
              <a:ext uri="{FF2B5EF4-FFF2-40B4-BE49-F238E27FC236}">
                <a16:creationId xmlns:a16="http://schemas.microsoft.com/office/drawing/2014/main" id="{CFDC9F51-94CF-438A-9247-73B04F400A9F}"/>
              </a:ext>
            </a:extLst>
          </p:cNvPr>
          <p:cNvSpPr/>
          <p:nvPr/>
        </p:nvSpPr>
        <p:spPr>
          <a:xfrm>
            <a:off x="558800" y="1143000"/>
            <a:ext cx="5588000" cy="54102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7" name="CuadroTexto 6">
            <a:extLst>
              <a:ext uri="{FF2B5EF4-FFF2-40B4-BE49-F238E27FC236}">
                <a16:creationId xmlns:a16="http://schemas.microsoft.com/office/drawing/2014/main" id="{13D3934C-EA38-44D6-8708-979B713E81B5}"/>
              </a:ext>
            </a:extLst>
          </p:cNvPr>
          <p:cNvSpPr txBox="1"/>
          <p:nvPr/>
        </p:nvSpPr>
        <p:spPr>
          <a:xfrm>
            <a:off x="711200" y="1244600"/>
            <a:ext cx="3810000" cy="177800"/>
          </a:xfrm>
          <a:prstGeom prst="rect">
            <a:avLst/>
          </a:prstGeom>
          <a:solidFill>
            <a:srgbClr val="0E2841"/>
          </a:solidFill>
          <a:ln>
            <a:noFill/>
          </a:ln>
        </p:spPr>
        <p:txBody>
          <a:bodyPr vertOverflow="overflow" vert="horz" wrap="square" rtlCol="0" anchor="t">
            <a:spAutoFit/>
          </a:bodyPr>
          <a:lstStyle/>
          <a:p>
            <a:pPr algn="l"/>
            <a:r>
              <a:rPr lang="es-419" sz="900" b="1">
                <a:solidFill>
                  <a:srgbClr val="E97132"/>
                </a:solidFill>
              </a:rPr>
              <a:t>PSEUDOCÓDIGO</a:t>
            </a:r>
          </a:p>
        </p:txBody>
      </p:sp>
      <p:sp>
        <p:nvSpPr>
          <p:cNvPr id="8" name="CuadroTexto 7">
            <a:extLst>
              <a:ext uri="{FF2B5EF4-FFF2-40B4-BE49-F238E27FC236}">
                <a16:creationId xmlns:a16="http://schemas.microsoft.com/office/drawing/2014/main" id="{B9EFC08E-8A4A-47BF-845C-8BC4D2601D85}"/>
              </a:ext>
            </a:extLst>
          </p:cNvPr>
          <p:cNvSpPr txBox="1"/>
          <p:nvPr/>
        </p:nvSpPr>
        <p:spPr>
          <a:xfrm>
            <a:off x="711200" y="1498600"/>
            <a:ext cx="5334000" cy="4978400"/>
          </a:xfrm>
          <a:prstGeom prst="rect">
            <a:avLst/>
          </a:prstGeom>
          <a:solidFill>
            <a:srgbClr val="0E2841"/>
          </a:solidFill>
          <a:ln>
            <a:noFill/>
          </a:ln>
        </p:spPr>
        <p:txBody>
          <a:bodyPr vertOverflow="overflow" vert="horz" wrap="none" rtlCol="0" anchor="t">
            <a:spAutoFit/>
          </a:bodyPr>
          <a:lstStyle/>
          <a:p>
            <a:pPr algn="l"/>
            <a:r>
              <a:rPr lang="es-ES" sz="1100">
                <a:solidFill>
                  <a:srgbClr val="7AADCC"/>
                </a:solidFill>
              </a:rPr>
              <a:t>INICIO
  Generar 50 soluciones completas de rutas
  // 50 luciérnagas: diversidad sin costo excesivo
  Calcular brillo inicial de cada solución
  // brillo = inverso del costo total
  REPETIR 200 iteraciones:
    PARA cada solución i:
      PARA cada solución j:
        SI brillo(j) &gt; brillo(i):
          Mover i → j
          // intensidad = brillo(j) / distancia²
          Recalcular brillo de i
        SI ninguna supera a i:
          Aplicar perturbación aleatoria
          // evita estancamiento
    Registrar mejor solución de la iteración
  FIN REPETIR
  Entregar solución de menor costo acumulado
FIN</a:t>
            </a:r>
            <a:endParaRPr lang="es-419" sz="1100">
              <a:solidFill>
                <a:srgbClr val="7AADCC"/>
              </a:solidFill>
            </a:endParaRPr>
          </a:p>
        </p:txBody>
      </p:sp>
      <p:sp>
        <p:nvSpPr>
          <p:cNvPr id="9" name="CuadroTexto 8">
            <a:extLst>
              <a:ext uri="{FF2B5EF4-FFF2-40B4-BE49-F238E27FC236}">
                <a16:creationId xmlns:a16="http://schemas.microsoft.com/office/drawing/2014/main" id="{2FC12DF1-2E5F-472C-9939-97E3E590A07D}"/>
              </a:ext>
            </a:extLst>
          </p:cNvPr>
          <p:cNvSpPr txBox="1"/>
          <p:nvPr/>
        </p:nvSpPr>
        <p:spPr>
          <a:xfrm>
            <a:off x="6350000" y="1193800"/>
            <a:ext cx="5664200" cy="177800"/>
          </a:xfrm>
          <a:prstGeom prst="rect">
            <a:avLst/>
          </a:prstGeom>
          <a:solidFill>
            <a:srgbClr val="F7F8FA"/>
          </a:solidFill>
          <a:ln>
            <a:noFill/>
          </a:ln>
        </p:spPr>
        <p:txBody>
          <a:bodyPr vertOverflow="overflow" vert="horz" wrap="square" rtlCol="0" anchor="t">
            <a:spAutoFit/>
          </a:bodyPr>
          <a:lstStyle/>
          <a:p>
            <a:pPr algn="l"/>
            <a:r>
              <a:rPr lang="es-419" sz="900" b="1">
                <a:solidFill>
                  <a:srgbClr val="156082"/>
                </a:solidFill>
              </a:rPr>
              <a:t>CORRESPONDENCIA MODELO — OPERACIÓN</a:t>
            </a:r>
          </a:p>
        </p:txBody>
      </p:sp>
      <p:sp>
        <p:nvSpPr>
          <p:cNvPr id="10" name="Rectángulo 9">
            <a:extLst>
              <a:ext uri="{FF2B5EF4-FFF2-40B4-BE49-F238E27FC236}">
                <a16:creationId xmlns:a16="http://schemas.microsoft.com/office/drawing/2014/main" id="{B0A7AB80-336F-4C87-A084-E3E406C9439E}"/>
              </a:ext>
            </a:extLst>
          </p:cNvPr>
          <p:cNvSpPr/>
          <p:nvPr/>
        </p:nvSpPr>
        <p:spPr>
          <a:xfrm>
            <a:off x="6350000" y="1422400"/>
            <a:ext cx="25400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1" name="CuadroTexto 10">
            <a:extLst>
              <a:ext uri="{FF2B5EF4-FFF2-40B4-BE49-F238E27FC236}">
                <a16:creationId xmlns:a16="http://schemas.microsoft.com/office/drawing/2014/main" id="{729CD122-F2AC-413B-9B6A-9DE911F9FB0C}"/>
              </a:ext>
            </a:extLst>
          </p:cNvPr>
          <p:cNvSpPr txBox="1"/>
          <p:nvPr/>
        </p:nvSpPr>
        <p:spPr>
          <a:xfrm>
            <a:off x="6426200" y="1447800"/>
            <a:ext cx="23876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Elemento del algoritmo</a:t>
            </a:r>
          </a:p>
        </p:txBody>
      </p:sp>
      <p:sp>
        <p:nvSpPr>
          <p:cNvPr id="12" name="Rectángulo 11">
            <a:extLst>
              <a:ext uri="{FF2B5EF4-FFF2-40B4-BE49-F238E27FC236}">
                <a16:creationId xmlns:a16="http://schemas.microsoft.com/office/drawing/2014/main" id="{F18A2700-C0BF-4CEF-BCD8-EE11B519717D}"/>
              </a:ext>
            </a:extLst>
          </p:cNvPr>
          <p:cNvSpPr/>
          <p:nvPr/>
        </p:nvSpPr>
        <p:spPr>
          <a:xfrm>
            <a:off x="8991600" y="1422400"/>
            <a:ext cx="30226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3" name="CuadroTexto 12">
            <a:extLst>
              <a:ext uri="{FF2B5EF4-FFF2-40B4-BE49-F238E27FC236}">
                <a16:creationId xmlns:a16="http://schemas.microsoft.com/office/drawing/2014/main" id="{552D2390-BDDF-4683-B3B6-DAE6ECB8B0B2}"/>
              </a:ext>
            </a:extLst>
          </p:cNvPr>
          <p:cNvSpPr txBox="1"/>
          <p:nvPr/>
        </p:nvSpPr>
        <p:spPr>
          <a:xfrm>
            <a:off x="9067800" y="1447800"/>
            <a:ext cx="28702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Elemento operativo real</a:t>
            </a:r>
          </a:p>
        </p:txBody>
      </p:sp>
      <p:sp>
        <p:nvSpPr>
          <p:cNvPr id="14" name="Rectángulo 13">
            <a:extLst>
              <a:ext uri="{FF2B5EF4-FFF2-40B4-BE49-F238E27FC236}">
                <a16:creationId xmlns:a16="http://schemas.microsoft.com/office/drawing/2014/main" id="{DDB11215-61AA-4EDA-AD05-B6FA5B8314F8}"/>
              </a:ext>
            </a:extLst>
          </p:cNvPr>
          <p:cNvSpPr/>
          <p:nvPr/>
        </p:nvSpPr>
        <p:spPr>
          <a:xfrm>
            <a:off x="6350000" y="1701800"/>
            <a:ext cx="2540000" cy="457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5" name="CuadroTexto 14">
            <a:extLst>
              <a:ext uri="{FF2B5EF4-FFF2-40B4-BE49-F238E27FC236}">
                <a16:creationId xmlns:a16="http://schemas.microsoft.com/office/drawing/2014/main" id="{35129F27-6A60-4A06-9639-ACF217873AAE}"/>
              </a:ext>
            </a:extLst>
          </p:cNvPr>
          <p:cNvSpPr txBox="1"/>
          <p:nvPr/>
        </p:nvSpPr>
        <p:spPr>
          <a:xfrm>
            <a:off x="6426200" y="1727200"/>
            <a:ext cx="2387600" cy="406400"/>
          </a:xfrm>
          <a:prstGeom prst="rect">
            <a:avLst/>
          </a:prstGeom>
          <a:solidFill>
            <a:srgbClr val="EDF3F8"/>
          </a:solidFill>
          <a:ln>
            <a:noFill/>
          </a:ln>
        </p:spPr>
        <p:txBody>
          <a:bodyPr vertOverflow="overflow" vert="horz" wrap="square" rtlCol="0" anchor="t">
            <a:spAutoFit/>
          </a:bodyPr>
          <a:lstStyle/>
          <a:p>
            <a:pPr algn="l"/>
            <a:r>
              <a:rPr lang="es-419" sz="1200" b="1">
                <a:solidFill>
                  <a:srgbClr val="156082"/>
                </a:solidFill>
              </a:rPr>
              <a:t>Luciérnaga</a:t>
            </a:r>
          </a:p>
        </p:txBody>
      </p:sp>
      <p:sp>
        <p:nvSpPr>
          <p:cNvPr id="16" name="Rectángulo 15">
            <a:extLst>
              <a:ext uri="{FF2B5EF4-FFF2-40B4-BE49-F238E27FC236}">
                <a16:creationId xmlns:a16="http://schemas.microsoft.com/office/drawing/2014/main" id="{22E58C64-3D1F-4C3D-9607-ACB05E552239}"/>
              </a:ext>
            </a:extLst>
          </p:cNvPr>
          <p:cNvSpPr/>
          <p:nvPr/>
        </p:nvSpPr>
        <p:spPr>
          <a:xfrm>
            <a:off x="8991600" y="1701800"/>
            <a:ext cx="3022600" cy="457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7" name="CuadroTexto 16">
            <a:extLst>
              <a:ext uri="{FF2B5EF4-FFF2-40B4-BE49-F238E27FC236}">
                <a16:creationId xmlns:a16="http://schemas.microsoft.com/office/drawing/2014/main" id="{2289B1C7-76E3-4AAB-9922-6397839AB8ED}"/>
              </a:ext>
            </a:extLst>
          </p:cNvPr>
          <p:cNvSpPr txBox="1"/>
          <p:nvPr/>
        </p:nvSpPr>
        <p:spPr>
          <a:xfrm>
            <a:off x="9067800" y="1727200"/>
            <a:ext cx="2870200" cy="406400"/>
          </a:xfrm>
          <a:prstGeom prst="rect">
            <a:avLst/>
          </a:prstGeom>
          <a:solidFill>
            <a:srgbClr val="EDF3F8"/>
          </a:solidFill>
          <a:ln>
            <a:noFill/>
          </a:ln>
        </p:spPr>
        <p:txBody>
          <a:bodyPr vertOverflow="overflow" vert="horz" wrap="square" rtlCol="0" anchor="t">
            <a:spAutoFit/>
          </a:bodyPr>
          <a:lstStyle/>
          <a:p>
            <a:pPr algn="l"/>
            <a:r>
              <a:rPr lang="es-ES" sz="1100">
                <a:solidFill>
                  <a:srgbClr val="1A2E3F"/>
                </a:solidFill>
              </a:rPr>
              <a:t>Propuesta completa de rutas para los 15 camiones</a:t>
            </a:r>
            <a:endParaRPr lang="es-419" sz="1100">
              <a:solidFill>
                <a:srgbClr val="1A2E3F"/>
              </a:solidFill>
            </a:endParaRPr>
          </a:p>
        </p:txBody>
      </p:sp>
      <p:sp>
        <p:nvSpPr>
          <p:cNvPr id="18" name="Rectángulo 17">
            <a:extLst>
              <a:ext uri="{FF2B5EF4-FFF2-40B4-BE49-F238E27FC236}">
                <a16:creationId xmlns:a16="http://schemas.microsoft.com/office/drawing/2014/main" id="{CFABFC4A-3639-4A17-936E-30F4E3031E46}"/>
              </a:ext>
            </a:extLst>
          </p:cNvPr>
          <p:cNvSpPr/>
          <p:nvPr/>
        </p:nvSpPr>
        <p:spPr>
          <a:xfrm>
            <a:off x="6350000" y="2159000"/>
            <a:ext cx="2540000" cy="45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9" name="CuadroTexto 18">
            <a:extLst>
              <a:ext uri="{FF2B5EF4-FFF2-40B4-BE49-F238E27FC236}">
                <a16:creationId xmlns:a16="http://schemas.microsoft.com/office/drawing/2014/main" id="{2368B31E-838E-41C0-BBFF-A8A27A3A4371}"/>
              </a:ext>
            </a:extLst>
          </p:cNvPr>
          <p:cNvSpPr txBox="1"/>
          <p:nvPr/>
        </p:nvSpPr>
        <p:spPr>
          <a:xfrm>
            <a:off x="6426200" y="2184400"/>
            <a:ext cx="2387600" cy="406400"/>
          </a:xfrm>
          <a:prstGeom prst="rect">
            <a:avLst/>
          </a:prstGeom>
          <a:solidFill>
            <a:srgbClr val="FFFFFF"/>
          </a:solidFill>
          <a:ln>
            <a:noFill/>
          </a:ln>
        </p:spPr>
        <p:txBody>
          <a:bodyPr vertOverflow="overflow" vert="horz" wrap="square" rtlCol="0" anchor="t">
            <a:spAutoFit/>
          </a:bodyPr>
          <a:lstStyle/>
          <a:p>
            <a:pPr algn="l"/>
            <a:r>
              <a:rPr lang="es-419" sz="1200" b="1">
                <a:solidFill>
                  <a:srgbClr val="156082"/>
                </a:solidFill>
              </a:rPr>
              <a:t>Brillo</a:t>
            </a:r>
          </a:p>
        </p:txBody>
      </p:sp>
      <p:sp>
        <p:nvSpPr>
          <p:cNvPr id="20" name="Rectángulo 19">
            <a:extLst>
              <a:ext uri="{FF2B5EF4-FFF2-40B4-BE49-F238E27FC236}">
                <a16:creationId xmlns:a16="http://schemas.microsoft.com/office/drawing/2014/main" id="{0BCEC558-95CB-4E5B-A530-B307047071ED}"/>
              </a:ext>
            </a:extLst>
          </p:cNvPr>
          <p:cNvSpPr/>
          <p:nvPr/>
        </p:nvSpPr>
        <p:spPr>
          <a:xfrm>
            <a:off x="8991600" y="2159000"/>
            <a:ext cx="3022600" cy="45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1" name="CuadroTexto 20">
            <a:extLst>
              <a:ext uri="{FF2B5EF4-FFF2-40B4-BE49-F238E27FC236}">
                <a16:creationId xmlns:a16="http://schemas.microsoft.com/office/drawing/2014/main" id="{065FB3E6-7611-407E-8ABE-64060789BF1B}"/>
              </a:ext>
            </a:extLst>
          </p:cNvPr>
          <p:cNvSpPr txBox="1"/>
          <p:nvPr/>
        </p:nvSpPr>
        <p:spPr>
          <a:xfrm>
            <a:off x="9067800" y="2184400"/>
            <a:ext cx="2870200" cy="4064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Eficiencia: costo + cumplimiento + tiempo</a:t>
            </a:r>
          </a:p>
        </p:txBody>
      </p:sp>
      <p:sp>
        <p:nvSpPr>
          <p:cNvPr id="22" name="Rectángulo 21">
            <a:extLst>
              <a:ext uri="{FF2B5EF4-FFF2-40B4-BE49-F238E27FC236}">
                <a16:creationId xmlns:a16="http://schemas.microsoft.com/office/drawing/2014/main" id="{566E703E-824C-4A02-A18D-9E8D13F16345}"/>
              </a:ext>
            </a:extLst>
          </p:cNvPr>
          <p:cNvSpPr/>
          <p:nvPr/>
        </p:nvSpPr>
        <p:spPr>
          <a:xfrm>
            <a:off x="6350000" y="2616200"/>
            <a:ext cx="2540000" cy="457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3" name="CuadroTexto 22">
            <a:extLst>
              <a:ext uri="{FF2B5EF4-FFF2-40B4-BE49-F238E27FC236}">
                <a16:creationId xmlns:a16="http://schemas.microsoft.com/office/drawing/2014/main" id="{28152DDD-7202-4B2C-BB68-AC6E2523646F}"/>
              </a:ext>
            </a:extLst>
          </p:cNvPr>
          <p:cNvSpPr txBox="1"/>
          <p:nvPr/>
        </p:nvSpPr>
        <p:spPr>
          <a:xfrm>
            <a:off x="6426200" y="2641600"/>
            <a:ext cx="2387600" cy="406400"/>
          </a:xfrm>
          <a:prstGeom prst="rect">
            <a:avLst/>
          </a:prstGeom>
          <a:solidFill>
            <a:srgbClr val="EDF3F8"/>
          </a:solidFill>
          <a:ln>
            <a:noFill/>
          </a:ln>
        </p:spPr>
        <p:txBody>
          <a:bodyPr vertOverflow="overflow" vert="horz" wrap="square" rtlCol="0" anchor="t">
            <a:spAutoFit/>
          </a:bodyPr>
          <a:lstStyle/>
          <a:p>
            <a:pPr algn="l"/>
            <a:r>
              <a:rPr lang="es-419" sz="1200" b="1">
                <a:solidFill>
                  <a:srgbClr val="156082"/>
                </a:solidFill>
              </a:rPr>
              <a:t>Moverse hacia otra</a:t>
            </a:r>
          </a:p>
        </p:txBody>
      </p:sp>
      <p:sp>
        <p:nvSpPr>
          <p:cNvPr id="24" name="Rectángulo 23">
            <a:extLst>
              <a:ext uri="{FF2B5EF4-FFF2-40B4-BE49-F238E27FC236}">
                <a16:creationId xmlns:a16="http://schemas.microsoft.com/office/drawing/2014/main" id="{410FC682-3748-4708-BD52-95CA89EB6738}"/>
              </a:ext>
            </a:extLst>
          </p:cNvPr>
          <p:cNvSpPr/>
          <p:nvPr/>
        </p:nvSpPr>
        <p:spPr>
          <a:xfrm>
            <a:off x="8991600" y="2616200"/>
            <a:ext cx="3022600" cy="457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5" name="CuadroTexto 24">
            <a:extLst>
              <a:ext uri="{FF2B5EF4-FFF2-40B4-BE49-F238E27FC236}">
                <a16:creationId xmlns:a16="http://schemas.microsoft.com/office/drawing/2014/main" id="{06A07286-6E33-4094-B9DE-EEC37AE3927D}"/>
              </a:ext>
            </a:extLst>
          </p:cNvPr>
          <p:cNvSpPr txBox="1"/>
          <p:nvPr/>
        </p:nvSpPr>
        <p:spPr>
          <a:xfrm>
            <a:off x="9067800" y="2641600"/>
            <a:ext cx="2870200" cy="406400"/>
          </a:xfrm>
          <a:prstGeom prst="rect">
            <a:avLst/>
          </a:prstGeom>
          <a:solidFill>
            <a:srgbClr val="EDF3F8"/>
          </a:solidFill>
          <a:ln>
            <a:noFill/>
          </a:ln>
        </p:spPr>
        <p:txBody>
          <a:bodyPr vertOverflow="overflow" vert="horz" wrap="square" rtlCol="0" anchor="t">
            <a:spAutoFit/>
          </a:bodyPr>
          <a:lstStyle/>
          <a:p>
            <a:pPr algn="l"/>
            <a:r>
              <a:rPr lang="es-419" sz="1100">
                <a:solidFill>
                  <a:srgbClr val="1A2E3F"/>
                </a:solidFill>
              </a:rPr>
              <a:t>Adoptar segmentos de ruta que funcionan mejor</a:t>
            </a:r>
          </a:p>
        </p:txBody>
      </p:sp>
      <p:sp>
        <p:nvSpPr>
          <p:cNvPr id="26" name="Rectángulo 25">
            <a:extLst>
              <a:ext uri="{FF2B5EF4-FFF2-40B4-BE49-F238E27FC236}">
                <a16:creationId xmlns:a16="http://schemas.microsoft.com/office/drawing/2014/main" id="{9F7A7705-43BA-41F5-96D1-709D495E9C37}"/>
              </a:ext>
            </a:extLst>
          </p:cNvPr>
          <p:cNvSpPr/>
          <p:nvPr/>
        </p:nvSpPr>
        <p:spPr>
          <a:xfrm>
            <a:off x="6350000" y="3073400"/>
            <a:ext cx="2540000" cy="45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7" name="CuadroTexto 26">
            <a:extLst>
              <a:ext uri="{FF2B5EF4-FFF2-40B4-BE49-F238E27FC236}">
                <a16:creationId xmlns:a16="http://schemas.microsoft.com/office/drawing/2014/main" id="{2865A0B6-043C-4ED8-BC6E-2CB0CA330893}"/>
              </a:ext>
            </a:extLst>
          </p:cNvPr>
          <p:cNvSpPr txBox="1"/>
          <p:nvPr/>
        </p:nvSpPr>
        <p:spPr>
          <a:xfrm>
            <a:off x="6426200" y="3098800"/>
            <a:ext cx="2387600" cy="406400"/>
          </a:xfrm>
          <a:prstGeom prst="rect">
            <a:avLst/>
          </a:prstGeom>
          <a:solidFill>
            <a:srgbClr val="FFFFFF"/>
          </a:solidFill>
          <a:ln>
            <a:noFill/>
          </a:ln>
        </p:spPr>
        <p:txBody>
          <a:bodyPr vertOverflow="overflow" vert="horz" wrap="square" rtlCol="0" anchor="t">
            <a:spAutoFit/>
          </a:bodyPr>
          <a:lstStyle/>
          <a:p>
            <a:pPr algn="l"/>
            <a:r>
              <a:rPr lang="es-419" sz="1200" b="1">
                <a:solidFill>
                  <a:srgbClr val="156082"/>
                </a:solidFill>
              </a:rPr>
              <a:t>Perturbación aleatoria</a:t>
            </a:r>
          </a:p>
        </p:txBody>
      </p:sp>
      <p:sp>
        <p:nvSpPr>
          <p:cNvPr id="28" name="Rectángulo 27">
            <a:extLst>
              <a:ext uri="{FF2B5EF4-FFF2-40B4-BE49-F238E27FC236}">
                <a16:creationId xmlns:a16="http://schemas.microsoft.com/office/drawing/2014/main" id="{BAC91D06-DD89-4340-B14D-28D087FE6D6C}"/>
              </a:ext>
            </a:extLst>
          </p:cNvPr>
          <p:cNvSpPr/>
          <p:nvPr/>
        </p:nvSpPr>
        <p:spPr>
          <a:xfrm>
            <a:off x="8991600" y="3073400"/>
            <a:ext cx="3022600" cy="45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9" name="CuadroTexto 28">
            <a:extLst>
              <a:ext uri="{FF2B5EF4-FFF2-40B4-BE49-F238E27FC236}">
                <a16:creationId xmlns:a16="http://schemas.microsoft.com/office/drawing/2014/main" id="{BC187F93-BFE5-4ED2-8997-A8A557B31574}"/>
              </a:ext>
            </a:extLst>
          </p:cNvPr>
          <p:cNvSpPr txBox="1"/>
          <p:nvPr/>
        </p:nvSpPr>
        <p:spPr>
          <a:xfrm>
            <a:off x="9067800" y="3098800"/>
            <a:ext cx="2870200" cy="406400"/>
          </a:xfrm>
          <a:prstGeom prst="rect">
            <a:avLst/>
          </a:prstGeom>
          <a:solidFill>
            <a:srgbClr val="FFFFFF"/>
          </a:solidFill>
          <a:ln>
            <a:noFill/>
          </a:ln>
        </p:spPr>
        <p:txBody>
          <a:bodyPr vertOverflow="overflow" vert="horz" wrap="square" rtlCol="0" anchor="t">
            <a:spAutoFit/>
          </a:bodyPr>
          <a:lstStyle/>
          <a:p>
            <a:pPr algn="l"/>
            <a:r>
              <a:rPr lang="es-ES" sz="1100">
                <a:solidFill>
                  <a:srgbClr val="1A2E3F"/>
                </a:solidFill>
              </a:rPr>
              <a:t>Explorar combinaciones no evaluadas aún</a:t>
            </a:r>
            <a:endParaRPr lang="es-419" sz="1100">
              <a:solidFill>
                <a:srgbClr val="1A2E3F"/>
              </a:solidFill>
            </a:endParaRPr>
          </a:p>
        </p:txBody>
      </p:sp>
      <p:sp>
        <p:nvSpPr>
          <p:cNvPr id="30" name="Rectángulo 29">
            <a:extLst>
              <a:ext uri="{FF2B5EF4-FFF2-40B4-BE49-F238E27FC236}">
                <a16:creationId xmlns:a16="http://schemas.microsoft.com/office/drawing/2014/main" id="{E6770469-0217-4047-B3DA-D7D64CCDF194}"/>
              </a:ext>
            </a:extLst>
          </p:cNvPr>
          <p:cNvSpPr/>
          <p:nvPr/>
        </p:nvSpPr>
        <p:spPr>
          <a:xfrm>
            <a:off x="6350000" y="3530600"/>
            <a:ext cx="2540000" cy="457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1" name="CuadroTexto 30">
            <a:extLst>
              <a:ext uri="{FF2B5EF4-FFF2-40B4-BE49-F238E27FC236}">
                <a16:creationId xmlns:a16="http://schemas.microsoft.com/office/drawing/2014/main" id="{E3A496D1-CE5E-432D-B800-23AB7475B28A}"/>
              </a:ext>
            </a:extLst>
          </p:cNvPr>
          <p:cNvSpPr txBox="1"/>
          <p:nvPr/>
        </p:nvSpPr>
        <p:spPr>
          <a:xfrm>
            <a:off x="6426200" y="3556000"/>
            <a:ext cx="2387600" cy="406400"/>
          </a:xfrm>
          <a:prstGeom prst="rect">
            <a:avLst/>
          </a:prstGeom>
          <a:solidFill>
            <a:srgbClr val="EDF3F8"/>
          </a:solidFill>
          <a:ln>
            <a:noFill/>
          </a:ln>
        </p:spPr>
        <p:txBody>
          <a:bodyPr vertOverflow="overflow" vert="horz" wrap="square" rtlCol="0" anchor="t">
            <a:spAutoFit/>
          </a:bodyPr>
          <a:lstStyle/>
          <a:p>
            <a:pPr algn="l"/>
            <a:r>
              <a:rPr lang="es-419" sz="1200" b="1">
                <a:solidFill>
                  <a:srgbClr val="156082"/>
                </a:solidFill>
              </a:rPr>
              <a:t>200 iteraciones</a:t>
            </a:r>
          </a:p>
        </p:txBody>
      </p:sp>
      <p:sp>
        <p:nvSpPr>
          <p:cNvPr id="32" name="Rectángulo 31">
            <a:extLst>
              <a:ext uri="{FF2B5EF4-FFF2-40B4-BE49-F238E27FC236}">
                <a16:creationId xmlns:a16="http://schemas.microsoft.com/office/drawing/2014/main" id="{EE4B4496-6ED4-4B5A-B0A1-CA6B79951530}"/>
              </a:ext>
            </a:extLst>
          </p:cNvPr>
          <p:cNvSpPr/>
          <p:nvPr/>
        </p:nvSpPr>
        <p:spPr>
          <a:xfrm>
            <a:off x="8991600" y="3530600"/>
            <a:ext cx="3022600" cy="4572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3" name="CuadroTexto 32">
            <a:extLst>
              <a:ext uri="{FF2B5EF4-FFF2-40B4-BE49-F238E27FC236}">
                <a16:creationId xmlns:a16="http://schemas.microsoft.com/office/drawing/2014/main" id="{902F3ABE-E837-4EDB-B47B-6A9E47B803A1}"/>
              </a:ext>
            </a:extLst>
          </p:cNvPr>
          <p:cNvSpPr txBox="1"/>
          <p:nvPr/>
        </p:nvSpPr>
        <p:spPr>
          <a:xfrm>
            <a:off x="9067800" y="3556000"/>
            <a:ext cx="2870200" cy="406400"/>
          </a:xfrm>
          <a:prstGeom prst="rect">
            <a:avLst/>
          </a:prstGeom>
          <a:solidFill>
            <a:srgbClr val="EDF3F8"/>
          </a:solidFill>
          <a:ln>
            <a:noFill/>
          </a:ln>
        </p:spPr>
        <p:txBody>
          <a:bodyPr vertOverflow="overflow" vert="horz" wrap="square" rtlCol="0" anchor="t">
            <a:spAutoFit/>
          </a:bodyPr>
          <a:lstStyle/>
          <a:p>
            <a:pPr algn="l"/>
            <a:r>
              <a:rPr lang="es-ES" sz="1100">
                <a:solidFill>
                  <a:srgbClr val="1A2E3F"/>
                </a:solidFill>
              </a:rPr>
              <a:t>Rondas de refinamiento hasta estabilizar la solución</a:t>
            </a:r>
            <a:endParaRPr lang="es-419" sz="1100">
              <a:solidFill>
                <a:srgbClr val="1A2E3F"/>
              </a:solidFill>
            </a:endParaRPr>
          </a:p>
        </p:txBody>
      </p:sp>
      <p:sp>
        <p:nvSpPr>
          <p:cNvPr id="34" name="Rectángulo 33">
            <a:extLst>
              <a:ext uri="{FF2B5EF4-FFF2-40B4-BE49-F238E27FC236}">
                <a16:creationId xmlns:a16="http://schemas.microsoft.com/office/drawing/2014/main" id="{E70D653C-5634-4427-9CB7-02DC1B5F1566}"/>
              </a:ext>
            </a:extLst>
          </p:cNvPr>
          <p:cNvSpPr/>
          <p:nvPr/>
        </p:nvSpPr>
        <p:spPr>
          <a:xfrm>
            <a:off x="6350000" y="4038600"/>
            <a:ext cx="5664200" cy="1143000"/>
          </a:xfrm>
          <a:prstGeom prst="rect">
            <a:avLst/>
          </a:prstGeom>
          <a:solidFill>
            <a:srgbClr val="ED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5" name="Rectángulo 34">
            <a:extLst>
              <a:ext uri="{FF2B5EF4-FFF2-40B4-BE49-F238E27FC236}">
                <a16:creationId xmlns:a16="http://schemas.microsoft.com/office/drawing/2014/main" id="{67EB71E8-D58E-4AFD-8CB6-F833041C70F5}"/>
              </a:ext>
            </a:extLst>
          </p:cNvPr>
          <p:cNvSpPr/>
          <p:nvPr/>
        </p:nvSpPr>
        <p:spPr>
          <a:xfrm>
            <a:off x="6350000" y="4038600"/>
            <a:ext cx="63500" cy="11430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6" name="CuadroTexto 35">
            <a:extLst>
              <a:ext uri="{FF2B5EF4-FFF2-40B4-BE49-F238E27FC236}">
                <a16:creationId xmlns:a16="http://schemas.microsoft.com/office/drawing/2014/main" id="{502A6B31-606B-4C3A-A838-2D7E9AA631DE}"/>
              </a:ext>
            </a:extLst>
          </p:cNvPr>
          <p:cNvSpPr txBox="1"/>
          <p:nvPr/>
        </p:nvSpPr>
        <p:spPr>
          <a:xfrm>
            <a:off x="6527800" y="4114800"/>
            <a:ext cx="5461000" cy="177800"/>
          </a:xfrm>
          <a:prstGeom prst="rect">
            <a:avLst/>
          </a:prstGeom>
          <a:solidFill>
            <a:srgbClr val="EDF3F8"/>
          </a:solidFill>
          <a:ln>
            <a:noFill/>
          </a:ln>
        </p:spPr>
        <p:txBody>
          <a:bodyPr vertOverflow="overflow" vert="horz" wrap="square" rtlCol="0" anchor="t">
            <a:spAutoFit/>
          </a:bodyPr>
          <a:lstStyle/>
          <a:p>
            <a:pPr algn="l"/>
            <a:r>
              <a:rPr lang="es-419" sz="900" b="1">
                <a:solidFill>
                  <a:srgbClr val="E97132"/>
                </a:solidFill>
              </a:rPr>
              <a:t>DECISIONES DE DISEÑO</a:t>
            </a:r>
          </a:p>
        </p:txBody>
      </p:sp>
      <p:sp>
        <p:nvSpPr>
          <p:cNvPr id="37" name="CuadroTexto 36">
            <a:extLst>
              <a:ext uri="{FF2B5EF4-FFF2-40B4-BE49-F238E27FC236}">
                <a16:creationId xmlns:a16="http://schemas.microsoft.com/office/drawing/2014/main" id="{878DA4BB-3319-4B6E-836B-4B984BB40F4F}"/>
              </a:ext>
            </a:extLst>
          </p:cNvPr>
          <p:cNvSpPr txBox="1"/>
          <p:nvPr/>
        </p:nvSpPr>
        <p:spPr>
          <a:xfrm>
            <a:off x="6527800" y="4343400"/>
            <a:ext cx="5461000" cy="736600"/>
          </a:xfrm>
          <a:prstGeom prst="rect">
            <a:avLst/>
          </a:prstGeom>
          <a:solidFill>
            <a:srgbClr val="EDF3F8"/>
          </a:solidFill>
          <a:ln>
            <a:noFill/>
          </a:ln>
        </p:spPr>
        <p:txBody>
          <a:bodyPr vertOverflow="overflow" vert="horz" wrap="square" rtlCol="0" anchor="t">
            <a:spAutoFit/>
          </a:bodyPr>
          <a:lstStyle/>
          <a:p>
            <a:pPr algn="l"/>
            <a:r>
              <a:rPr lang="es-ES" sz="1100">
                <a:solidFill>
                  <a:srgbClr val="1A2E3F"/>
                </a:solidFill>
              </a:rPr>
              <a:t>Cada luciérnaga representa la asignación total de los 15 camiones para un día. El brillo considera simultáneamente: kilómetros recorridos, entregas no completadas y tiempo fuera de ventana horaria. A mayor brillo, menor costo total.</a:t>
            </a:r>
            <a:endParaRPr lang="es-419" sz="1100">
              <a:solidFill>
                <a:srgbClr val="1A2E3F"/>
              </a:solidFill>
            </a:endParaRPr>
          </a:p>
        </p:txBody>
      </p:sp>
      <p:sp>
        <p:nvSpPr>
          <p:cNvPr id="38" name="CuadroTexto 37">
            <a:extLst>
              <a:ext uri="{FF2B5EF4-FFF2-40B4-BE49-F238E27FC236}">
                <a16:creationId xmlns:a16="http://schemas.microsoft.com/office/drawing/2014/main" id="{ED825492-C5C5-4BB6-A06D-D235605C53B3}"/>
              </a:ext>
            </a:extLst>
          </p:cNvPr>
          <p:cNvSpPr txBox="1"/>
          <p:nvPr/>
        </p:nvSpPr>
        <p:spPr>
          <a:xfrm>
            <a:off x="558800" y="6515100"/>
            <a:ext cx="8890000" cy="165100"/>
          </a:xfrm>
          <a:prstGeom prst="rect">
            <a:avLst/>
          </a:prstGeom>
          <a:solidFill>
            <a:srgbClr val="F7F8FA"/>
          </a:solidFill>
          <a:ln>
            <a:noFill/>
          </a:ln>
        </p:spPr>
        <p:txBody>
          <a:bodyPr vertOverflow="overflow" vert="horz" wrap="square" rtlCol="0" anchor="t">
            <a:spAutoFit/>
          </a:bodyPr>
          <a:lstStyle/>
          <a:p>
            <a:pPr algn="l"/>
            <a:r>
              <a:rPr lang="es-ES" sz="900">
                <a:solidFill>
                  <a:srgbClr val="5A7A90"/>
                </a:solidFill>
              </a:rPr>
              <a:t>Propuesta Técnica · Algoritmo de Luciérnaga · Optimización Logística</a:t>
            </a:r>
            <a:endParaRPr lang="es-419" sz="900">
              <a:solidFill>
                <a:srgbClr val="5A7A90"/>
              </a:solidFill>
            </a:endParaRPr>
          </a:p>
        </p:txBody>
      </p:sp>
    </p:spTree>
    <p:extLst>
      <p:ext uri="{BB962C8B-B14F-4D97-AF65-F5344CB8AC3E}">
        <p14:creationId xmlns:p14="http://schemas.microsoft.com/office/powerpoint/2010/main" val="3685436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C2CB09C-E490-4186-905B-3D016191386E}"/>
              </a:ext>
            </a:extLst>
          </p:cNvPr>
          <p:cNvSpPr/>
          <p:nvPr/>
        </p:nvSpPr>
        <p:spPr>
          <a:xfrm>
            <a:off x="0" y="0"/>
            <a:ext cx="355600" cy="68580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 name="Rectángulo 2">
            <a:extLst>
              <a:ext uri="{FF2B5EF4-FFF2-40B4-BE49-F238E27FC236}">
                <a16:creationId xmlns:a16="http://schemas.microsoft.com/office/drawing/2014/main" id="{3556FFDE-CBA6-4F3D-8111-B63F22F9CC39}"/>
              </a:ext>
            </a:extLst>
          </p:cNvPr>
          <p:cNvSpPr/>
          <p:nvPr/>
        </p:nvSpPr>
        <p:spPr>
          <a:xfrm>
            <a:off x="0" y="6705600"/>
            <a:ext cx="12192000" cy="152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 name="CuadroTexto 3">
            <a:extLst>
              <a:ext uri="{FF2B5EF4-FFF2-40B4-BE49-F238E27FC236}">
                <a16:creationId xmlns:a16="http://schemas.microsoft.com/office/drawing/2014/main" id="{5E5B23A3-7659-44A1-8632-EB900D2F6216}"/>
              </a:ext>
            </a:extLst>
          </p:cNvPr>
          <p:cNvSpPr txBox="1"/>
          <p:nvPr/>
        </p:nvSpPr>
        <p:spPr>
          <a:xfrm>
            <a:off x="558800" y="101600"/>
            <a:ext cx="1524000" cy="246221"/>
          </a:xfrm>
          <a:prstGeom prst="rect">
            <a:avLst/>
          </a:prstGeom>
          <a:solidFill>
            <a:srgbClr val="F7F8FA"/>
          </a:solidFill>
          <a:ln>
            <a:noFill/>
          </a:ln>
        </p:spPr>
        <p:txBody>
          <a:bodyPr vertOverflow="overflow" vert="horz" wrap="square" rtlCol="0" anchor="t">
            <a:spAutoFit/>
          </a:bodyPr>
          <a:lstStyle/>
          <a:p>
            <a:pPr algn="l"/>
            <a:r>
              <a:rPr lang="es-419" sz="1000" b="1" dirty="0">
                <a:solidFill>
                  <a:srgbClr val="B04E1A"/>
                </a:solidFill>
              </a:rPr>
              <a:t>05 / 05</a:t>
            </a:r>
          </a:p>
        </p:txBody>
      </p:sp>
      <p:sp>
        <p:nvSpPr>
          <p:cNvPr id="5" name="CuadroTexto 4">
            <a:extLst>
              <a:ext uri="{FF2B5EF4-FFF2-40B4-BE49-F238E27FC236}">
                <a16:creationId xmlns:a16="http://schemas.microsoft.com/office/drawing/2014/main" id="{89B9AADC-83E7-4980-8C7D-A25CE65DE15B}"/>
              </a:ext>
            </a:extLst>
          </p:cNvPr>
          <p:cNvSpPr txBox="1"/>
          <p:nvPr/>
        </p:nvSpPr>
        <p:spPr>
          <a:xfrm>
            <a:off x="558800" y="330200"/>
            <a:ext cx="11430000" cy="660400"/>
          </a:xfrm>
          <a:prstGeom prst="rect">
            <a:avLst/>
          </a:prstGeom>
          <a:solidFill>
            <a:srgbClr val="F7F8FA"/>
          </a:solidFill>
          <a:ln>
            <a:noFill/>
          </a:ln>
        </p:spPr>
        <p:txBody>
          <a:bodyPr vertOverflow="overflow" vert="horz" wrap="square" rtlCol="0" anchor="t">
            <a:spAutoFit/>
          </a:bodyPr>
          <a:lstStyle/>
          <a:p>
            <a:pPr algn="l"/>
            <a:r>
              <a:rPr lang="es-ES" sz="2400" b="1">
                <a:solidFill>
                  <a:srgbClr val="0E2841"/>
                </a:solidFill>
              </a:rPr>
              <a:t>Lo que el algoritmo puede y no puede garantizar</a:t>
            </a:r>
            <a:endParaRPr lang="es-419" sz="2400" b="1">
              <a:solidFill>
                <a:srgbClr val="0E2841"/>
              </a:solidFill>
            </a:endParaRPr>
          </a:p>
        </p:txBody>
      </p:sp>
      <p:sp>
        <p:nvSpPr>
          <p:cNvPr id="6" name="CuadroTexto 5">
            <a:extLst>
              <a:ext uri="{FF2B5EF4-FFF2-40B4-BE49-F238E27FC236}">
                <a16:creationId xmlns:a16="http://schemas.microsoft.com/office/drawing/2014/main" id="{8F83999C-8578-49B5-8621-22C785972843}"/>
              </a:ext>
            </a:extLst>
          </p:cNvPr>
          <p:cNvSpPr txBox="1"/>
          <p:nvPr/>
        </p:nvSpPr>
        <p:spPr>
          <a:xfrm>
            <a:off x="558800" y="1092200"/>
            <a:ext cx="7620000" cy="177800"/>
          </a:xfrm>
          <a:prstGeom prst="rect">
            <a:avLst/>
          </a:prstGeom>
          <a:solidFill>
            <a:srgbClr val="F7F8FA"/>
          </a:solidFill>
          <a:ln>
            <a:noFill/>
          </a:ln>
        </p:spPr>
        <p:txBody>
          <a:bodyPr vertOverflow="overflow" vert="horz" wrap="square" rtlCol="0" anchor="t">
            <a:spAutoFit/>
          </a:bodyPr>
          <a:lstStyle/>
          <a:p>
            <a:pPr algn="l"/>
            <a:r>
              <a:rPr lang="es-ES" sz="900" b="1">
                <a:solidFill>
                  <a:srgbClr val="156082"/>
                </a:solidFill>
              </a:rPr>
              <a:t>RESULTADOS COMPARABLES EN PROBLEMAS EQUIVALENTES</a:t>
            </a:r>
            <a:endParaRPr lang="es-419" sz="900" b="1">
              <a:solidFill>
                <a:srgbClr val="156082"/>
              </a:solidFill>
            </a:endParaRPr>
          </a:p>
        </p:txBody>
      </p:sp>
      <p:sp>
        <p:nvSpPr>
          <p:cNvPr id="7" name="Rectángulo 6">
            <a:extLst>
              <a:ext uri="{FF2B5EF4-FFF2-40B4-BE49-F238E27FC236}">
                <a16:creationId xmlns:a16="http://schemas.microsoft.com/office/drawing/2014/main" id="{CF18DDCB-1FC6-4D4D-AA07-8739CFB67084}"/>
              </a:ext>
            </a:extLst>
          </p:cNvPr>
          <p:cNvSpPr/>
          <p:nvPr/>
        </p:nvSpPr>
        <p:spPr>
          <a:xfrm>
            <a:off x="558800" y="1295400"/>
            <a:ext cx="2667000" cy="2794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8" name="CuadroTexto 7">
            <a:extLst>
              <a:ext uri="{FF2B5EF4-FFF2-40B4-BE49-F238E27FC236}">
                <a16:creationId xmlns:a16="http://schemas.microsoft.com/office/drawing/2014/main" id="{BF91106A-50E1-4928-A06C-E352BA5F72C3}"/>
              </a:ext>
            </a:extLst>
          </p:cNvPr>
          <p:cNvSpPr txBox="1"/>
          <p:nvPr/>
        </p:nvSpPr>
        <p:spPr>
          <a:xfrm>
            <a:off x="635000" y="1320800"/>
            <a:ext cx="2514600" cy="228600"/>
          </a:xfrm>
          <a:prstGeom prst="rect">
            <a:avLst/>
          </a:prstGeom>
          <a:solidFill>
            <a:srgbClr val="0E2841"/>
          </a:solidFill>
          <a:ln>
            <a:noFill/>
          </a:ln>
        </p:spPr>
        <p:txBody>
          <a:bodyPr vertOverflow="overflow" vert="horz" wrap="square" rtlCol="0" anchor="t">
            <a:spAutoFit/>
          </a:bodyPr>
          <a:lstStyle/>
          <a:p>
            <a:pPr algn="l"/>
            <a:r>
              <a:rPr lang="es-419" sz="1000" b="1">
                <a:solidFill>
                  <a:srgbClr val="FFFFFF"/>
                </a:solidFill>
              </a:rPr>
              <a:t>Indicador operativo</a:t>
            </a:r>
          </a:p>
        </p:txBody>
      </p:sp>
      <p:sp>
        <p:nvSpPr>
          <p:cNvPr id="9" name="Rectángulo 8">
            <a:extLst>
              <a:ext uri="{FF2B5EF4-FFF2-40B4-BE49-F238E27FC236}">
                <a16:creationId xmlns:a16="http://schemas.microsoft.com/office/drawing/2014/main" id="{0AA13E34-DB06-4C59-833A-17D94466EC6E}"/>
              </a:ext>
            </a:extLst>
          </p:cNvPr>
          <p:cNvSpPr/>
          <p:nvPr/>
        </p:nvSpPr>
        <p:spPr>
          <a:xfrm>
            <a:off x="3302000" y="1295400"/>
            <a:ext cx="14224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0" name="CuadroTexto 9">
            <a:extLst>
              <a:ext uri="{FF2B5EF4-FFF2-40B4-BE49-F238E27FC236}">
                <a16:creationId xmlns:a16="http://schemas.microsoft.com/office/drawing/2014/main" id="{C32A3819-34E2-4A5D-882E-27BB53E349A1}"/>
              </a:ext>
            </a:extLst>
          </p:cNvPr>
          <p:cNvSpPr txBox="1"/>
          <p:nvPr/>
        </p:nvSpPr>
        <p:spPr>
          <a:xfrm>
            <a:off x="3378200" y="1320800"/>
            <a:ext cx="12700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Línea base</a:t>
            </a:r>
          </a:p>
        </p:txBody>
      </p:sp>
      <p:sp>
        <p:nvSpPr>
          <p:cNvPr id="11" name="Rectángulo 10">
            <a:extLst>
              <a:ext uri="{FF2B5EF4-FFF2-40B4-BE49-F238E27FC236}">
                <a16:creationId xmlns:a16="http://schemas.microsoft.com/office/drawing/2014/main" id="{3CDAA60B-842E-43D4-92EC-D22D1D288431}"/>
              </a:ext>
            </a:extLst>
          </p:cNvPr>
          <p:cNvSpPr/>
          <p:nvPr/>
        </p:nvSpPr>
        <p:spPr>
          <a:xfrm>
            <a:off x="4826000" y="1295400"/>
            <a:ext cx="16764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2" name="CuadroTexto 11">
            <a:extLst>
              <a:ext uri="{FF2B5EF4-FFF2-40B4-BE49-F238E27FC236}">
                <a16:creationId xmlns:a16="http://schemas.microsoft.com/office/drawing/2014/main" id="{6DD18B68-1E5E-4BB7-B4CE-CDE958E8946B}"/>
              </a:ext>
            </a:extLst>
          </p:cNvPr>
          <p:cNvSpPr txBox="1"/>
          <p:nvPr/>
        </p:nvSpPr>
        <p:spPr>
          <a:xfrm>
            <a:off x="4902200" y="1320800"/>
            <a:ext cx="15240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Rango esperado</a:t>
            </a:r>
          </a:p>
        </p:txBody>
      </p:sp>
      <p:sp>
        <p:nvSpPr>
          <p:cNvPr id="13" name="Rectángulo 12">
            <a:extLst>
              <a:ext uri="{FF2B5EF4-FFF2-40B4-BE49-F238E27FC236}">
                <a16:creationId xmlns:a16="http://schemas.microsoft.com/office/drawing/2014/main" id="{3035D27E-D2E0-4E11-BF5B-924787AC962B}"/>
              </a:ext>
            </a:extLst>
          </p:cNvPr>
          <p:cNvSpPr/>
          <p:nvPr/>
        </p:nvSpPr>
        <p:spPr>
          <a:xfrm>
            <a:off x="6604000" y="1295400"/>
            <a:ext cx="15240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4" name="CuadroTexto 13">
            <a:extLst>
              <a:ext uri="{FF2B5EF4-FFF2-40B4-BE49-F238E27FC236}">
                <a16:creationId xmlns:a16="http://schemas.microsoft.com/office/drawing/2014/main" id="{83F3E64F-BBD7-4EBA-B3EC-181083AEBCB8}"/>
              </a:ext>
            </a:extLst>
          </p:cNvPr>
          <p:cNvSpPr txBox="1"/>
          <p:nvPr/>
        </p:nvSpPr>
        <p:spPr>
          <a:xfrm>
            <a:off x="6680200" y="1320800"/>
            <a:ext cx="13716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Variación</a:t>
            </a:r>
          </a:p>
        </p:txBody>
      </p:sp>
      <p:sp>
        <p:nvSpPr>
          <p:cNvPr id="15" name="Rectángulo 14">
            <a:extLst>
              <a:ext uri="{FF2B5EF4-FFF2-40B4-BE49-F238E27FC236}">
                <a16:creationId xmlns:a16="http://schemas.microsoft.com/office/drawing/2014/main" id="{9883B1BB-77A7-462D-8007-813F328ECA87}"/>
              </a:ext>
            </a:extLst>
          </p:cNvPr>
          <p:cNvSpPr/>
          <p:nvPr/>
        </p:nvSpPr>
        <p:spPr>
          <a:xfrm>
            <a:off x="558800" y="1574800"/>
            <a:ext cx="26670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6" name="CuadroTexto 15">
            <a:extLst>
              <a:ext uri="{FF2B5EF4-FFF2-40B4-BE49-F238E27FC236}">
                <a16:creationId xmlns:a16="http://schemas.microsoft.com/office/drawing/2014/main" id="{782CCF46-5860-4EC6-96FC-77C684E1F76E}"/>
              </a:ext>
            </a:extLst>
          </p:cNvPr>
          <p:cNvSpPr txBox="1"/>
          <p:nvPr/>
        </p:nvSpPr>
        <p:spPr>
          <a:xfrm>
            <a:off x="635000" y="1600200"/>
            <a:ext cx="2514600" cy="3302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Kilómetros recorridos por día</a:t>
            </a:r>
          </a:p>
        </p:txBody>
      </p:sp>
      <p:sp>
        <p:nvSpPr>
          <p:cNvPr id="17" name="Rectángulo 16">
            <a:extLst>
              <a:ext uri="{FF2B5EF4-FFF2-40B4-BE49-F238E27FC236}">
                <a16:creationId xmlns:a16="http://schemas.microsoft.com/office/drawing/2014/main" id="{78B7D001-CCBB-41D4-84C1-348DF69F3B23}"/>
              </a:ext>
            </a:extLst>
          </p:cNvPr>
          <p:cNvSpPr/>
          <p:nvPr/>
        </p:nvSpPr>
        <p:spPr>
          <a:xfrm>
            <a:off x="3302000" y="1574800"/>
            <a:ext cx="14224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18" name="CuadroTexto 17">
            <a:extLst>
              <a:ext uri="{FF2B5EF4-FFF2-40B4-BE49-F238E27FC236}">
                <a16:creationId xmlns:a16="http://schemas.microsoft.com/office/drawing/2014/main" id="{2AD36A0A-719A-400D-A0E4-991F73273764}"/>
              </a:ext>
            </a:extLst>
          </p:cNvPr>
          <p:cNvSpPr txBox="1"/>
          <p:nvPr/>
        </p:nvSpPr>
        <p:spPr>
          <a:xfrm>
            <a:off x="3378200" y="1600200"/>
            <a:ext cx="1270000" cy="3302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100%</a:t>
            </a:r>
          </a:p>
        </p:txBody>
      </p:sp>
      <p:sp>
        <p:nvSpPr>
          <p:cNvPr id="19" name="Rectángulo 18">
            <a:extLst>
              <a:ext uri="{FF2B5EF4-FFF2-40B4-BE49-F238E27FC236}">
                <a16:creationId xmlns:a16="http://schemas.microsoft.com/office/drawing/2014/main" id="{7B217075-CB80-4E59-89A3-57186D8A8629}"/>
              </a:ext>
            </a:extLst>
          </p:cNvPr>
          <p:cNvSpPr/>
          <p:nvPr/>
        </p:nvSpPr>
        <p:spPr>
          <a:xfrm>
            <a:off x="4826000" y="1574800"/>
            <a:ext cx="16764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0" name="CuadroTexto 19">
            <a:extLst>
              <a:ext uri="{FF2B5EF4-FFF2-40B4-BE49-F238E27FC236}">
                <a16:creationId xmlns:a16="http://schemas.microsoft.com/office/drawing/2014/main" id="{22EA1FF4-9331-4BBF-B5E4-A8508521C635}"/>
              </a:ext>
            </a:extLst>
          </p:cNvPr>
          <p:cNvSpPr txBox="1"/>
          <p:nvPr/>
        </p:nvSpPr>
        <p:spPr>
          <a:xfrm>
            <a:off x="4902200" y="1600200"/>
            <a:ext cx="1524000" cy="3302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68% — 75%</a:t>
            </a:r>
          </a:p>
        </p:txBody>
      </p:sp>
      <p:sp>
        <p:nvSpPr>
          <p:cNvPr id="21" name="Rectángulo 20">
            <a:extLst>
              <a:ext uri="{FF2B5EF4-FFF2-40B4-BE49-F238E27FC236}">
                <a16:creationId xmlns:a16="http://schemas.microsoft.com/office/drawing/2014/main" id="{DD003BFC-A6AD-4082-BC6B-F994FC221417}"/>
              </a:ext>
            </a:extLst>
          </p:cNvPr>
          <p:cNvSpPr/>
          <p:nvPr/>
        </p:nvSpPr>
        <p:spPr>
          <a:xfrm>
            <a:off x="6604000" y="1574800"/>
            <a:ext cx="15240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2" name="CuadroTexto 21">
            <a:extLst>
              <a:ext uri="{FF2B5EF4-FFF2-40B4-BE49-F238E27FC236}">
                <a16:creationId xmlns:a16="http://schemas.microsoft.com/office/drawing/2014/main" id="{FEE21E72-F0DC-480F-A335-8BFB155F44B2}"/>
              </a:ext>
            </a:extLst>
          </p:cNvPr>
          <p:cNvSpPr txBox="1"/>
          <p:nvPr/>
        </p:nvSpPr>
        <p:spPr>
          <a:xfrm>
            <a:off x="6680200" y="1600200"/>
            <a:ext cx="1371600" cy="330200"/>
          </a:xfrm>
          <a:prstGeom prst="rect">
            <a:avLst/>
          </a:prstGeom>
          <a:solidFill>
            <a:srgbClr val="F0F4F8"/>
          </a:solidFill>
          <a:ln>
            <a:noFill/>
          </a:ln>
        </p:spPr>
        <p:txBody>
          <a:bodyPr vertOverflow="overflow" vert="horz" wrap="square" rtlCol="0" anchor="t">
            <a:spAutoFit/>
          </a:bodyPr>
          <a:lstStyle/>
          <a:p>
            <a:pPr algn="l"/>
            <a:r>
              <a:rPr lang="es-419" sz="1100" b="1">
                <a:solidFill>
                  <a:srgbClr val="196B24"/>
                </a:solidFill>
              </a:rPr>
              <a:t>−25% a −32%</a:t>
            </a:r>
          </a:p>
        </p:txBody>
      </p:sp>
      <p:sp>
        <p:nvSpPr>
          <p:cNvPr id="23" name="Rectángulo 22">
            <a:extLst>
              <a:ext uri="{FF2B5EF4-FFF2-40B4-BE49-F238E27FC236}">
                <a16:creationId xmlns:a16="http://schemas.microsoft.com/office/drawing/2014/main" id="{4C01F718-E8A5-46BB-A074-A21DFD0E2C52}"/>
              </a:ext>
            </a:extLst>
          </p:cNvPr>
          <p:cNvSpPr/>
          <p:nvPr/>
        </p:nvSpPr>
        <p:spPr>
          <a:xfrm>
            <a:off x="558800" y="1955800"/>
            <a:ext cx="26670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4" name="CuadroTexto 23">
            <a:extLst>
              <a:ext uri="{FF2B5EF4-FFF2-40B4-BE49-F238E27FC236}">
                <a16:creationId xmlns:a16="http://schemas.microsoft.com/office/drawing/2014/main" id="{D3F38B23-D804-4C59-A42D-A87F8B783636}"/>
              </a:ext>
            </a:extLst>
          </p:cNvPr>
          <p:cNvSpPr txBox="1"/>
          <p:nvPr/>
        </p:nvSpPr>
        <p:spPr>
          <a:xfrm>
            <a:off x="635000" y="1981200"/>
            <a:ext cx="2514600" cy="3302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Costo operativo de combustible</a:t>
            </a:r>
          </a:p>
        </p:txBody>
      </p:sp>
      <p:sp>
        <p:nvSpPr>
          <p:cNvPr id="25" name="Rectángulo 24">
            <a:extLst>
              <a:ext uri="{FF2B5EF4-FFF2-40B4-BE49-F238E27FC236}">
                <a16:creationId xmlns:a16="http://schemas.microsoft.com/office/drawing/2014/main" id="{F046107D-2AFD-4AD5-9673-63EAF4DF48F0}"/>
              </a:ext>
            </a:extLst>
          </p:cNvPr>
          <p:cNvSpPr/>
          <p:nvPr/>
        </p:nvSpPr>
        <p:spPr>
          <a:xfrm>
            <a:off x="3302000" y="1955800"/>
            <a:ext cx="14224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6" name="CuadroTexto 25">
            <a:extLst>
              <a:ext uri="{FF2B5EF4-FFF2-40B4-BE49-F238E27FC236}">
                <a16:creationId xmlns:a16="http://schemas.microsoft.com/office/drawing/2014/main" id="{B779CE72-183F-44D3-8694-A2B6DC14A292}"/>
              </a:ext>
            </a:extLst>
          </p:cNvPr>
          <p:cNvSpPr txBox="1"/>
          <p:nvPr/>
        </p:nvSpPr>
        <p:spPr>
          <a:xfrm>
            <a:off x="3378200" y="1981200"/>
            <a:ext cx="1270000" cy="3302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100%</a:t>
            </a:r>
          </a:p>
        </p:txBody>
      </p:sp>
      <p:sp>
        <p:nvSpPr>
          <p:cNvPr id="27" name="Rectángulo 26">
            <a:extLst>
              <a:ext uri="{FF2B5EF4-FFF2-40B4-BE49-F238E27FC236}">
                <a16:creationId xmlns:a16="http://schemas.microsoft.com/office/drawing/2014/main" id="{BFFF5840-CD02-4922-AF5C-B56F21942311}"/>
              </a:ext>
            </a:extLst>
          </p:cNvPr>
          <p:cNvSpPr/>
          <p:nvPr/>
        </p:nvSpPr>
        <p:spPr>
          <a:xfrm>
            <a:off x="4826000" y="1955800"/>
            <a:ext cx="16764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28" name="CuadroTexto 27">
            <a:extLst>
              <a:ext uri="{FF2B5EF4-FFF2-40B4-BE49-F238E27FC236}">
                <a16:creationId xmlns:a16="http://schemas.microsoft.com/office/drawing/2014/main" id="{084BB8BF-DB12-4C00-B982-FF8433F614CB}"/>
              </a:ext>
            </a:extLst>
          </p:cNvPr>
          <p:cNvSpPr txBox="1"/>
          <p:nvPr/>
        </p:nvSpPr>
        <p:spPr>
          <a:xfrm>
            <a:off x="4902200" y="1981200"/>
            <a:ext cx="1524000" cy="3302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70% — 78%</a:t>
            </a:r>
          </a:p>
        </p:txBody>
      </p:sp>
      <p:sp>
        <p:nvSpPr>
          <p:cNvPr id="29" name="Rectángulo 28">
            <a:extLst>
              <a:ext uri="{FF2B5EF4-FFF2-40B4-BE49-F238E27FC236}">
                <a16:creationId xmlns:a16="http://schemas.microsoft.com/office/drawing/2014/main" id="{B2396604-B457-4310-831C-D0617314A960}"/>
              </a:ext>
            </a:extLst>
          </p:cNvPr>
          <p:cNvSpPr/>
          <p:nvPr/>
        </p:nvSpPr>
        <p:spPr>
          <a:xfrm>
            <a:off x="6604000" y="1955800"/>
            <a:ext cx="15240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0" name="CuadroTexto 29">
            <a:extLst>
              <a:ext uri="{FF2B5EF4-FFF2-40B4-BE49-F238E27FC236}">
                <a16:creationId xmlns:a16="http://schemas.microsoft.com/office/drawing/2014/main" id="{FA4A5531-0804-4527-BA69-8FC01063F8A2}"/>
              </a:ext>
            </a:extLst>
          </p:cNvPr>
          <p:cNvSpPr txBox="1"/>
          <p:nvPr/>
        </p:nvSpPr>
        <p:spPr>
          <a:xfrm>
            <a:off x="6680200" y="1981200"/>
            <a:ext cx="1371600" cy="330200"/>
          </a:xfrm>
          <a:prstGeom prst="rect">
            <a:avLst/>
          </a:prstGeom>
          <a:solidFill>
            <a:srgbClr val="FFFFFF"/>
          </a:solidFill>
          <a:ln>
            <a:noFill/>
          </a:ln>
        </p:spPr>
        <p:txBody>
          <a:bodyPr vertOverflow="overflow" vert="horz" wrap="square" rtlCol="0" anchor="t">
            <a:spAutoFit/>
          </a:bodyPr>
          <a:lstStyle/>
          <a:p>
            <a:pPr algn="l"/>
            <a:r>
              <a:rPr lang="es-419" sz="1100" b="1">
                <a:solidFill>
                  <a:srgbClr val="196B24"/>
                </a:solidFill>
              </a:rPr>
              <a:t>−22% a −30%</a:t>
            </a:r>
          </a:p>
        </p:txBody>
      </p:sp>
      <p:sp>
        <p:nvSpPr>
          <p:cNvPr id="31" name="Rectángulo 30">
            <a:extLst>
              <a:ext uri="{FF2B5EF4-FFF2-40B4-BE49-F238E27FC236}">
                <a16:creationId xmlns:a16="http://schemas.microsoft.com/office/drawing/2014/main" id="{FEF9C5D3-7885-45F9-B3A1-0D8AF824C2C5}"/>
              </a:ext>
            </a:extLst>
          </p:cNvPr>
          <p:cNvSpPr/>
          <p:nvPr/>
        </p:nvSpPr>
        <p:spPr>
          <a:xfrm>
            <a:off x="558800" y="2336800"/>
            <a:ext cx="26670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2" name="CuadroTexto 31">
            <a:extLst>
              <a:ext uri="{FF2B5EF4-FFF2-40B4-BE49-F238E27FC236}">
                <a16:creationId xmlns:a16="http://schemas.microsoft.com/office/drawing/2014/main" id="{20DCEA86-1CB8-4E63-BE4D-D9E46B4644EB}"/>
              </a:ext>
            </a:extLst>
          </p:cNvPr>
          <p:cNvSpPr txBox="1"/>
          <p:nvPr/>
        </p:nvSpPr>
        <p:spPr>
          <a:xfrm>
            <a:off x="635000" y="2362200"/>
            <a:ext cx="2514600" cy="3302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Entregas no completadas</a:t>
            </a:r>
          </a:p>
        </p:txBody>
      </p:sp>
      <p:sp>
        <p:nvSpPr>
          <p:cNvPr id="33" name="Rectángulo 32">
            <a:extLst>
              <a:ext uri="{FF2B5EF4-FFF2-40B4-BE49-F238E27FC236}">
                <a16:creationId xmlns:a16="http://schemas.microsoft.com/office/drawing/2014/main" id="{35D0FD3C-9B4B-4160-92FA-0C53E2338523}"/>
              </a:ext>
            </a:extLst>
          </p:cNvPr>
          <p:cNvSpPr/>
          <p:nvPr/>
        </p:nvSpPr>
        <p:spPr>
          <a:xfrm>
            <a:off x="3302000" y="2336800"/>
            <a:ext cx="14224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4" name="CuadroTexto 33">
            <a:extLst>
              <a:ext uri="{FF2B5EF4-FFF2-40B4-BE49-F238E27FC236}">
                <a16:creationId xmlns:a16="http://schemas.microsoft.com/office/drawing/2014/main" id="{8EB3C27A-26B7-4DF8-8C5B-592740EF341D}"/>
              </a:ext>
            </a:extLst>
          </p:cNvPr>
          <p:cNvSpPr txBox="1"/>
          <p:nvPr/>
        </p:nvSpPr>
        <p:spPr>
          <a:xfrm>
            <a:off x="3378200" y="2362200"/>
            <a:ext cx="1270000" cy="3302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8% — 12% diario</a:t>
            </a:r>
          </a:p>
        </p:txBody>
      </p:sp>
      <p:sp>
        <p:nvSpPr>
          <p:cNvPr id="35" name="Rectángulo 34">
            <a:extLst>
              <a:ext uri="{FF2B5EF4-FFF2-40B4-BE49-F238E27FC236}">
                <a16:creationId xmlns:a16="http://schemas.microsoft.com/office/drawing/2014/main" id="{9EF31CBA-2952-4461-9853-06ABBD70D0D4}"/>
              </a:ext>
            </a:extLst>
          </p:cNvPr>
          <p:cNvSpPr/>
          <p:nvPr/>
        </p:nvSpPr>
        <p:spPr>
          <a:xfrm>
            <a:off x="4826000" y="2336800"/>
            <a:ext cx="16764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6" name="CuadroTexto 35">
            <a:extLst>
              <a:ext uri="{FF2B5EF4-FFF2-40B4-BE49-F238E27FC236}">
                <a16:creationId xmlns:a16="http://schemas.microsoft.com/office/drawing/2014/main" id="{B2762CE5-96D9-4E6C-89F6-B1AF64974400}"/>
              </a:ext>
            </a:extLst>
          </p:cNvPr>
          <p:cNvSpPr txBox="1"/>
          <p:nvPr/>
        </p:nvSpPr>
        <p:spPr>
          <a:xfrm>
            <a:off x="4902200" y="2362200"/>
            <a:ext cx="1524000" cy="3302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1% — 3%</a:t>
            </a:r>
          </a:p>
        </p:txBody>
      </p:sp>
      <p:sp>
        <p:nvSpPr>
          <p:cNvPr id="37" name="Rectángulo 36">
            <a:extLst>
              <a:ext uri="{FF2B5EF4-FFF2-40B4-BE49-F238E27FC236}">
                <a16:creationId xmlns:a16="http://schemas.microsoft.com/office/drawing/2014/main" id="{BFFAB82A-F0F0-4555-8A24-8340088E5124}"/>
              </a:ext>
            </a:extLst>
          </p:cNvPr>
          <p:cNvSpPr/>
          <p:nvPr/>
        </p:nvSpPr>
        <p:spPr>
          <a:xfrm>
            <a:off x="6604000" y="2336800"/>
            <a:ext cx="1524000" cy="3810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38" name="CuadroTexto 37">
            <a:extLst>
              <a:ext uri="{FF2B5EF4-FFF2-40B4-BE49-F238E27FC236}">
                <a16:creationId xmlns:a16="http://schemas.microsoft.com/office/drawing/2014/main" id="{C765A923-7998-49D1-A232-153FBC2BE3F9}"/>
              </a:ext>
            </a:extLst>
          </p:cNvPr>
          <p:cNvSpPr txBox="1"/>
          <p:nvPr/>
        </p:nvSpPr>
        <p:spPr>
          <a:xfrm>
            <a:off x="6680200" y="2362200"/>
            <a:ext cx="1371600" cy="330200"/>
          </a:xfrm>
          <a:prstGeom prst="rect">
            <a:avLst/>
          </a:prstGeom>
          <a:solidFill>
            <a:srgbClr val="F0F4F8"/>
          </a:solidFill>
          <a:ln>
            <a:noFill/>
          </a:ln>
        </p:spPr>
        <p:txBody>
          <a:bodyPr vertOverflow="overflow" vert="horz" wrap="square" rtlCol="0" anchor="t">
            <a:spAutoFit/>
          </a:bodyPr>
          <a:lstStyle/>
          <a:p>
            <a:pPr algn="l"/>
            <a:r>
              <a:rPr lang="es-419" sz="1100" b="1">
                <a:solidFill>
                  <a:srgbClr val="196B24"/>
                </a:solidFill>
              </a:rPr>
              <a:t>Reducción significativa</a:t>
            </a:r>
          </a:p>
        </p:txBody>
      </p:sp>
      <p:sp>
        <p:nvSpPr>
          <p:cNvPr id="39" name="Rectángulo 38">
            <a:extLst>
              <a:ext uri="{FF2B5EF4-FFF2-40B4-BE49-F238E27FC236}">
                <a16:creationId xmlns:a16="http://schemas.microsoft.com/office/drawing/2014/main" id="{F62627BB-9DD5-4EB9-BCA1-CC7E4824FE69}"/>
              </a:ext>
            </a:extLst>
          </p:cNvPr>
          <p:cNvSpPr/>
          <p:nvPr/>
        </p:nvSpPr>
        <p:spPr>
          <a:xfrm>
            <a:off x="558800" y="2717800"/>
            <a:ext cx="26670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0" name="CuadroTexto 39">
            <a:extLst>
              <a:ext uri="{FF2B5EF4-FFF2-40B4-BE49-F238E27FC236}">
                <a16:creationId xmlns:a16="http://schemas.microsoft.com/office/drawing/2014/main" id="{ECC48F21-40F3-4E22-A20E-B3746CF086A7}"/>
              </a:ext>
            </a:extLst>
          </p:cNvPr>
          <p:cNvSpPr txBox="1"/>
          <p:nvPr/>
        </p:nvSpPr>
        <p:spPr>
          <a:xfrm>
            <a:off x="635000" y="2743200"/>
            <a:ext cx="2514600" cy="3302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Tiempo de planificación</a:t>
            </a:r>
          </a:p>
        </p:txBody>
      </p:sp>
      <p:sp>
        <p:nvSpPr>
          <p:cNvPr id="41" name="Rectángulo 40">
            <a:extLst>
              <a:ext uri="{FF2B5EF4-FFF2-40B4-BE49-F238E27FC236}">
                <a16:creationId xmlns:a16="http://schemas.microsoft.com/office/drawing/2014/main" id="{C5B384CC-7CC3-4572-AAFC-574DE4C434FD}"/>
              </a:ext>
            </a:extLst>
          </p:cNvPr>
          <p:cNvSpPr/>
          <p:nvPr/>
        </p:nvSpPr>
        <p:spPr>
          <a:xfrm>
            <a:off x="3302000" y="2717800"/>
            <a:ext cx="14224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2" name="CuadroTexto 41">
            <a:extLst>
              <a:ext uri="{FF2B5EF4-FFF2-40B4-BE49-F238E27FC236}">
                <a16:creationId xmlns:a16="http://schemas.microsoft.com/office/drawing/2014/main" id="{D30E3BFE-C7A5-41EE-8EFE-1458AE9A77C9}"/>
              </a:ext>
            </a:extLst>
          </p:cNvPr>
          <p:cNvSpPr txBox="1"/>
          <p:nvPr/>
        </p:nvSpPr>
        <p:spPr>
          <a:xfrm>
            <a:off x="3378200" y="2743200"/>
            <a:ext cx="1270000" cy="3302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45 — 90 minutos</a:t>
            </a:r>
          </a:p>
        </p:txBody>
      </p:sp>
      <p:sp>
        <p:nvSpPr>
          <p:cNvPr id="43" name="Rectángulo 42">
            <a:extLst>
              <a:ext uri="{FF2B5EF4-FFF2-40B4-BE49-F238E27FC236}">
                <a16:creationId xmlns:a16="http://schemas.microsoft.com/office/drawing/2014/main" id="{2F58AC56-0E51-4974-BF61-B5536C2994A2}"/>
              </a:ext>
            </a:extLst>
          </p:cNvPr>
          <p:cNvSpPr/>
          <p:nvPr/>
        </p:nvSpPr>
        <p:spPr>
          <a:xfrm>
            <a:off x="4826000" y="2717800"/>
            <a:ext cx="16764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4" name="CuadroTexto 43">
            <a:extLst>
              <a:ext uri="{FF2B5EF4-FFF2-40B4-BE49-F238E27FC236}">
                <a16:creationId xmlns:a16="http://schemas.microsoft.com/office/drawing/2014/main" id="{89650ABD-59C2-4FB9-BDBB-396D8CF05C3E}"/>
              </a:ext>
            </a:extLst>
          </p:cNvPr>
          <p:cNvSpPr txBox="1"/>
          <p:nvPr/>
        </p:nvSpPr>
        <p:spPr>
          <a:xfrm>
            <a:off x="4902200" y="2743200"/>
            <a:ext cx="1524000" cy="330200"/>
          </a:xfrm>
          <a:prstGeom prst="rect">
            <a:avLst/>
          </a:prstGeom>
          <a:solidFill>
            <a:srgbClr val="FFFFFF"/>
          </a:solidFill>
          <a:ln>
            <a:noFill/>
          </a:ln>
        </p:spPr>
        <p:txBody>
          <a:bodyPr vertOverflow="overflow" vert="horz" wrap="square" rtlCol="0" anchor="t">
            <a:spAutoFit/>
          </a:bodyPr>
          <a:lstStyle/>
          <a:p>
            <a:pPr algn="l"/>
            <a:r>
              <a:rPr lang="es-419" sz="1100">
                <a:solidFill>
                  <a:srgbClr val="1A2E3F"/>
                </a:solidFill>
              </a:rPr>
              <a:t>3 — 5 minutos</a:t>
            </a:r>
          </a:p>
        </p:txBody>
      </p:sp>
      <p:sp>
        <p:nvSpPr>
          <p:cNvPr id="45" name="Rectángulo 44">
            <a:extLst>
              <a:ext uri="{FF2B5EF4-FFF2-40B4-BE49-F238E27FC236}">
                <a16:creationId xmlns:a16="http://schemas.microsoft.com/office/drawing/2014/main" id="{87D7549F-CB95-4BEF-B8F2-A4C0830B3CD8}"/>
              </a:ext>
            </a:extLst>
          </p:cNvPr>
          <p:cNvSpPr/>
          <p:nvPr/>
        </p:nvSpPr>
        <p:spPr>
          <a:xfrm>
            <a:off x="6604000" y="2717800"/>
            <a:ext cx="1524000" cy="38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6" name="CuadroTexto 45">
            <a:extLst>
              <a:ext uri="{FF2B5EF4-FFF2-40B4-BE49-F238E27FC236}">
                <a16:creationId xmlns:a16="http://schemas.microsoft.com/office/drawing/2014/main" id="{39F240B8-F001-40BF-81BB-1E6DB2676F23}"/>
              </a:ext>
            </a:extLst>
          </p:cNvPr>
          <p:cNvSpPr txBox="1"/>
          <p:nvPr/>
        </p:nvSpPr>
        <p:spPr>
          <a:xfrm>
            <a:off x="6680200" y="2743200"/>
            <a:ext cx="1371600" cy="330200"/>
          </a:xfrm>
          <a:prstGeom prst="rect">
            <a:avLst/>
          </a:prstGeom>
          <a:solidFill>
            <a:srgbClr val="FFFFFF"/>
          </a:solidFill>
          <a:ln>
            <a:noFill/>
          </a:ln>
        </p:spPr>
        <p:txBody>
          <a:bodyPr vertOverflow="overflow" vert="horz" wrap="square" rtlCol="0" anchor="t">
            <a:spAutoFit/>
          </a:bodyPr>
          <a:lstStyle/>
          <a:p>
            <a:pPr algn="l"/>
            <a:r>
              <a:rPr lang="es-419" sz="1100" b="1">
                <a:solidFill>
                  <a:srgbClr val="196B24"/>
                </a:solidFill>
              </a:rPr>
              <a:t>Sistema automatizado</a:t>
            </a:r>
          </a:p>
        </p:txBody>
      </p:sp>
      <p:sp>
        <p:nvSpPr>
          <p:cNvPr id="47" name="Rectángulo 46">
            <a:extLst>
              <a:ext uri="{FF2B5EF4-FFF2-40B4-BE49-F238E27FC236}">
                <a16:creationId xmlns:a16="http://schemas.microsoft.com/office/drawing/2014/main" id="{D84FA45B-91AB-4592-9FC5-F9388DBE5A92}"/>
              </a:ext>
            </a:extLst>
          </p:cNvPr>
          <p:cNvSpPr/>
          <p:nvPr/>
        </p:nvSpPr>
        <p:spPr>
          <a:xfrm>
            <a:off x="558800" y="3149600"/>
            <a:ext cx="7569200" cy="406400"/>
          </a:xfrm>
          <a:prstGeom prst="rect">
            <a:avLst/>
          </a:prstGeom>
          <a:solidFill>
            <a:srgbClr val="FFF4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8" name="Rectángulo 47">
            <a:extLst>
              <a:ext uri="{FF2B5EF4-FFF2-40B4-BE49-F238E27FC236}">
                <a16:creationId xmlns:a16="http://schemas.microsoft.com/office/drawing/2014/main" id="{A6ECCE6E-2F8E-432F-A223-95C87AAFF191}"/>
              </a:ext>
            </a:extLst>
          </p:cNvPr>
          <p:cNvSpPr/>
          <p:nvPr/>
        </p:nvSpPr>
        <p:spPr>
          <a:xfrm>
            <a:off x="558800" y="3149600"/>
            <a:ext cx="50800" cy="4064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49" name="CuadroTexto 48">
            <a:extLst>
              <a:ext uri="{FF2B5EF4-FFF2-40B4-BE49-F238E27FC236}">
                <a16:creationId xmlns:a16="http://schemas.microsoft.com/office/drawing/2014/main" id="{216A0E5C-8EE0-4505-BA11-C2B8A772DD5E}"/>
              </a:ext>
            </a:extLst>
          </p:cNvPr>
          <p:cNvSpPr txBox="1"/>
          <p:nvPr/>
        </p:nvSpPr>
        <p:spPr>
          <a:xfrm>
            <a:off x="685800" y="3175000"/>
            <a:ext cx="7391400" cy="355600"/>
          </a:xfrm>
          <a:prstGeom prst="rect">
            <a:avLst/>
          </a:prstGeom>
          <a:solidFill>
            <a:srgbClr val="FFF4ED"/>
          </a:solidFill>
          <a:ln>
            <a:noFill/>
          </a:ln>
        </p:spPr>
        <p:txBody>
          <a:bodyPr vertOverflow="overflow" vert="horz" wrap="square" rtlCol="0" anchor="t">
            <a:spAutoFit/>
          </a:bodyPr>
          <a:lstStyle/>
          <a:p>
            <a:pPr algn="l"/>
            <a:r>
              <a:rPr lang="es-ES" sz="1000">
                <a:solidFill>
                  <a:srgbClr val="6B3A00"/>
                </a:solidFill>
              </a:rPr>
              <a:t>Rangos obtenidos en estudios de problemas logísticos comparables. No son proyecciones garantizadas para esta operación.</a:t>
            </a:r>
            <a:endParaRPr lang="es-419" sz="1000">
              <a:solidFill>
                <a:srgbClr val="6B3A00"/>
              </a:solidFill>
            </a:endParaRPr>
          </a:p>
        </p:txBody>
      </p:sp>
      <p:sp>
        <p:nvSpPr>
          <p:cNvPr id="50" name="CuadroTexto 49">
            <a:extLst>
              <a:ext uri="{FF2B5EF4-FFF2-40B4-BE49-F238E27FC236}">
                <a16:creationId xmlns:a16="http://schemas.microsoft.com/office/drawing/2014/main" id="{39301867-6C90-4EB8-9C4C-7D17A55D6E7E}"/>
              </a:ext>
            </a:extLst>
          </p:cNvPr>
          <p:cNvSpPr txBox="1"/>
          <p:nvPr/>
        </p:nvSpPr>
        <p:spPr>
          <a:xfrm>
            <a:off x="558800" y="3708400"/>
            <a:ext cx="7620000" cy="177800"/>
          </a:xfrm>
          <a:prstGeom prst="rect">
            <a:avLst/>
          </a:prstGeom>
          <a:solidFill>
            <a:srgbClr val="F7F8FA"/>
          </a:solidFill>
          <a:ln>
            <a:noFill/>
          </a:ln>
        </p:spPr>
        <p:txBody>
          <a:bodyPr vertOverflow="overflow" vert="horz" wrap="square" rtlCol="0" anchor="t">
            <a:spAutoFit/>
          </a:bodyPr>
          <a:lstStyle/>
          <a:p>
            <a:pPr algn="l"/>
            <a:r>
              <a:rPr lang="es-ES" sz="900" b="1">
                <a:solidFill>
                  <a:srgbClr val="156082"/>
                </a:solidFill>
              </a:rPr>
              <a:t>LIMITACIONES TÉCNICAS QUE ESTA PROPUESTA NO OCULTA</a:t>
            </a:r>
            <a:endParaRPr lang="es-419" sz="900" b="1">
              <a:solidFill>
                <a:srgbClr val="156082"/>
              </a:solidFill>
            </a:endParaRPr>
          </a:p>
        </p:txBody>
      </p:sp>
      <p:sp>
        <p:nvSpPr>
          <p:cNvPr id="51" name="Rectángulo 50">
            <a:extLst>
              <a:ext uri="{FF2B5EF4-FFF2-40B4-BE49-F238E27FC236}">
                <a16:creationId xmlns:a16="http://schemas.microsoft.com/office/drawing/2014/main" id="{7AC1E574-BD0F-4E44-B601-493AE1D1E692}"/>
              </a:ext>
            </a:extLst>
          </p:cNvPr>
          <p:cNvSpPr/>
          <p:nvPr/>
        </p:nvSpPr>
        <p:spPr>
          <a:xfrm>
            <a:off x="558800" y="3911600"/>
            <a:ext cx="37084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52" name="CuadroTexto 51">
            <a:extLst>
              <a:ext uri="{FF2B5EF4-FFF2-40B4-BE49-F238E27FC236}">
                <a16:creationId xmlns:a16="http://schemas.microsoft.com/office/drawing/2014/main" id="{9536ED98-06C4-488D-87DC-4B44176FCFC8}"/>
              </a:ext>
            </a:extLst>
          </p:cNvPr>
          <p:cNvSpPr txBox="1"/>
          <p:nvPr/>
        </p:nvSpPr>
        <p:spPr>
          <a:xfrm>
            <a:off x="635000" y="3937000"/>
            <a:ext cx="35560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Limitación</a:t>
            </a:r>
          </a:p>
        </p:txBody>
      </p:sp>
      <p:sp>
        <p:nvSpPr>
          <p:cNvPr id="53" name="Rectángulo 52">
            <a:extLst>
              <a:ext uri="{FF2B5EF4-FFF2-40B4-BE49-F238E27FC236}">
                <a16:creationId xmlns:a16="http://schemas.microsoft.com/office/drawing/2014/main" id="{657A556F-BAAB-4532-A5AC-150693C8A0F2}"/>
              </a:ext>
            </a:extLst>
          </p:cNvPr>
          <p:cNvSpPr/>
          <p:nvPr/>
        </p:nvSpPr>
        <p:spPr>
          <a:xfrm>
            <a:off x="4368800" y="3911600"/>
            <a:ext cx="3759200" cy="2794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54" name="CuadroTexto 53">
            <a:extLst>
              <a:ext uri="{FF2B5EF4-FFF2-40B4-BE49-F238E27FC236}">
                <a16:creationId xmlns:a16="http://schemas.microsoft.com/office/drawing/2014/main" id="{4C9832F8-4962-4899-9C9E-0670C0CA9B8A}"/>
              </a:ext>
            </a:extLst>
          </p:cNvPr>
          <p:cNvSpPr txBox="1"/>
          <p:nvPr/>
        </p:nvSpPr>
        <p:spPr>
          <a:xfrm>
            <a:off x="4445000" y="3937000"/>
            <a:ext cx="3606800" cy="228600"/>
          </a:xfrm>
          <a:prstGeom prst="rect">
            <a:avLst/>
          </a:prstGeom>
          <a:solidFill>
            <a:srgbClr val="156082"/>
          </a:solidFill>
          <a:ln>
            <a:noFill/>
          </a:ln>
        </p:spPr>
        <p:txBody>
          <a:bodyPr vertOverflow="overflow" vert="horz" wrap="square" rtlCol="0" anchor="t">
            <a:spAutoFit/>
          </a:bodyPr>
          <a:lstStyle/>
          <a:p>
            <a:pPr algn="l"/>
            <a:r>
              <a:rPr lang="es-419" sz="1000" b="1">
                <a:solidFill>
                  <a:srgbClr val="FFFFFF"/>
                </a:solidFill>
              </a:rPr>
              <a:t>Impacto práctico</a:t>
            </a:r>
          </a:p>
        </p:txBody>
      </p:sp>
      <p:sp>
        <p:nvSpPr>
          <p:cNvPr id="55" name="Rectángulo 54">
            <a:extLst>
              <a:ext uri="{FF2B5EF4-FFF2-40B4-BE49-F238E27FC236}">
                <a16:creationId xmlns:a16="http://schemas.microsoft.com/office/drawing/2014/main" id="{48AF62E8-2EF6-41D8-BF26-C4C6EA2ED55E}"/>
              </a:ext>
            </a:extLst>
          </p:cNvPr>
          <p:cNvSpPr/>
          <p:nvPr/>
        </p:nvSpPr>
        <p:spPr>
          <a:xfrm>
            <a:off x="558800" y="4191000"/>
            <a:ext cx="3708400" cy="4572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56" name="CuadroTexto 55">
            <a:extLst>
              <a:ext uri="{FF2B5EF4-FFF2-40B4-BE49-F238E27FC236}">
                <a16:creationId xmlns:a16="http://schemas.microsoft.com/office/drawing/2014/main" id="{596CA388-3F99-4215-8ED2-E005E7E9A3C7}"/>
              </a:ext>
            </a:extLst>
          </p:cNvPr>
          <p:cNvSpPr txBox="1"/>
          <p:nvPr/>
        </p:nvSpPr>
        <p:spPr>
          <a:xfrm>
            <a:off x="635000" y="4216400"/>
            <a:ext cx="3556000" cy="4064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No garantiza el óptimo absoluto</a:t>
            </a:r>
          </a:p>
        </p:txBody>
      </p:sp>
      <p:sp>
        <p:nvSpPr>
          <p:cNvPr id="57" name="Rectángulo 56">
            <a:extLst>
              <a:ext uri="{FF2B5EF4-FFF2-40B4-BE49-F238E27FC236}">
                <a16:creationId xmlns:a16="http://schemas.microsoft.com/office/drawing/2014/main" id="{F74CCCD1-6C01-4FB3-967D-E7A85CF23F15}"/>
              </a:ext>
            </a:extLst>
          </p:cNvPr>
          <p:cNvSpPr/>
          <p:nvPr/>
        </p:nvSpPr>
        <p:spPr>
          <a:xfrm>
            <a:off x="4368800" y="4191000"/>
            <a:ext cx="3759200" cy="4572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58" name="CuadroTexto 57">
            <a:extLst>
              <a:ext uri="{FF2B5EF4-FFF2-40B4-BE49-F238E27FC236}">
                <a16:creationId xmlns:a16="http://schemas.microsoft.com/office/drawing/2014/main" id="{07AEF14A-D419-46BF-917D-A7D2B9E9FDDA}"/>
              </a:ext>
            </a:extLst>
          </p:cNvPr>
          <p:cNvSpPr txBox="1"/>
          <p:nvPr/>
        </p:nvSpPr>
        <p:spPr>
          <a:xfrm>
            <a:off x="4445000" y="4216400"/>
            <a:ext cx="3606800" cy="406400"/>
          </a:xfrm>
          <a:prstGeom prst="rect">
            <a:avLst/>
          </a:prstGeom>
          <a:solidFill>
            <a:srgbClr val="F0F4F8"/>
          </a:solidFill>
          <a:ln>
            <a:noFill/>
          </a:ln>
        </p:spPr>
        <p:txBody>
          <a:bodyPr vertOverflow="overflow" vert="horz" wrap="square" rtlCol="0" anchor="t">
            <a:spAutoFit/>
          </a:bodyPr>
          <a:lstStyle/>
          <a:p>
            <a:pPr algn="l"/>
            <a:r>
              <a:rPr lang="es-419" sz="1100">
                <a:solidFill>
                  <a:srgbClr val="1A2E3F"/>
                </a:solidFill>
              </a:rPr>
              <a:t>Brecha vs. óptimo teórico &lt; 2% — operativamente irrelevante</a:t>
            </a:r>
          </a:p>
        </p:txBody>
      </p:sp>
      <p:sp>
        <p:nvSpPr>
          <p:cNvPr id="59" name="Rectángulo 58">
            <a:extLst>
              <a:ext uri="{FF2B5EF4-FFF2-40B4-BE49-F238E27FC236}">
                <a16:creationId xmlns:a16="http://schemas.microsoft.com/office/drawing/2014/main" id="{E19170AA-7CB3-495F-8981-A56830A81FC0}"/>
              </a:ext>
            </a:extLst>
          </p:cNvPr>
          <p:cNvSpPr/>
          <p:nvPr/>
        </p:nvSpPr>
        <p:spPr>
          <a:xfrm>
            <a:off x="558800" y="4648200"/>
            <a:ext cx="3708400" cy="45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60" name="CuadroTexto 59">
            <a:extLst>
              <a:ext uri="{FF2B5EF4-FFF2-40B4-BE49-F238E27FC236}">
                <a16:creationId xmlns:a16="http://schemas.microsoft.com/office/drawing/2014/main" id="{CFEFE193-D68F-4510-AACD-097BCFBAE0A5}"/>
              </a:ext>
            </a:extLst>
          </p:cNvPr>
          <p:cNvSpPr txBox="1"/>
          <p:nvPr/>
        </p:nvSpPr>
        <p:spPr>
          <a:xfrm>
            <a:off x="635000" y="4673600"/>
            <a:ext cx="3556000" cy="406400"/>
          </a:xfrm>
          <a:prstGeom prst="rect">
            <a:avLst/>
          </a:prstGeom>
          <a:solidFill>
            <a:srgbClr val="FFFFFF"/>
          </a:solidFill>
          <a:ln>
            <a:noFill/>
          </a:ln>
        </p:spPr>
        <p:txBody>
          <a:bodyPr vertOverflow="overflow" vert="horz" wrap="square" rtlCol="0" anchor="t">
            <a:spAutoFit/>
          </a:bodyPr>
          <a:lstStyle/>
          <a:p>
            <a:pPr algn="l"/>
            <a:r>
              <a:rPr lang="es-ES" sz="1100">
                <a:solidFill>
                  <a:srgbClr val="1A2E3F"/>
                </a:solidFill>
              </a:rPr>
              <a:t>Sensible a la configuración inicial</a:t>
            </a:r>
            <a:endParaRPr lang="es-419" sz="1100">
              <a:solidFill>
                <a:srgbClr val="1A2E3F"/>
              </a:solidFill>
            </a:endParaRPr>
          </a:p>
        </p:txBody>
      </p:sp>
      <p:sp>
        <p:nvSpPr>
          <p:cNvPr id="61" name="Rectángulo 60">
            <a:extLst>
              <a:ext uri="{FF2B5EF4-FFF2-40B4-BE49-F238E27FC236}">
                <a16:creationId xmlns:a16="http://schemas.microsoft.com/office/drawing/2014/main" id="{32FF3783-69B6-4227-A239-E1D76BEA52A3}"/>
              </a:ext>
            </a:extLst>
          </p:cNvPr>
          <p:cNvSpPr/>
          <p:nvPr/>
        </p:nvSpPr>
        <p:spPr>
          <a:xfrm>
            <a:off x="4368800" y="4648200"/>
            <a:ext cx="3759200" cy="45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62" name="CuadroTexto 61">
            <a:extLst>
              <a:ext uri="{FF2B5EF4-FFF2-40B4-BE49-F238E27FC236}">
                <a16:creationId xmlns:a16="http://schemas.microsoft.com/office/drawing/2014/main" id="{42A95DA2-83F3-41FE-9CE2-4DA894100ED8}"/>
              </a:ext>
            </a:extLst>
          </p:cNvPr>
          <p:cNvSpPr txBox="1"/>
          <p:nvPr/>
        </p:nvSpPr>
        <p:spPr>
          <a:xfrm>
            <a:off x="4445000" y="4673600"/>
            <a:ext cx="3606800" cy="406400"/>
          </a:xfrm>
          <a:prstGeom prst="rect">
            <a:avLst/>
          </a:prstGeom>
          <a:solidFill>
            <a:srgbClr val="FFFFFF"/>
          </a:solidFill>
          <a:ln>
            <a:noFill/>
          </a:ln>
        </p:spPr>
        <p:txBody>
          <a:bodyPr vertOverflow="overflow" vert="horz" wrap="square" rtlCol="0" anchor="t">
            <a:spAutoFit/>
          </a:bodyPr>
          <a:lstStyle/>
          <a:p>
            <a:pPr algn="l"/>
            <a:r>
              <a:rPr lang="es-ES" sz="1100">
                <a:solidFill>
                  <a:srgbClr val="1A2E3F"/>
                </a:solidFill>
              </a:rPr>
              <a:t>Requiere calibración con datos reales antes de producción</a:t>
            </a:r>
            <a:endParaRPr lang="es-419" sz="1100">
              <a:solidFill>
                <a:srgbClr val="1A2E3F"/>
              </a:solidFill>
            </a:endParaRPr>
          </a:p>
        </p:txBody>
      </p:sp>
      <p:sp>
        <p:nvSpPr>
          <p:cNvPr id="63" name="Rectángulo 62">
            <a:extLst>
              <a:ext uri="{FF2B5EF4-FFF2-40B4-BE49-F238E27FC236}">
                <a16:creationId xmlns:a16="http://schemas.microsoft.com/office/drawing/2014/main" id="{202ADAC3-4C4E-49A1-AB76-86C832ACBF77}"/>
              </a:ext>
            </a:extLst>
          </p:cNvPr>
          <p:cNvSpPr/>
          <p:nvPr/>
        </p:nvSpPr>
        <p:spPr>
          <a:xfrm>
            <a:off x="558800" y="5105400"/>
            <a:ext cx="3708400" cy="4572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64" name="CuadroTexto 63">
            <a:extLst>
              <a:ext uri="{FF2B5EF4-FFF2-40B4-BE49-F238E27FC236}">
                <a16:creationId xmlns:a16="http://schemas.microsoft.com/office/drawing/2014/main" id="{943EB995-9AC5-4159-8AAE-847D25E5A6C6}"/>
              </a:ext>
            </a:extLst>
          </p:cNvPr>
          <p:cNvSpPr txBox="1"/>
          <p:nvPr/>
        </p:nvSpPr>
        <p:spPr>
          <a:xfrm>
            <a:off x="635000" y="5130800"/>
            <a:ext cx="3556000" cy="406400"/>
          </a:xfrm>
          <a:prstGeom prst="rect">
            <a:avLst/>
          </a:prstGeom>
          <a:solidFill>
            <a:srgbClr val="F0F4F8"/>
          </a:solidFill>
          <a:ln>
            <a:noFill/>
          </a:ln>
        </p:spPr>
        <p:txBody>
          <a:bodyPr vertOverflow="overflow" vert="horz" wrap="square" rtlCol="0" anchor="t">
            <a:spAutoFit/>
          </a:bodyPr>
          <a:lstStyle/>
          <a:p>
            <a:pPr algn="l"/>
            <a:r>
              <a:rPr lang="es-ES" sz="1100">
                <a:solidFill>
                  <a:srgbClr val="1A2E3F"/>
                </a:solidFill>
              </a:rPr>
              <a:t>Requiere datos limpios y estructurados</a:t>
            </a:r>
            <a:endParaRPr lang="es-419" sz="1100">
              <a:solidFill>
                <a:srgbClr val="1A2E3F"/>
              </a:solidFill>
            </a:endParaRPr>
          </a:p>
        </p:txBody>
      </p:sp>
      <p:sp>
        <p:nvSpPr>
          <p:cNvPr id="65" name="Rectángulo 64">
            <a:extLst>
              <a:ext uri="{FF2B5EF4-FFF2-40B4-BE49-F238E27FC236}">
                <a16:creationId xmlns:a16="http://schemas.microsoft.com/office/drawing/2014/main" id="{EAB6F2C6-73C7-4DE4-A929-6F5CCE182114}"/>
              </a:ext>
            </a:extLst>
          </p:cNvPr>
          <p:cNvSpPr/>
          <p:nvPr/>
        </p:nvSpPr>
        <p:spPr>
          <a:xfrm>
            <a:off x="4368800" y="5105400"/>
            <a:ext cx="3759200" cy="457200"/>
          </a:xfrm>
          <a:prstGeom prst="rect">
            <a:avLst/>
          </a:prstGeom>
          <a:solidFill>
            <a:srgbClr val="F0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66" name="CuadroTexto 65">
            <a:extLst>
              <a:ext uri="{FF2B5EF4-FFF2-40B4-BE49-F238E27FC236}">
                <a16:creationId xmlns:a16="http://schemas.microsoft.com/office/drawing/2014/main" id="{68D1DED1-84E6-457A-98A0-1EBB43F15F44}"/>
              </a:ext>
            </a:extLst>
          </p:cNvPr>
          <p:cNvSpPr txBox="1"/>
          <p:nvPr/>
        </p:nvSpPr>
        <p:spPr>
          <a:xfrm>
            <a:off x="4445000" y="5130800"/>
            <a:ext cx="3606800" cy="406400"/>
          </a:xfrm>
          <a:prstGeom prst="rect">
            <a:avLst/>
          </a:prstGeom>
          <a:solidFill>
            <a:srgbClr val="F0F4F8"/>
          </a:solidFill>
          <a:ln>
            <a:noFill/>
          </a:ln>
        </p:spPr>
        <p:txBody>
          <a:bodyPr vertOverflow="overflow" vert="horz" wrap="square" rtlCol="0" anchor="t">
            <a:spAutoFit/>
          </a:bodyPr>
          <a:lstStyle/>
          <a:p>
            <a:pPr algn="l"/>
            <a:r>
              <a:rPr lang="es-ES" sz="1100">
                <a:solidFill>
                  <a:srgbClr val="1A2E3F"/>
                </a:solidFill>
              </a:rPr>
              <a:t>La calidad del resultado depende de la calidad de los datos</a:t>
            </a:r>
            <a:endParaRPr lang="es-419" sz="1100">
              <a:solidFill>
                <a:srgbClr val="1A2E3F"/>
              </a:solidFill>
            </a:endParaRPr>
          </a:p>
        </p:txBody>
      </p:sp>
      <p:sp>
        <p:nvSpPr>
          <p:cNvPr id="67" name="Rectángulo 66">
            <a:extLst>
              <a:ext uri="{FF2B5EF4-FFF2-40B4-BE49-F238E27FC236}">
                <a16:creationId xmlns:a16="http://schemas.microsoft.com/office/drawing/2014/main" id="{234B1D87-39CE-4B98-AAA6-DE3CD99AB506}"/>
              </a:ext>
            </a:extLst>
          </p:cNvPr>
          <p:cNvSpPr/>
          <p:nvPr/>
        </p:nvSpPr>
        <p:spPr>
          <a:xfrm>
            <a:off x="8305800" y="1092200"/>
            <a:ext cx="3708400" cy="5410200"/>
          </a:xfrm>
          <a:prstGeom prst="rect">
            <a:avLst/>
          </a:prstGeom>
          <a:solidFill>
            <a:srgbClr val="0E28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68" name="CuadroTexto 67">
            <a:extLst>
              <a:ext uri="{FF2B5EF4-FFF2-40B4-BE49-F238E27FC236}">
                <a16:creationId xmlns:a16="http://schemas.microsoft.com/office/drawing/2014/main" id="{098E5B92-1CF9-4FA2-B7D1-CB4F01E5F688}"/>
              </a:ext>
            </a:extLst>
          </p:cNvPr>
          <p:cNvSpPr txBox="1"/>
          <p:nvPr/>
        </p:nvSpPr>
        <p:spPr>
          <a:xfrm>
            <a:off x="8483600" y="1270000"/>
            <a:ext cx="3352800" cy="177800"/>
          </a:xfrm>
          <a:prstGeom prst="rect">
            <a:avLst/>
          </a:prstGeom>
          <a:solidFill>
            <a:srgbClr val="0E2841"/>
          </a:solidFill>
          <a:ln>
            <a:noFill/>
          </a:ln>
        </p:spPr>
        <p:txBody>
          <a:bodyPr vertOverflow="overflow" vert="horz" wrap="square" rtlCol="0" anchor="t">
            <a:spAutoFit/>
          </a:bodyPr>
          <a:lstStyle/>
          <a:p>
            <a:pPr algn="l"/>
            <a:r>
              <a:rPr lang="es-419" sz="900" b="1">
                <a:solidFill>
                  <a:srgbClr val="E97132"/>
                </a:solidFill>
              </a:rPr>
              <a:t>POSTURA TÉCNICA</a:t>
            </a:r>
          </a:p>
        </p:txBody>
      </p:sp>
      <p:sp>
        <p:nvSpPr>
          <p:cNvPr id="69" name="Rectángulo 68">
            <a:extLst>
              <a:ext uri="{FF2B5EF4-FFF2-40B4-BE49-F238E27FC236}">
                <a16:creationId xmlns:a16="http://schemas.microsoft.com/office/drawing/2014/main" id="{45CF148A-3037-478F-A321-6B7EF934B5B1}"/>
              </a:ext>
            </a:extLst>
          </p:cNvPr>
          <p:cNvSpPr/>
          <p:nvPr/>
        </p:nvSpPr>
        <p:spPr>
          <a:xfrm>
            <a:off x="8483600" y="1498600"/>
            <a:ext cx="635000" cy="38100"/>
          </a:xfrm>
          <a:prstGeom prst="rect">
            <a:avLst/>
          </a:prstGeom>
          <a:solidFill>
            <a:srgbClr val="E971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419"/>
          </a:p>
        </p:txBody>
      </p:sp>
      <p:sp>
        <p:nvSpPr>
          <p:cNvPr id="70" name="CuadroTexto 69">
            <a:extLst>
              <a:ext uri="{FF2B5EF4-FFF2-40B4-BE49-F238E27FC236}">
                <a16:creationId xmlns:a16="http://schemas.microsoft.com/office/drawing/2014/main" id="{3784D73E-895D-49E3-86C8-FB1D3BD57F92}"/>
              </a:ext>
            </a:extLst>
          </p:cNvPr>
          <p:cNvSpPr txBox="1"/>
          <p:nvPr/>
        </p:nvSpPr>
        <p:spPr>
          <a:xfrm>
            <a:off x="8483600" y="1651000"/>
            <a:ext cx="3352800" cy="2540000"/>
          </a:xfrm>
          <a:prstGeom prst="rect">
            <a:avLst/>
          </a:prstGeom>
          <a:solidFill>
            <a:srgbClr val="0E2841"/>
          </a:solidFill>
          <a:ln>
            <a:noFill/>
          </a:ln>
        </p:spPr>
        <p:txBody>
          <a:bodyPr vertOverflow="overflow" vert="horz" wrap="square" rtlCol="0" anchor="t">
            <a:spAutoFit/>
          </a:bodyPr>
          <a:lstStyle/>
          <a:p>
            <a:pPr algn="l"/>
            <a:r>
              <a:rPr lang="es-ES" sz="1300">
                <a:solidFill>
                  <a:srgbClr val="FFFFFF"/>
                </a:solidFill>
              </a:rPr>
              <a:t>El algoritmo no garantiza encontrar la solución matemáticamente perfecta.
Garantiza encontrar una solución de alta calidad en un tiempo computacional útil para la operación diaria.
Para este tipo de problema, esa distinción es técnicamente aceptable y operativamente suficiente.</a:t>
            </a:r>
            <a:endParaRPr lang="es-419" sz="1300">
              <a:solidFill>
                <a:srgbClr val="FFFFFF"/>
              </a:solidFill>
            </a:endParaRPr>
          </a:p>
        </p:txBody>
      </p:sp>
      <p:sp>
        <p:nvSpPr>
          <p:cNvPr id="71" name="CuadroTexto 70">
            <a:extLst>
              <a:ext uri="{FF2B5EF4-FFF2-40B4-BE49-F238E27FC236}">
                <a16:creationId xmlns:a16="http://schemas.microsoft.com/office/drawing/2014/main" id="{E1C23E4E-45E7-4981-B036-3ACA1659E4E9}"/>
              </a:ext>
            </a:extLst>
          </p:cNvPr>
          <p:cNvSpPr txBox="1"/>
          <p:nvPr/>
        </p:nvSpPr>
        <p:spPr>
          <a:xfrm>
            <a:off x="558800" y="6515100"/>
            <a:ext cx="8890000" cy="165100"/>
          </a:xfrm>
          <a:prstGeom prst="rect">
            <a:avLst/>
          </a:prstGeom>
          <a:solidFill>
            <a:srgbClr val="F7F8FA"/>
          </a:solidFill>
          <a:ln>
            <a:noFill/>
          </a:ln>
        </p:spPr>
        <p:txBody>
          <a:bodyPr vertOverflow="overflow" vert="horz" wrap="square" rtlCol="0" anchor="t">
            <a:spAutoFit/>
          </a:bodyPr>
          <a:lstStyle/>
          <a:p>
            <a:pPr algn="l"/>
            <a:r>
              <a:rPr lang="es-ES" sz="900">
                <a:solidFill>
                  <a:srgbClr val="5A7A90"/>
                </a:solidFill>
              </a:rPr>
              <a:t>Propuesta Técnica · Algoritmo de Luciérnaga · Optimización Logística</a:t>
            </a:r>
            <a:endParaRPr lang="es-419" sz="900">
              <a:solidFill>
                <a:srgbClr val="5A7A90"/>
              </a:solidFill>
            </a:endParaRPr>
          </a:p>
        </p:txBody>
      </p:sp>
    </p:spTree>
    <p:extLst>
      <p:ext uri="{BB962C8B-B14F-4D97-AF65-F5344CB8AC3E}">
        <p14:creationId xmlns:p14="http://schemas.microsoft.com/office/powerpoint/2010/main" val="3273740169"/>
      </p:ext>
    </p:extLst>
  </p:cSld>
  <p:clrMapOvr>
    <a:masterClrMapping/>
  </p:clrMapOvr>
</p:sld>
</file>

<file path=ppt/theme/theme1.xml><?xml version="1.0" encoding="utf-8"?>
<a:theme xmlns:a="http://schemas.openxmlformats.org/drawingml/2006/main" name="Tema de Office [1776521268950]">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CF283A-3626-4567-9B46-178E73C5E0F4}">
  <we:reference id="wa200010001" version="1.0.0.1" store="es-ES" storeType="OMEX"/>
  <we:alternateReferences>
    <we:reference id="wa200010001" version="1.0.0.1" store="wa200010001" storeType="OMEX"/>
  </we:alternateReferences>
  <we:properties>
    <we:property name="claude.fileId" value="&quot;5ab1e36c-8fbf-464e-8c4d-79455dc12e2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120</TotalTime>
  <Words>1004</Words>
  <Application>Microsoft Office PowerPoint</Application>
  <PresentationFormat>Panorámica</PresentationFormat>
  <Paragraphs>129</Paragraphs>
  <Slides>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Calibri</vt:lpstr>
      <vt:lpstr>Tema de Office [1776521268950]</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 David Ortuno</dc:creator>
  <cp:lastModifiedBy>Bryan David Ortuno</cp:lastModifiedBy>
  <cp:revision>2</cp:revision>
  <dcterms:created xsi:type="dcterms:W3CDTF">2026-04-18T13:46:29Z</dcterms:created>
  <dcterms:modified xsi:type="dcterms:W3CDTF">2026-04-18T15:46:47Z</dcterms:modified>
</cp:coreProperties>
</file>
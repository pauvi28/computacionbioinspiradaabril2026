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5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76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9335" y="4504832"/>
            <a:ext cx="12281535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23232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3232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3232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3232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50" y="5952698"/>
            <a:ext cx="4876814" cy="522235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82257" y="5968404"/>
            <a:ext cx="4821842" cy="518308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333394" y="164916"/>
            <a:ext cx="0" cy="4987290"/>
          </a:xfrm>
          <a:custGeom>
            <a:avLst/>
            <a:gdLst/>
            <a:ahLst/>
            <a:cxnLst/>
            <a:rect l="l" t="t" r="r" b="b"/>
            <a:pathLst>
              <a:path h="4987290">
                <a:moveTo>
                  <a:pt x="0" y="4986759"/>
                </a:moveTo>
                <a:lnTo>
                  <a:pt x="0" y="0"/>
                </a:lnTo>
              </a:path>
            </a:pathLst>
          </a:custGeom>
          <a:ln w="23559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8011231" y="164916"/>
            <a:ext cx="0" cy="4987290"/>
          </a:xfrm>
          <a:custGeom>
            <a:avLst/>
            <a:gdLst/>
            <a:ahLst/>
            <a:cxnLst/>
            <a:rect l="l" t="t" r="r" b="b"/>
            <a:pathLst>
              <a:path h="4987290">
                <a:moveTo>
                  <a:pt x="0" y="4986759"/>
                </a:moveTo>
                <a:lnTo>
                  <a:pt x="0" y="0"/>
                </a:lnTo>
              </a:path>
            </a:pathLst>
          </a:custGeom>
          <a:ln w="23559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21614" y="176696"/>
            <a:ext cx="5701665" cy="0"/>
          </a:xfrm>
          <a:custGeom>
            <a:avLst/>
            <a:gdLst/>
            <a:ahLst/>
            <a:cxnLst/>
            <a:rect l="l" t="t" r="r" b="b"/>
            <a:pathLst>
              <a:path w="5701665">
                <a:moveTo>
                  <a:pt x="0" y="0"/>
                </a:moveTo>
                <a:lnTo>
                  <a:pt x="5701397" y="0"/>
                </a:lnTo>
              </a:path>
            </a:pathLst>
          </a:custGeom>
          <a:ln w="23559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321614" y="5139895"/>
            <a:ext cx="5701665" cy="0"/>
          </a:xfrm>
          <a:custGeom>
            <a:avLst/>
            <a:gdLst/>
            <a:ahLst/>
            <a:cxnLst/>
            <a:rect l="l" t="t" r="r" b="b"/>
            <a:pathLst>
              <a:path w="5701665">
                <a:moveTo>
                  <a:pt x="0" y="0"/>
                </a:moveTo>
                <a:lnTo>
                  <a:pt x="5701397" y="0"/>
                </a:lnTo>
              </a:path>
            </a:pathLst>
          </a:custGeom>
          <a:ln w="23559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2321614" y="3459318"/>
            <a:ext cx="5701665" cy="0"/>
          </a:xfrm>
          <a:custGeom>
            <a:avLst/>
            <a:gdLst/>
            <a:ahLst/>
            <a:cxnLst/>
            <a:rect l="l" t="t" r="r" b="b"/>
            <a:pathLst>
              <a:path w="5701665">
                <a:moveTo>
                  <a:pt x="0" y="0"/>
                </a:moveTo>
                <a:lnTo>
                  <a:pt x="5701397" y="0"/>
                </a:lnTo>
              </a:path>
            </a:pathLst>
          </a:custGeom>
          <a:ln w="23559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2321614" y="1888686"/>
            <a:ext cx="5701665" cy="0"/>
          </a:xfrm>
          <a:custGeom>
            <a:avLst/>
            <a:gdLst/>
            <a:ahLst/>
            <a:cxnLst/>
            <a:rect l="l" t="t" r="r" b="b"/>
            <a:pathLst>
              <a:path w="5701665">
                <a:moveTo>
                  <a:pt x="0" y="0"/>
                </a:moveTo>
                <a:lnTo>
                  <a:pt x="5701397" y="0"/>
                </a:lnTo>
              </a:path>
            </a:pathLst>
          </a:custGeom>
          <a:ln w="23559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139622" y="1876906"/>
            <a:ext cx="0" cy="3275329"/>
          </a:xfrm>
          <a:custGeom>
            <a:avLst/>
            <a:gdLst/>
            <a:ahLst/>
            <a:cxnLst/>
            <a:rect l="l" t="t" r="r" b="b"/>
            <a:pathLst>
              <a:path h="3275329">
                <a:moveTo>
                  <a:pt x="0" y="3274769"/>
                </a:moveTo>
                <a:lnTo>
                  <a:pt x="0" y="0"/>
                </a:lnTo>
              </a:path>
            </a:pathLst>
          </a:custGeom>
          <a:ln w="23559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4147475" y="164916"/>
            <a:ext cx="0" cy="1736089"/>
          </a:xfrm>
          <a:custGeom>
            <a:avLst/>
            <a:gdLst/>
            <a:ahLst/>
            <a:cxnLst/>
            <a:rect l="l" t="t" r="r" b="b"/>
            <a:pathLst>
              <a:path h="1736089">
                <a:moveTo>
                  <a:pt x="0" y="1735549"/>
                </a:moveTo>
                <a:lnTo>
                  <a:pt x="0" y="0"/>
                </a:lnTo>
              </a:path>
            </a:pathLst>
          </a:custGeom>
          <a:ln w="23559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4190667" y="3404346"/>
            <a:ext cx="3738245" cy="0"/>
          </a:xfrm>
          <a:custGeom>
            <a:avLst/>
            <a:gdLst/>
            <a:ahLst/>
            <a:cxnLst/>
            <a:rect l="l" t="t" r="r" b="b"/>
            <a:pathLst>
              <a:path w="3738244">
                <a:moveTo>
                  <a:pt x="0" y="0"/>
                </a:moveTo>
                <a:lnTo>
                  <a:pt x="3738106" y="0"/>
                </a:lnTo>
              </a:path>
            </a:pathLst>
          </a:custGeom>
          <a:ln w="7853">
            <a:solidFill>
              <a:srgbClr val="7070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462971" y="1818007"/>
            <a:ext cx="1720214" cy="0"/>
          </a:xfrm>
          <a:custGeom>
            <a:avLst/>
            <a:gdLst/>
            <a:ahLst/>
            <a:cxnLst/>
            <a:rect l="l" t="t" r="r" b="b"/>
            <a:pathLst>
              <a:path w="1720215">
                <a:moveTo>
                  <a:pt x="0" y="0"/>
                </a:moveTo>
                <a:lnTo>
                  <a:pt x="1719843" y="0"/>
                </a:lnTo>
              </a:path>
            </a:pathLst>
          </a:custGeom>
          <a:ln w="7853">
            <a:solidFill>
              <a:srgbClr val="74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4182813" y="1833713"/>
            <a:ext cx="3754120" cy="0"/>
          </a:xfrm>
          <a:custGeom>
            <a:avLst/>
            <a:gdLst/>
            <a:ahLst/>
            <a:cxnLst/>
            <a:rect l="l" t="t" r="r" b="b"/>
            <a:pathLst>
              <a:path w="3754119">
                <a:moveTo>
                  <a:pt x="0" y="0"/>
                </a:moveTo>
                <a:lnTo>
                  <a:pt x="3753812" y="0"/>
                </a:lnTo>
              </a:path>
            </a:pathLst>
          </a:custGeom>
          <a:ln w="7853">
            <a:solidFill>
              <a:srgbClr val="7474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37228" y="188475"/>
            <a:ext cx="4751164" cy="268578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70733" y="2882111"/>
            <a:ext cx="3761665" cy="565427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83973" y="3957994"/>
            <a:ext cx="9620125" cy="101305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5716" y="549721"/>
            <a:ext cx="13813715" cy="2866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5654" y="795521"/>
            <a:ext cx="17412790" cy="98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23232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8573" y="4193589"/>
            <a:ext cx="18319115" cy="403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450" y="1690777"/>
            <a:ext cx="9300210" cy="1635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50" spc="80" dirty="0">
                <a:solidFill>
                  <a:srgbClr val="2D2D2D"/>
                </a:solidFill>
              </a:rPr>
              <a:t>El</a:t>
            </a:r>
            <a:r>
              <a:rPr sz="10550" spc="-520" dirty="0">
                <a:solidFill>
                  <a:srgbClr val="2D2D2D"/>
                </a:solidFill>
              </a:rPr>
              <a:t> </a:t>
            </a:r>
            <a:r>
              <a:rPr sz="10550" spc="-260" dirty="0">
                <a:solidFill>
                  <a:srgbClr val="2B2B2B"/>
                </a:solidFill>
              </a:rPr>
              <a:t>Árbol</a:t>
            </a:r>
            <a:r>
              <a:rPr sz="10550" spc="-160" dirty="0">
                <a:solidFill>
                  <a:srgbClr val="2B2B2B"/>
                </a:solidFill>
              </a:rPr>
              <a:t> </a:t>
            </a:r>
            <a:r>
              <a:rPr sz="10550" spc="-280" dirty="0">
                <a:solidFill>
                  <a:srgbClr val="2B2B2B"/>
                </a:solidFill>
              </a:rPr>
              <a:t>de</a:t>
            </a:r>
            <a:r>
              <a:rPr sz="10550" spc="-430" dirty="0">
                <a:solidFill>
                  <a:srgbClr val="2B2B2B"/>
                </a:solidFill>
              </a:rPr>
              <a:t> </a:t>
            </a:r>
            <a:r>
              <a:rPr sz="10550" spc="-75" dirty="0">
                <a:solidFill>
                  <a:srgbClr val="2B2B2B"/>
                </a:solidFill>
              </a:rPr>
              <a:t>Balsa</a:t>
            </a:r>
            <a:endParaRPr sz="1055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FA1226-5D3E-4B7E-9B59-8E4ECC0BEBC8}"/>
              </a:ext>
            </a:extLst>
          </p:cNvPr>
          <p:cNvSpPr txBox="1"/>
          <p:nvPr/>
        </p:nvSpPr>
        <p:spPr>
          <a:xfrm>
            <a:off x="1859643" y="4664075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latin typeface="Arial" panose="020B0604020202020204" pitchFamily="34" charset="0"/>
                <a:cs typeface="Arial" panose="020B0604020202020204" pitchFamily="34" charset="0"/>
              </a:rPr>
              <a:t>GRUPO 7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E88A9B-8856-404E-B604-D0DD2F2E5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850" y="1690777"/>
            <a:ext cx="7162800" cy="8688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2089" y="3233121"/>
            <a:ext cx="8717012" cy="62825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9050" y="4359275"/>
            <a:ext cx="8474710" cy="482907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  <a:tabLst>
                <a:tab pos="569595" algn="l"/>
              </a:tabLst>
            </a:pPr>
            <a:r>
              <a:rPr lang="es-MX" sz="2800" spc="-50" dirty="0">
                <a:solidFill>
                  <a:srgbClr val="CDB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800" dirty="0">
                <a:solidFill>
                  <a:srgbClr val="CDB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800" spc="14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Especie</a:t>
            </a:r>
            <a:r>
              <a:rPr sz="2800" spc="-14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Pionera:</a:t>
            </a:r>
            <a:r>
              <a:rPr sz="2800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</a:t>
            </a:r>
            <a:r>
              <a:rPr sz="2800" spc="-1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800" spc="-15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colonizar</a:t>
            </a:r>
            <a:r>
              <a:rPr sz="2800" spc="4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claros</a:t>
            </a:r>
            <a:r>
              <a:rPr sz="2800" spc="4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65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spc="-95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selva.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" marR="5080" indent="519430">
              <a:lnSpc>
                <a:spcPct val="129299"/>
              </a:lnSpc>
              <a:spcBef>
                <a:spcPts val="2420"/>
              </a:spcBef>
            </a:pPr>
            <a:r>
              <a:rPr sz="2550" spc="17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</a:t>
            </a:r>
            <a:r>
              <a:rPr sz="2550" spc="8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204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Extrema:</a:t>
            </a:r>
            <a:r>
              <a:rPr sz="2550" spc="15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125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sz="2550" spc="70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alcanzar</a:t>
            </a:r>
            <a:r>
              <a:rPr sz="2550" spc="1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130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3Om</a:t>
            </a:r>
            <a:r>
              <a:rPr sz="2550" spc="85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85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5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105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apenas</a:t>
            </a:r>
            <a:r>
              <a:rPr sz="2550" spc="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</a:t>
            </a:r>
            <a:r>
              <a:rPr sz="2550" spc="50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años.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495" marR="1334135" indent="-11430">
              <a:lnSpc>
                <a:spcPct val="117800"/>
              </a:lnSpc>
              <a:spcBef>
                <a:spcPts val="2525"/>
              </a:spcBef>
              <a:tabLst>
                <a:tab pos="491490" algn="l"/>
              </a:tabLst>
            </a:pPr>
            <a:r>
              <a:rPr lang="es-MX" sz="2800" spc="20" dirty="0">
                <a:solidFill>
                  <a:srgbClr val="D4B3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800" dirty="0">
                <a:solidFill>
                  <a:srgbClr val="D4B3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8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Polinización</a:t>
            </a:r>
            <a:r>
              <a:rPr sz="280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Nocturna:</a:t>
            </a:r>
            <a:r>
              <a:rPr sz="2800" spc="7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Flores</a:t>
            </a:r>
            <a:r>
              <a:rPr sz="2800" spc="16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polinizadas</a:t>
            </a:r>
            <a:r>
              <a:rPr sz="2800" spc="28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5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sz="2800" spc="-1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murciélagos.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30" marR="301625" indent="-13335">
              <a:lnSpc>
                <a:spcPct val="117800"/>
              </a:lnSpc>
              <a:spcBef>
                <a:spcPts val="2475"/>
              </a:spcBef>
              <a:tabLst>
                <a:tab pos="538480" algn="l"/>
              </a:tabLst>
            </a:pPr>
            <a:r>
              <a:rPr lang="es-MX" sz="2800" spc="-50" dirty="0">
                <a:solidFill>
                  <a:srgbClr val="CFB3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800" dirty="0">
                <a:solidFill>
                  <a:srgbClr val="CFB3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800" spc="55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Hojas</a:t>
            </a:r>
            <a:r>
              <a:rPr sz="2800" spc="15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90" dirty="0">
                <a:solidFill>
                  <a:srgbClr val="2828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Gigantes:</a:t>
            </a:r>
            <a:r>
              <a:rPr sz="2800" spc="40" dirty="0">
                <a:solidFill>
                  <a:srgbClr val="2828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Captación</a:t>
            </a:r>
            <a:r>
              <a:rPr sz="2800" spc="3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máxima</a:t>
            </a:r>
            <a:r>
              <a:rPr sz="2800" spc="12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65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spc="-145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4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Iuz</a:t>
            </a:r>
            <a:r>
              <a:rPr sz="2800" spc="3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800" spc="-8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etapas </a:t>
            </a:r>
            <a:r>
              <a:rPr sz="2800" spc="-10" dirty="0">
                <a:solidFill>
                  <a:srgbClr val="2D2D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tempranas.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0CC7DC-0E76-4940-A6A1-3F5FAD6B363D}"/>
              </a:ext>
            </a:extLst>
          </p:cNvPr>
          <p:cNvSpPr txBox="1"/>
          <p:nvPr/>
        </p:nvSpPr>
        <p:spPr>
          <a:xfrm>
            <a:off x="907303" y="2436427"/>
            <a:ext cx="10058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la balsa es una especie pionera que actúa de forma colectiva para la restauración del suelo</a:t>
            </a:r>
            <a:endParaRPr lang="es-MX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2D96D73-7334-4D06-AB57-28351840D28A}"/>
              </a:ext>
            </a:extLst>
          </p:cNvPr>
          <p:cNvSpPr txBox="1"/>
          <p:nvPr/>
        </p:nvSpPr>
        <p:spPr>
          <a:xfrm>
            <a:off x="907303" y="628617"/>
            <a:ext cx="139661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400" b="1" spc="13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s-ES" sz="5400" b="1" spc="-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400" b="1" spc="5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Gigante</a:t>
            </a:r>
            <a:r>
              <a:rPr lang="es-ES" sz="5400" b="1" spc="-204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400" b="1" spc="-11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ES" sz="5400" b="1" spc="-39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  <a:r>
              <a:rPr lang="es-ES" sz="5400" b="1" spc="1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400" b="1" spc="-1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Rápido</a:t>
            </a:r>
            <a:endParaRPr lang="es-MX" sz="54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00544" y="4489126"/>
            <a:ext cx="22796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395" dirty="0">
                <a:solidFill>
                  <a:srgbClr val="676767"/>
                </a:solidFill>
                <a:latin typeface="Calibri"/>
                <a:cs typeface="Calibri"/>
              </a:rPr>
              <a:t>--</a:t>
            </a:r>
            <a:r>
              <a:rPr sz="2700" spc="-690" dirty="0">
                <a:solidFill>
                  <a:srgbClr val="676767"/>
                </a:solidFill>
                <a:latin typeface="Calibri"/>
                <a:cs typeface="Calibri"/>
              </a:rPr>
              <a:t>*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0199" y="3960400"/>
            <a:ext cx="8174990" cy="14956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2100"/>
              </a:lnSpc>
              <a:spcBef>
                <a:spcPts val="100"/>
              </a:spcBef>
            </a:pPr>
            <a:r>
              <a:rPr sz="2700" spc="5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sz="2700" spc="18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700" spc="-5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árbol</a:t>
            </a:r>
            <a:r>
              <a:rPr sz="2700" spc="9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9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cae</a:t>
            </a:r>
            <a:r>
              <a:rPr sz="2700" spc="4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7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700" spc="9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10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70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abre</a:t>
            </a:r>
            <a:r>
              <a:rPr sz="2700" spc="6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700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claro</a:t>
            </a:r>
            <a:r>
              <a:rPr sz="2700" spc="70" dirty="0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(gap),</a:t>
            </a:r>
            <a:r>
              <a:rPr sz="2700" spc="75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700" spc="1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1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semillas </a:t>
            </a:r>
            <a:r>
              <a:rPr sz="2700" spc="120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700" spc="-55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balsa,</a:t>
            </a:r>
            <a:r>
              <a:rPr sz="2700" spc="75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latentes</a:t>
            </a:r>
            <a:r>
              <a:rPr sz="2700" spc="175" dirty="0">
                <a:solidFill>
                  <a:srgbClr val="3B3B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55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700" spc="5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años,</a:t>
            </a:r>
            <a:r>
              <a:rPr sz="2700" spc="12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germinan</a:t>
            </a:r>
            <a:r>
              <a:rPr sz="2700" spc="114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simultáneamente</a:t>
            </a:r>
            <a:r>
              <a:rPr sz="2700" spc="-1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140" y="6416675"/>
            <a:ext cx="7856298" cy="203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just">
              <a:lnSpc>
                <a:spcPct val="122100"/>
              </a:lnSpc>
              <a:spcBef>
                <a:spcPts val="100"/>
              </a:spcBef>
            </a:pPr>
            <a:r>
              <a:rPr sz="2700" spc="100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2700" spc="-20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rápido</a:t>
            </a:r>
            <a:r>
              <a:rPr sz="2700" spc="24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  <a:r>
              <a:rPr sz="2700" spc="370" dirty="0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</a:t>
            </a:r>
            <a:r>
              <a:rPr sz="2700" spc="13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700" spc="-2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</a:t>
            </a:r>
            <a:r>
              <a:rPr sz="2700" spc="35" dirty="0">
                <a:solidFill>
                  <a:srgbClr val="3D3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700" spc="229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11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protector </a:t>
            </a:r>
            <a:r>
              <a:rPr sz="2700" spc="-10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inmediato</a:t>
            </a:r>
            <a:r>
              <a:rPr sz="2700" spc="-175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80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700" spc="-105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6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estabiliza</a:t>
            </a:r>
            <a:r>
              <a:rPr sz="2700" spc="-3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145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700" spc="-13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microclima,</a:t>
            </a:r>
            <a:r>
              <a:rPr sz="2700" spc="-13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1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permitiendo</a:t>
            </a:r>
            <a:r>
              <a:rPr sz="2700" spc="-4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2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sz="2700" spc="-75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especies</a:t>
            </a:r>
            <a:r>
              <a:rPr sz="2700" spc="-9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1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700" spc="-18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35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  <a:r>
              <a:rPr sz="2700" spc="-75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6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Iento</a:t>
            </a:r>
            <a:r>
              <a:rPr sz="2700" spc="-130" dirty="0"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5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prosperen</a:t>
            </a:r>
            <a:r>
              <a:rPr sz="2700" spc="-125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bajo</a:t>
            </a:r>
            <a:r>
              <a:rPr sz="2700" spc="-120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00" spc="-25" dirty="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 </a:t>
            </a:r>
            <a:r>
              <a:rPr sz="2700" spc="-1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sombra.</a:t>
            </a:r>
            <a:endParaRPr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222ADF-27A0-416C-97EA-B52A6E138B86}"/>
              </a:ext>
            </a:extLst>
          </p:cNvPr>
          <p:cNvSpPr/>
          <p:nvPr/>
        </p:nvSpPr>
        <p:spPr>
          <a:xfrm>
            <a:off x="10052050" y="0"/>
            <a:ext cx="10052050" cy="5456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A055F7-1F35-41A2-A121-4553A8EA5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050" y="1994093"/>
            <a:ext cx="9677400" cy="36605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648E7A5-A9DB-41B6-9E3E-5131759AC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4011" y="713822"/>
            <a:ext cx="1204064" cy="12802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3178" y="3613917"/>
            <a:ext cx="17355492" cy="2481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204" dirty="0">
                <a:solidFill>
                  <a:srgbClr val="2A2A2A"/>
                </a:solidFill>
              </a:rPr>
              <a:t>El</a:t>
            </a:r>
            <a:r>
              <a:rPr spc="-570" dirty="0">
                <a:solidFill>
                  <a:srgbClr val="2A2A2A"/>
                </a:solidFill>
              </a:rPr>
              <a:t> </a:t>
            </a:r>
            <a:r>
              <a:rPr spc="70" dirty="0">
                <a:solidFill>
                  <a:srgbClr val="2A2A2A"/>
                </a:solidFill>
              </a:rPr>
              <a:t>Ciclo</a:t>
            </a:r>
            <a:r>
              <a:rPr spc="-254" dirty="0">
                <a:solidFill>
                  <a:srgbClr val="2A2A2A"/>
                </a:solidFill>
              </a:rPr>
              <a:t> </a:t>
            </a:r>
            <a:r>
              <a:rPr dirty="0">
                <a:solidFill>
                  <a:srgbClr val="2A2A2A"/>
                </a:solidFill>
              </a:rPr>
              <a:t>de</a:t>
            </a:r>
            <a:r>
              <a:rPr spc="-260" dirty="0">
                <a:solidFill>
                  <a:srgbClr val="2A2A2A"/>
                </a:solidFill>
              </a:rPr>
              <a:t> </a:t>
            </a:r>
            <a:r>
              <a:rPr spc="-10" dirty="0">
                <a:solidFill>
                  <a:srgbClr val="262626"/>
                </a:solidFill>
              </a:rPr>
              <a:t>Restauración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DBB44C-CEBC-47EF-9FF7-A63BE39DFA6A}"/>
              </a:ext>
            </a:extLst>
          </p:cNvPr>
          <p:cNvSpPr txBox="1"/>
          <p:nvPr/>
        </p:nvSpPr>
        <p:spPr>
          <a:xfrm>
            <a:off x="1517650" y="7178675"/>
            <a:ext cx="171510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Definición de potencial algoritmo preventivo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Definición de ciclo de autocorrección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Definición de proceso de mantenimiento y fallas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965450" y="2835275"/>
            <a:ext cx="12281535" cy="13804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850" spc="-105" dirty="0" err="1">
                <a:solidFill>
                  <a:srgbClr val="2B2B2B"/>
                </a:solidFill>
              </a:rPr>
              <a:t>Aplicación</a:t>
            </a:r>
            <a:r>
              <a:rPr sz="8850" spc="-140" dirty="0">
                <a:solidFill>
                  <a:srgbClr val="2B2B2B"/>
                </a:solidFill>
              </a:rPr>
              <a:t> </a:t>
            </a:r>
            <a:r>
              <a:rPr sz="8850" spc="-135" dirty="0">
                <a:solidFill>
                  <a:srgbClr val="2B2B2B"/>
                </a:solidFill>
              </a:rPr>
              <a:t>Bioinspirada</a:t>
            </a:r>
            <a:endParaRPr sz="8850" dirty="0"/>
          </a:p>
        </p:txBody>
      </p:sp>
      <p:sp>
        <p:nvSpPr>
          <p:cNvPr id="3" name="object 3"/>
          <p:cNvSpPr txBox="1"/>
          <p:nvPr/>
        </p:nvSpPr>
        <p:spPr>
          <a:xfrm>
            <a:off x="3940981" y="6205696"/>
            <a:ext cx="1219708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2F2F2F"/>
                </a:solidFill>
                <a:latin typeface="Calibri"/>
                <a:cs typeface="Calibri"/>
              </a:rPr>
              <a:t>Diseñando</a:t>
            </a:r>
            <a:r>
              <a:rPr sz="3350" spc="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350" spc="-10" dirty="0">
                <a:solidFill>
                  <a:srgbClr val="2D2D2D"/>
                </a:solidFill>
                <a:latin typeface="Calibri"/>
                <a:cs typeface="Calibri"/>
              </a:rPr>
              <a:t>el</a:t>
            </a:r>
            <a:r>
              <a:rPr sz="3350" spc="-20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350" spc="-75" dirty="0">
                <a:solidFill>
                  <a:srgbClr val="3B3B3B"/>
                </a:solidFill>
                <a:latin typeface="Calibri"/>
                <a:cs typeface="Calibri"/>
              </a:rPr>
              <a:t>"Balsa </a:t>
            </a:r>
            <a:r>
              <a:rPr sz="3350" dirty="0">
                <a:solidFill>
                  <a:srgbClr val="343434"/>
                </a:solidFill>
                <a:latin typeface="Calibri"/>
                <a:cs typeface="Calibri"/>
              </a:rPr>
              <a:t>Pioneer</a:t>
            </a:r>
            <a:r>
              <a:rPr sz="3350" spc="1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350" spc="-105" dirty="0">
                <a:solidFill>
                  <a:srgbClr val="383838"/>
                </a:solidFill>
                <a:latin typeface="Calibri"/>
                <a:cs typeface="Calibri"/>
              </a:rPr>
              <a:t>Algorithm"</a:t>
            </a:r>
            <a:r>
              <a:rPr sz="3350" spc="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350" spc="-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350" dirty="0">
                <a:solidFill>
                  <a:srgbClr val="2D2D2D"/>
                </a:solidFill>
                <a:latin typeface="Calibri"/>
                <a:cs typeface="Calibri"/>
              </a:rPr>
              <a:t>sistemas</a:t>
            </a:r>
            <a:r>
              <a:rPr sz="3350" spc="12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350" spc="-10" dirty="0">
                <a:solidFill>
                  <a:srgbClr val="313131"/>
                </a:solidFill>
                <a:latin typeface="Calibri"/>
                <a:cs typeface="Calibri"/>
              </a:rPr>
              <a:t>resilientes.</a:t>
            </a:r>
            <a:endParaRPr sz="33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5654" y="795521"/>
            <a:ext cx="9878060" cy="8451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MX" sz="5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Principios </a:t>
            </a:r>
            <a:r>
              <a:rPr lang="es-MX" sz="5400" spc="-10" dirty="0">
                <a:solidFill>
                  <a:srgbClr val="2A2A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es-MX" sz="5400" spc="-305" dirty="0">
                <a:solidFill>
                  <a:srgbClr val="2A2A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54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Algoritmo</a:t>
            </a:r>
            <a:endParaRPr lang="es-MX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5262" y="5436086"/>
            <a:ext cx="3890188" cy="52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b="1" dirty="0">
                <a:solidFill>
                  <a:srgbClr val="282828"/>
                </a:solidFill>
                <a:latin typeface="Cambria"/>
                <a:cs typeface="Cambria"/>
              </a:rPr>
              <a:t>Estado</a:t>
            </a:r>
            <a:r>
              <a:rPr sz="3350" b="1" spc="1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3350" b="1" spc="-10" dirty="0">
                <a:solidFill>
                  <a:srgbClr val="1F1F1F"/>
                </a:solidFill>
                <a:latin typeface="Cambria"/>
                <a:cs typeface="Cambria"/>
              </a:rPr>
              <a:t>Latente</a:t>
            </a:r>
            <a:endParaRPr sz="3350" b="1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0817" y="6216167"/>
            <a:ext cx="4472305" cy="20358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20320" algn="ctr">
              <a:lnSpc>
                <a:spcPct val="117800"/>
              </a:lnSpc>
              <a:spcBef>
                <a:spcPts val="90"/>
              </a:spcBef>
            </a:pP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Nodos</a:t>
            </a:r>
            <a:r>
              <a:rPr sz="2800" spc="17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inactivos</a:t>
            </a:r>
            <a:r>
              <a:rPr sz="2800" spc="2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que</a:t>
            </a:r>
            <a:r>
              <a:rPr sz="2800" spc="1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B3B3B"/>
                </a:solidFill>
                <a:latin typeface="Calibri"/>
                <a:cs typeface="Calibri"/>
              </a:rPr>
              <a:t>no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consumen</a:t>
            </a:r>
            <a:r>
              <a:rPr sz="280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recursos</a:t>
            </a:r>
            <a:r>
              <a:rPr sz="2800" spc="1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A3A3A"/>
                </a:solidFill>
                <a:latin typeface="Calibri"/>
                <a:cs typeface="Calibri"/>
              </a:rPr>
              <a:t>hasta</a:t>
            </a:r>
            <a:r>
              <a:rPr sz="2800" spc="-3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A3A3A"/>
                </a:solidFill>
                <a:latin typeface="Calibri"/>
                <a:cs typeface="Calibri"/>
              </a:rPr>
              <a:t>que </a:t>
            </a:r>
            <a:r>
              <a:rPr sz="2800" spc="55" dirty="0">
                <a:solidFill>
                  <a:srgbClr val="2B2B2B"/>
                </a:solidFill>
                <a:latin typeface="Calibri"/>
                <a:cs typeface="Calibri"/>
              </a:rPr>
              <a:t>se</a:t>
            </a:r>
            <a:r>
              <a:rPr sz="280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detecta</a:t>
            </a:r>
            <a:r>
              <a:rPr sz="2800" spc="-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3B3B3B"/>
                </a:solidFill>
                <a:latin typeface="Calibri"/>
                <a:cs typeface="Calibri"/>
              </a:rPr>
              <a:t>un</a:t>
            </a:r>
            <a:r>
              <a:rPr sz="2800" spc="-2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140" dirty="0">
                <a:solidFill>
                  <a:srgbClr val="333333"/>
                </a:solidFill>
                <a:latin typeface="Calibri"/>
                <a:cs typeface="Calibri"/>
              </a:rPr>
              <a:t>"gap"</a:t>
            </a:r>
            <a:r>
              <a:rPr sz="28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2800" spc="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2F2F2F"/>
                </a:solidFill>
                <a:latin typeface="Calibri"/>
                <a:cs typeface="Calibri"/>
              </a:rPr>
              <a:t>fallo</a:t>
            </a:r>
            <a:r>
              <a:rPr sz="2800" spc="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F3F3F"/>
                </a:solidFill>
                <a:latin typeface="Calibri"/>
                <a:cs typeface="Calibri"/>
              </a:rPr>
              <a:t>en</a:t>
            </a:r>
            <a:r>
              <a:rPr sz="2800" spc="-1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la </a:t>
            </a:r>
            <a:r>
              <a:rPr sz="2800" spc="-20" dirty="0">
                <a:solidFill>
                  <a:srgbClr val="313131"/>
                </a:solidFill>
                <a:latin typeface="Calibri"/>
                <a:cs typeface="Calibri"/>
              </a:rPr>
              <a:t>red.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2361" y="5436086"/>
            <a:ext cx="4389755" cy="230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1F1F1F"/>
                </a:solidFill>
                <a:latin typeface="Cambria"/>
                <a:cs typeface="Cambria"/>
              </a:rPr>
              <a:t>Despliegue</a:t>
            </a:r>
            <a:r>
              <a:rPr sz="3350" spc="285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3350" spc="45" dirty="0">
                <a:solidFill>
                  <a:srgbClr val="232323"/>
                </a:solidFill>
                <a:latin typeface="Cambria"/>
                <a:cs typeface="Cambria"/>
              </a:rPr>
              <a:t>Flash</a:t>
            </a:r>
            <a:endParaRPr sz="3350">
              <a:latin typeface="Cambria"/>
              <a:cs typeface="Cambria"/>
            </a:endParaRPr>
          </a:p>
          <a:p>
            <a:pPr marL="12700" marR="5080" indent="-12700" algn="ctr">
              <a:lnSpc>
                <a:spcPct val="129299"/>
              </a:lnSpc>
              <a:spcBef>
                <a:spcPts val="2065"/>
              </a:spcBef>
            </a:pPr>
            <a:r>
              <a:rPr sz="2550" dirty="0">
                <a:solidFill>
                  <a:srgbClr val="383838"/>
                </a:solidFill>
                <a:latin typeface="Cambria"/>
                <a:cs typeface="Cambria"/>
              </a:rPr>
              <a:t>Activación</a:t>
            </a:r>
            <a:r>
              <a:rPr sz="2550" spc="250" dirty="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383838"/>
                </a:solidFill>
                <a:latin typeface="Cambria"/>
                <a:cs typeface="Cambria"/>
              </a:rPr>
              <a:t>paralela</a:t>
            </a:r>
            <a:r>
              <a:rPr sz="2550" spc="270" dirty="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383838"/>
                </a:solidFill>
                <a:latin typeface="Cambria"/>
                <a:cs typeface="Cambria"/>
              </a:rPr>
              <a:t>y</a:t>
            </a:r>
            <a:r>
              <a:rPr sz="2550" spc="165" dirty="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3B3B3B"/>
                </a:solidFill>
                <a:latin typeface="Cambria"/>
                <a:cs typeface="Cambria"/>
              </a:rPr>
              <a:t>masiva </a:t>
            </a:r>
            <a:r>
              <a:rPr sz="2550" dirty="0">
                <a:solidFill>
                  <a:srgbClr val="313131"/>
                </a:solidFill>
                <a:latin typeface="Cambria"/>
                <a:cs typeface="Cambria"/>
              </a:rPr>
              <a:t>de</a:t>
            </a:r>
            <a:r>
              <a:rPr sz="2550" spc="37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2A2A2A"/>
                </a:solidFill>
                <a:latin typeface="Cambria"/>
                <a:cs typeface="Cambria"/>
              </a:rPr>
              <a:t>infraestructura</a:t>
            </a:r>
            <a:r>
              <a:rPr sz="2550" spc="6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383838"/>
                </a:solidFill>
                <a:latin typeface="Cambria"/>
                <a:cs typeface="Cambria"/>
              </a:rPr>
              <a:t>temporal </a:t>
            </a:r>
            <a:r>
              <a:rPr sz="2550" dirty="0">
                <a:solidFill>
                  <a:srgbClr val="3D3D3D"/>
                </a:solidFill>
                <a:latin typeface="Cambria"/>
                <a:cs typeface="Cambria"/>
              </a:rPr>
              <a:t>para</a:t>
            </a:r>
            <a:r>
              <a:rPr sz="2550" spc="100" dirty="0">
                <a:solidFill>
                  <a:srgbClr val="3D3D3D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3B3B3B"/>
                </a:solidFill>
                <a:latin typeface="Cambria"/>
                <a:cs typeface="Cambria"/>
              </a:rPr>
              <a:t>cubrir</a:t>
            </a:r>
            <a:r>
              <a:rPr sz="2550" spc="55" dirty="0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sz="2550" spc="65" dirty="0">
                <a:solidFill>
                  <a:srgbClr val="2B2B2B"/>
                </a:solidFill>
                <a:latin typeface="Cambria"/>
                <a:cs typeface="Cambria"/>
              </a:rPr>
              <a:t>demandas</a:t>
            </a:r>
            <a:r>
              <a:rPr sz="2550" spc="215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2B2B2B"/>
                </a:solidFill>
                <a:latin typeface="Cambria"/>
                <a:cs typeface="Cambria"/>
              </a:rPr>
              <a:t>críticas.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99989" y="5436086"/>
            <a:ext cx="3955415" cy="280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670" algn="ctr">
              <a:lnSpc>
                <a:spcPct val="100000"/>
              </a:lnSpc>
              <a:spcBef>
                <a:spcPts val="100"/>
              </a:spcBef>
            </a:pPr>
            <a:r>
              <a:rPr sz="3350" spc="-10" dirty="0">
                <a:solidFill>
                  <a:srgbClr val="282828"/>
                </a:solidFill>
                <a:latin typeface="Cambria"/>
                <a:cs typeface="Cambria"/>
              </a:rPr>
              <a:t>Facilitación</a:t>
            </a:r>
            <a:endParaRPr sz="3350">
              <a:latin typeface="Cambria"/>
              <a:cs typeface="Cambria"/>
            </a:endParaRPr>
          </a:p>
          <a:p>
            <a:pPr marL="12700" marR="5080" algn="ctr">
              <a:lnSpc>
                <a:spcPct val="128699"/>
              </a:lnSpc>
              <a:spcBef>
                <a:spcPts val="2085"/>
              </a:spcBef>
            </a:pPr>
            <a:r>
              <a:rPr sz="2550" dirty="0">
                <a:solidFill>
                  <a:srgbClr val="2B2B2B"/>
                </a:solidFill>
                <a:latin typeface="Cambria"/>
                <a:cs typeface="Cambria"/>
              </a:rPr>
              <a:t>Provisión</a:t>
            </a:r>
            <a:r>
              <a:rPr sz="2550" spc="155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313131"/>
                </a:solidFill>
                <a:latin typeface="Cambria"/>
                <a:cs typeface="Cambria"/>
              </a:rPr>
              <a:t>de</a:t>
            </a:r>
            <a:r>
              <a:rPr sz="2550" spc="35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2B2B2B"/>
                </a:solidFill>
                <a:latin typeface="Cambria"/>
                <a:cs typeface="Cambria"/>
              </a:rPr>
              <a:t>servicios</a:t>
            </a:r>
            <a:r>
              <a:rPr sz="2550" spc="310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550" spc="60" dirty="0">
                <a:solidFill>
                  <a:srgbClr val="383838"/>
                </a:solidFill>
                <a:latin typeface="Cambria"/>
                <a:cs typeface="Cambria"/>
              </a:rPr>
              <a:t>base </a:t>
            </a:r>
            <a:r>
              <a:rPr sz="2550" dirty="0">
                <a:solidFill>
                  <a:srgbClr val="2F2F2F"/>
                </a:solidFill>
                <a:latin typeface="Cambria"/>
                <a:cs typeface="Cambria"/>
              </a:rPr>
              <a:t>mientras</a:t>
            </a:r>
            <a:r>
              <a:rPr sz="2550" spc="215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343434"/>
                </a:solidFill>
                <a:latin typeface="Cambria"/>
                <a:cs typeface="Cambria"/>
              </a:rPr>
              <a:t>los</a:t>
            </a:r>
            <a:r>
              <a:rPr sz="2550" spc="2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550" spc="55" dirty="0">
                <a:solidFill>
                  <a:srgbClr val="343434"/>
                </a:solidFill>
                <a:latin typeface="Cambria"/>
                <a:cs typeface="Cambria"/>
              </a:rPr>
              <a:t>sistemas </a:t>
            </a:r>
            <a:r>
              <a:rPr sz="2550" dirty="0">
                <a:solidFill>
                  <a:srgbClr val="343434"/>
                </a:solidFill>
                <a:latin typeface="Cambria"/>
                <a:cs typeface="Cambria"/>
              </a:rPr>
              <a:t>robustos</a:t>
            </a:r>
            <a:r>
              <a:rPr sz="2550" spc="33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424242"/>
                </a:solidFill>
                <a:latin typeface="Cambria"/>
                <a:cs typeface="Cambria"/>
              </a:rPr>
              <a:t>y</a:t>
            </a:r>
            <a:r>
              <a:rPr sz="2550" spc="315" dirty="0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sz="2550" dirty="0">
                <a:solidFill>
                  <a:srgbClr val="2B2B2B"/>
                </a:solidFill>
                <a:latin typeface="Cambria"/>
                <a:cs typeface="Cambria"/>
              </a:rPr>
              <a:t>lentos</a:t>
            </a:r>
            <a:r>
              <a:rPr sz="2550" spc="280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2550" spc="-25" dirty="0">
                <a:solidFill>
                  <a:srgbClr val="363636"/>
                </a:solidFill>
                <a:latin typeface="Cambria"/>
                <a:cs typeface="Cambria"/>
              </a:rPr>
              <a:t>se </a:t>
            </a:r>
            <a:r>
              <a:rPr sz="2550" spc="-10" dirty="0">
                <a:solidFill>
                  <a:srgbClr val="383838"/>
                </a:solidFill>
                <a:latin typeface="Cambria"/>
                <a:cs typeface="Cambria"/>
              </a:rPr>
              <a:t>estabilizan.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70ADC8D-33B3-41CB-93CE-FAEB905BE478}"/>
              </a:ext>
            </a:extLst>
          </p:cNvPr>
          <p:cNvSpPr txBox="1"/>
          <p:nvPr/>
        </p:nvSpPr>
        <p:spPr>
          <a:xfrm>
            <a:off x="1575758" y="2777758"/>
            <a:ext cx="44146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Reservorios y energías alternativas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DC6CC9-AF7A-4428-B101-26A983BF93B0}"/>
              </a:ext>
            </a:extLst>
          </p:cNvPr>
          <p:cNvSpPr txBox="1"/>
          <p:nvPr/>
        </p:nvSpPr>
        <p:spPr>
          <a:xfrm>
            <a:off x="7827483" y="2777758"/>
            <a:ext cx="44146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Activación autónoma al detectar indicador de estiaje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0D31849-CC52-4283-810D-420D27248129}"/>
              </a:ext>
            </a:extLst>
          </p:cNvPr>
          <p:cNvSpPr txBox="1"/>
          <p:nvPr/>
        </p:nvSpPr>
        <p:spPr>
          <a:xfrm>
            <a:off x="13840771" y="2777758"/>
            <a:ext cx="44146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Cubrir demanda critica mientras se restaura embalse de hidroeléctrica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346" y="4083645"/>
            <a:ext cx="16397406" cy="37066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10"/>
              </a:spcBef>
            </a:pPr>
            <a:r>
              <a:rPr sz="6300" spc="80" dirty="0">
                <a:solidFill>
                  <a:srgbClr val="282828"/>
                </a:solidFill>
                <a:latin typeface="Times New Roman"/>
                <a:cs typeface="Times New Roman"/>
              </a:rPr>
              <a:t>Dinámica</a:t>
            </a:r>
            <a:r>
              <a:rPr sz="6300" spc="3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6300" spc="140" dirty="0">
                <a:solidFill>
                  <a:srgbClr val="282828"/>
                </a:solidFill>
                <a:latin typeface="Times New Roman"/>
                <a:cs typeface="Times New Roman"/>
              </a:rPr>
              <a:t>de</a:t>
            </a:r>
            <a:r>
              <a:rPr sz="6300" spc="-17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6300" spc="160" dirty="0">
                <a:solidFill>
                  <a:srgbClr val="262626"/>
                </a:solidFill>
                <a:latin typeface="Times New Roman"/>
                <a:cs typeface="Times New Roman"/>
              </a:rPr>
              <a:t>Respuesta</a:t>
            </a:r>
            <a:r>
              <a:rPr sz="6300" spc="23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6300" spc="305" dirty="0">
                <a:solidFill>
                  <a:srgbClr val="282828"/>
                </a:solidFill>
                <a:latin typeface="Times New Roman"/>
                <a:cs typeface="Times New Roman"/>
              </a:rPr>
              <a:t>ante</a:t>
            </a:r>
            <a:r>
              <a:rPr sz="63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6300" spc="-10" dirty="0">
                <a:solidFill>
                  <a:srgbClr val="262626"/>
                </a:solidFill>
                <a:latin typeface="Times New Roman"/>
                <a:cs typeface="Times New Roman"/>
              </a:rPr>
              <a:t>Fallos</a:t>
            </a:r>
            <a:endParaRPr sz="6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0646" y="8763865"/>
            <a:ext cx="1802764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65" dirty="0">
                <a:solidFill>
                  <a:srgbClr val="1F1F1F"/>
                </a:solidFill>
                <a:latin typeface="Times New Roman"/>
                <a:cs typeface="Times New Roman"/>
              </a:rPr>
              <a:t>Estado</a:t>
            </a:r>
            <a:r>
              <a:rPr sz="2200" spc="28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62626"/>
                </a:solidFill>
                <a:latin typeface="Times New Roman"/>
                <a:cs typeface="Times New Roman"/>
              </a:rPr>
              <a:t>Normal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5165" y="8771718"/>
            <a:ext cx="320103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solidFill>
                  <a:srgbClr val="1D1D1D"/>
                </a:solidFill>
                <a:latin typeface="Times New Roman"/>
                <a:cs typeface="Times New Roman"/>
              </a:rPr>
              <a:t>Pico</a:t>
            </a:r>
            <a:r>
              <a:rPr sz="2200" spc="170" dirty="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5414B"/>
                </a:solidFill>
                <a:latin typeface="Times New Roman"/>
                <a:cs typeface="Times New Roman"/>
              </a:rPr>
              <a:t>de  </a:t>
            </a:r>
            <a:r>
              <a:rPr sz="2200" dirty="0">
                <a:solidFill>
                  <a:srgbClr val="232323"/>
                </a:solidFill>
                <a:latin typeface="Times New Roman"/>
                <a:cs typeface="Times New Roman"/>
              </a:rPr>
              <a:t>Activación</a:t>
            </a:r>
            <a:r>
              <a:rPr sz="2200" spc="33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32323"/>
                </a:solidFill>
                <a:latin typeface="Times New Roman"/>
                <a:cs typeface="Times New Roman"/>
              </a:rPr>
              <a:t>(Balsa)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41241" y="8763865"/>
            <a:ext cx="321056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Transición</a:t>
            </a:r>
            <a:r>
              <a:rPr sz="2200" spc="38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200" spc="75" dirty="0">
                <a:solidFill>
                  <a:srgbClr val="262626"/>
                </a:solidFill>
                <a:latin typeface="Times New Roman"/>
                <a:cs typeface="Times New Roman"/>
              </a:rPr>
              <a:t>a</a:t>
            </a:r>
            <a:r>
              <a:rPr sz="2200" spc="5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spc="114" dirty="0">
                <a:solidFill>
                  <a:srgbClr val="161616"/>
                </a:solidFill>
                <a:latin typeface="Times New Roman"/>
                <a:cs typeface="Times New Roman"/>
              </a:rPr>
              <a:t>Sistema</a:t>
            </a:r>
            <a:r>
              <a:rPr sz="2200" spc="37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62626"/>
                </a:solidFill>
                <a:latin typeface="Times New Roman"/>
                <a:cs typeface="Times New Roman"/>
              </a:rPr>
              <a:t>Final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247</Words>
  <Application>Microsoft Office PowerPoint</Application>
  <PresentationFormat>Personalizado</PresentationFormat>
  <Paragraphs>33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El Árbol de Balsa</vt:lpstr>
      <vt:lpstr>Presentación de PowerPoint</vt:lpstr>
      <vt:lpstr>Presentación de PowerPoint</vt:lpstr>
      <vt:lpstr>El Ciclo de Restauración</vt:lpstr>
      <vt:lpstr>Aplicación Bioinspirada</vt:lpstr>
      <vt:lpstr>Principios del Algoritmo</vt:lpstr>
      <vt:lpstr>Dinámica de Respuesta ante Fallos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Danny</dc:creator>
  <cp:lastModifiedBy>SAGAL PAZMIÑO DANNY</cp:lastModifiedBy>
  <cp:revision>5</cp:revision>
  <dcterms:created xsi:type="dcterms:W3CDTF">2026-04-18T13:46:14Z</dcterms:created>
  <dcterms:modified xsi:type="dcterms:W3CDTF">2026-04-18T14:48:50Z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LastSaved">
    <vt:filetime>2026-04-18T00:00:00Z</vt:filetime>
  </property>
</Properties>
</file>
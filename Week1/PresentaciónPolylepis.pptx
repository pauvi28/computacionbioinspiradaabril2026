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56" r:id="rId2"/>
    <p:sldId id="257" r:id="rId3"/>
    <p:sldId id="258" r:id="rId4"/>
  </p:sldIdLst>
  <p:sldSz cx="14630400" cy="8229600"/>
  <p:notesSz cx="8229600" cy="14630400"/>
  <p:embeddedFontLst>
    <p:embeddedFont>
      <p:font typeface="Calibri" panose="020F0502020204030204" pitchFamily="34" charset="0"/>
      <p:regular r:id="rId6"/>
      <p:bold r:id="rId7"/>
      <p:italic r:id="rId8"/>
      <p:boldItalic r:id="rId9"/>
    </p:embeddedFont>
    <p:embeddedFont>
      <p:font typeface="Inter" panose="020B0604020202020204" charset="0"/>
      <p:regular r:id="rId10"/>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5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presProps" Target="presProps.xml"/><Relationship Id="rId5" Type="http://schemas.openxmlformats.org/officeDocument/2006/relationships/notesMaster" Target="notesMasters/notesMaster1.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CC77118D-F2DF-4961-A1F8-C3E56AF4A0CE}" type="datetimeFigureOut">
              <a:t>17/4/2026</a:t>
            </a:fld>
            <a:endParaRPr lang="es-ES"/>
          </a:p>
        </p:txBody>
      </p:sp>
      <p:sp>
        <p:nvSpPr>
          <p:cNvPr id="4" name="Marcador de imagen de diapositiva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2498087A-AC60-40B3-9279-47DAAB4E94E6}" type="slidenum">
              <a:t>‹Nº›</a:t>
            </a:fld>
            <a:endParaRPr lang="es-ES"/>
          </a:p>
        </p:txBody>
      </p:sp>
    </p:spTree>
    <p:extLst>
      <p:ext uri="{BB962C8B-B14F-4D97-AF65-F5344CB8AC3E}">
        <p14:creationId xmlns:p14="http://schemas.microsoft.com/office/powerpoint/2010/main" val="3374566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2" name="Text 0"/>
          <p:cNvSpPr/>
          <p:nvPr/>
        </p:nvSpPr>
        <p:spPr>
          <a:xfrm>
            <a:off x="793790" y="633293"/>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Los bosques de Polylepis: islas de abrigo en el páramo</a:t>
            </a:r>
            <a:endParaRPr lang="en-US" sz="4450" dirty="0"/>
          </a:p>
        </p:txBody>
      </p:sp>
      <p:sp>
        <p:nvSpPr>
          <p:cNvPr id="3" name="Text 1"/>
          <p:cNvSpPr/>
          <p:nvPr/>
        </p:nvSpPr>
        <p:spPr>
          <a:xfrm>
            <a:off x="793790" y="2504480"/>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     En los páramos andinos, los Polylepis (árbol de papel) no crecen como individuos aislados, sino en parches o “islas” que modifican el microclima local.     Su tronco denso y corteza laminada capturan neblina y retienen calor colectivamente, manteniendo el interior del bosque varios grados más cálido que el páramo abierto.     Ese microclima protector permite la supervivencia de especies arbustivas y herbáceas frente a las heladas nocturnas.   </a:t>
            </a:r>
            <a:endParaRPr lang="en-US" sz="1750" dirty="0"/>
          </a:p>
        </p:txBody>
      </p:sp>
      <p:pic>
        <p:nvPicPr>
          <p:cNvPr id="4" name="Image 0" descr="preencoded.png"/>
          <p:cNvPicPr>
            <a:picLocks noChangeAspect="1"/>
          </p:cNvPicPr>
          <p:nvPr/>
        </p:nvPicPr>
        <p:blipFill>
          <a:blip r:embed="rId3"/>
          <a:stretch>
            <a:fillRect/>
          </a:stretch>
        </p:blipFill>
        <p:spPr>
          <a:xfrm>
            <a:off x="793790" y="4211241"/>
            <a:ext cx="1205984" cy="1507450"/>
          </a:xfrm>
          <a:prstGeom prst="rect">
            <a:avLst/>
          </a:prstGeom>
        </p:spPr>
      </p:pic>
      <p:sp>
        <p:nvSpPr>
          <p:cNvPr id="5" name="Text 2"/>
          <p:cNvSpPr/>
          <p:nvPr/>
        </p:nvSpPr>
        <p:spPr>
          <a:xfrm>
            <a:off x="2283262" y="4211241"/>
            <a:ext cx="2669143"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Captura de humedad</a:t>
            </a:r>
            <a:endParaRPr lang="en-US" sz="2200" dirty="0"/>
          </a:p>
        </p:txBody>
      </p:sp>
      <p:sp>
        <p:nvSpPr>
          <p:cNvPr id="6" name="Text 3"/>
          <p:cNvSpPr/>
          <p:nvPr/>
        </p:nvSpPr>
        <p:spPr>
          <a:xfrm>
            <a:off x="2283262" y="5055989"/>
            <a:ext cx="2669143"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corteza laminada actúa como una superficie de recolección: las gotas de neblina se adsorben, coalescen y alimentan el suelo cercano.</a:t>
            </a:r>
            <a:endParaRPr lang="en-US" sz="1750" dirty="0"/>
          </a:p>
        </p:txBody>
      </p:sp>
      <p:pic>
        <p:nvPicPr>
          <p:cNvPr id="7" name="Image 1" descr="preencoded.png"/>
          <p:cNvPicPr>
            <a:picLocks noChangeAspect="1"/>
          </p:cNvPicPr>
          <p:nvPr/>
        </p:nvPicPr>
        <p:blipFill>
          <a:blip r:embed="rId4"/>
          <a:stretch>
            <a:fillRect/>
          </a:stretch>
        </p:blipFill>
        <p:spPr>
          <a:xfrm>
            <a:off x="5235893" y="4211241"/>
            <a:ext cx="1205984" cy="1507450"/>
          </a:xfrm>
          <a:prstGeom prst="rect">
            <a:avLst/>
          </a:prstGeom>
        </p:spPr>
      </p:pic>
      <p:sp>
        <p:nvSpPr>
          <p:cNvPr id="8" name="Text 4"/>
          <p:cNvSpPr/>
          <p:nvPr/>
        </p:nvSpPr>
        <p:spPr>
          <a:xfrm>
            <a:off x="6725364" y="4211241"/>
            <a:ext cx="2669143"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Retención de calor grupal</a:t>
            </a:r>
            <a:endParaRPr lang="en-US" sz="2200" dirty="0"/>
          </a:p>
        </p:txBody>
      </p:sp>
      <p:sp>
        <p:nvSpPr>
          <p:cNvPr id="9" name="Text 5"/>
          <p:cNvSpPr/>
          <p:nvPr/>
        </p:nvSpPr>
        <p:spPr>
          <a:xfrm>
            <a:off x="6725364" y="5055989"/>
            <a:ext cx="2669143" cy="254031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La densidad de troncos y el sotobosque reducen pérdida radial de calor y mantienen una temperatura interna estable durante la noche.</a:t>
            </a:r>
            <a:endParaRPr lang="en-US" sz="1750" dirty="0"/>
          </a:p>
        </p:txBody>
      </p:sp>
      <p:pic>
        <p:nvPicPr>
          <p:cNvPr id="10" name="Image 2" descr="preencoded.png"/>
          <p:cNvPicPr>
            <a:picLocks noChangeAspect="1"/>
          </p:cNvPicPr>
          <p:nvPr/>
        </p:nvPicPr>
        <p:blipFill>
          <a:blip r:embed="rId5"/>
          <a:stretch>
            <a:fillRect/>
          </a:stretch>
        </p:blipFill>
        <p:spPr>
          <a:xfrm>
            <a:off x="9677995" y="4211241"/>
            <a:ext cx="1205984" cy="1507450"/>
          </a:xfrm>
          <a:prstGeom prst="rect">
            <a:avLst/>
          </a:prstGeom>
        </p:spPr>
      </p:pic>
      <p:sp>
        <p:nvSpPr>
          <p:cNvPr id="11" name="Text 6"/>
          <p:cNvSpPr/>
          <p:nvPr/>
        </p:nvSpPr>
        <p:spPr>
          <a:xfrm>
            <a:off x="11167467" y="4211241"/>
            <a:ext cx="2669143"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Formación de islas (clustering)</a:t>
            </a:r>
            <a:endParaRPr lang="en-US" sz="2200" dirty="0"/>
          </a:p>
        </p:txBody>
      </p:sp>
      <p:sp>
        <p:nvSpPr>
          <p:cNvPr id="12" name="Text 7"/>
          <p:cNvSpPr/>
          <p:nvPr/>
        </p:nvSpPr>
        <p:spPr>
          <a:xfrm>
            <a:off x="11167467" y="5055989"/>
            <a:ext cx="2669143"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Los árboles se distribuyen en parches; esa agregación crea efectos no lineales en humedad, radiación y flujo de viento.</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682228" y="556736"/>
            <a:ext cx="13265944" cy="760435"/>
          </a:xfrm>
          <a:prstGeom prst="rect">
            <a:avLst/>
          </a:prstGeom>
          <a:noFill/>
          <a:ln/>
        </p:spPr>
        <p:txBody>
          <a:bodyPr wrap="square" lIns="0" tIns="0" rIns="0" bIns="0" rtlCol="0" anchor="t"/>
          <a:lstStyle/>
          <a:p>
            <a:pPr marL="0" indent="0" algn="l">
              <a:lnSpc>
                <a:spcPts val="4750"/>
              </a:lnSpc>
              <a:buNone/>
            </a:pPr>
            <a:r>
              <a:rPr lang="en-US" sz="3800" b="1" dirty="0">
                <a:solidFill>
                  <a:srgbClr val="000000"/>
                </a:solidFill>
                <a:latin typeface="Inter Bold" pitchFamily="34" charset="0"/>
                <a:ea typeface="Inter Bold" pitchFamily="34" charset="-122"/>
                <a:cs typeface="Inter Bold" pitchFamily="34" charset="-120"/>
              </a:rPr>
              <a:t>De la biología al algoritmo: </a:t>
            </a:r>
            <a:r>
              <a:rPr lang="en-US" sz="3800" b="1" dirty="0" err="1">
                <a:solidFill>
                  <a:srgbClr val="000000"/>
                </a:solidFill>
                <a:latin typeface="Inter Bold" pitchFamily="34" charset="0"/>
                <a:ea typeface="Inter Bold" pitchFamily="34" charset="-122"/>
                <a:cs typeface="Inter Bold" pitchFamily="34" charset="-120"/>
              </a:rPr>
              <a:t>componentes</a:t>
            </a:r>
            <a:r>
              <a:rPr lang="en-US" sz="3800" b="1" dirty="0">
                <a:solidFill>
                  <a:srgbClr val="000000"/>
                </a:solidFill>
                <a:latin typeface="Inter Bold" pitchFamily="34" charset="0"/>
                <a:ea typeface="Inter Bold" pitchFamily="34" charset="-122"/>
                <a:cs typeface="Inter Bold" pitchFamily="34" charset="-120"/>
              </a:rPr>
              <a:t> y su aplicación</a:t>
            </a:r>
            <a:endParaRPr lang="en-US" sz="3800" dirty="0"/>
          </a:p>
        </p:txBody>
      </p:sp>
      <p:sp>
        <p:nvSpPr>
          <p:cNvPr id="3" name="Text 1"/>
          <p:cNvSpPr/>
          <p:nvPr/>
        </p:nvSpPr>
        <p:spPr>
          <a:xfrm>
            <a:off x="682228" y="1589625"/>
            <a:ext cx="13265944" cy="579834"/>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     </a:t>
            </a:r>
            <a:r>
              <a:rPr lang="en-US" sz="2000" dirty="0">
                <a:solidFill>
                  <a:srgbClr val="272525"/>
                </a:solidFill>
                <a:latin typeface="Inter" pitchFamily="34" charset="0"/>
                <a:ea typeface="Inter" pitchFamily="34" charset="-122"/>
                <a:cs typeface="Inter" pitchFamily="34" charset="-120"/>
              </a:rPr>
              <a:t>A partir del comportamiento de Polylepis podemos abstraer componentes algorítmicos útiles para ingeniería y </a:t>
            </a:r>
            <a:r>
              <a:rPr lang="en-US" sz="2000" dirty="0" err="1">
                <a:solidFill>
                  <a:srgbClr val="272525"/>
                </a:solidFill>
                <a:latin typeface="Inter" pitchFamily="34" charset="0"/>
                <a:ea typeface="Inter" pitchFamily="34" charset="-122"/>
                <a:cs typeface="Inter" pitchFamily="34" charset="-120"/>
              </a:rPr>
              <a:t>diseño</a:t>
            </a:r>
            <a:r>
              <a:rPr lang="en-US" sz="2000" dirty="0">
                <a:solidFill>
                  <a:srgbClr val="272525"/>
                </a:solidFill>
                <a:latin typeface="Inter" pitchFamily="34" charset="0"/>
                <a:ea typeface="Inter" pitchFamily="34" charset="-122"/>
                <a:cs typeface="Inter" pitchFamily="34" charset="-120"/>
              </a:rPr>
              <a:t> </a:t>
            </a:r>
            <a:r>
              <a:rPr lang="en-US" sz="2000" dirty="0" err="1">
                <a:solidFill>
                  <a:srgbClr val="272525"/>
                </a:solidFill>
                <a:latin typeface="Inter" pitchFamily="34" charset="0"/>
                <a:ea typeface="Inter" pitchFamily="34" charset="-122"/>
                <a:cs typeface="Inter" pitchFamily="34" charset="-120"/>
              </a:rPr>
              <a:t>ambiental</a:t>
            </a:r>
            <a:r>
              <a:rPr lang="en-US" sz="2000" dirty="0">
                <a:solidFill>
                  <a:srgbClr val="272525"/>
                </a:solidFill>
                <a:latin typeface="Inter" pitchFamily="34" charset="0"/>
                <a:ea typeface="Inter" pitchFamily="34" charset="-122"/>
                <a:cs typeface="Inter" pitchFamily="34" charset="-120"/>
              </a:rPr>
              <a:t>.   </a:t>
            </a:r>
            <a:endParaRPr lang="en-US" sz="1500" dirty="0"/>
          </a:p>
        </p:txBody>
      </p:sp>
      <p:sp>
        <p:nvSpPr>
          <p:cNvPr id="4" name="Shape 2"/>
          <p:cNvSpPr/>
          <p:nvPr/>
        </p:nvSpPr>
        <p:spPr>
          <a:xfrm>
            <a:off x="682228" y="2878098"/>
            <a:ext cx="4310301" cy="4794647"/>
          </a:xfrm>
          <a:prstGeom prst="roundRect">
            <a:avLst>
              <a:gd name="adj" fmla="val 1899"/>
            </a:avLst>
          </a:prstGeom>
          <a:solidFill>
            <a:srgbClr val="DADBF1"/>
          </a:solidFill>
          <a:ln w="7620">
            <a:solidFill>
              <a:srgbClr val="C0C1D7"/>
            </a:solidFill>
            <a:prstDash val="solid"/>
          </a:ln>
        </p:spPr>
      </p:sp>
      <p:sp>
        <p:nvSpPr>
          <p:cNvPr id="5" name="Text 3"/>
          <p:cNvSpPr/>
          <p:nvPr/>
        </p:nvSpPr>
        <p:spPr>
          <a:xfrm>
            <a:off x="884753" y="3080623"/>
            <a:ext cx="3435072" cy="304562"/>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latin typeface="Inter Bold" pitchFamily="34" charset="0"/>
                <a:ea typeface="Inter Bold" pitchFamily="34" charset="-122"/>
                <a:cs typeface="Inter Bold" pitchFamily="34" charset="-120"/>
              </a:rPr>
              <a:t>1) Clustering (Agrupamiento)</a:t>
            </a:r>
            <a:endParaRPr lang="en-US" sz="1900" dirty="0"/>
          </a:p>
        </p:txBody>
      </p:sp>
      <p:sp>
        <p:nvSpPr>
          <p:cNvPr id="6" name="Text 4"/>
          <p:cNvSpPr/>
          <p:nvPr/>
        </p:nvSpPr>
        <p:spPr>
          <a:xfrm>
            <a:off x="884753" y="3485673"/>
            <a:ext cx="3905250" cy="2142241"/>
          </a:xfrm>
          <a:prstGeom prst="rect">
            <a:avLst/>
          </a:prstGeom>
          <a:noFill/>
          <a:ln/>
        </p:spPr>
        <p:txBody>
          <a:bodyPr wrap="square" lIns="0" tIns="0" rIns="0" bIns="0" rtlCol="0" anchor="t"/>
          <a:lstStyle/>
          <a:p>
            <a:pPr>
              <a:lnSpc>
                <a:spcPts val="2250"/>
              </a:lnSpc>
            </a:pPr>
            <a:r>
              <a:rPr lang="en-US" sz="1500" dirty="0" err="1">
                <a:solidFill>
                  <a:srgbClr val="272525"/>
                </a:solidFill>
                <a:latin typeface="Inter" pitchFamily="34" charset="0"/>
                <a:ea typeface="Inter" pitchFamily="34" charset="-122"/>
                <a:cs typeface="Inter" pitchFamily="34" charset="-120"/>
              </a:rPr>
              <a:t>Biología</a:t>
            </a:r>
            <a:r>
              <a:rPr lang="en-US" sz="1500" dirty="0">
                <a:solidFill>
                  <a:srgbClr val="272525"/>
                </a:solidFill>
                <a:latin typeface="Inter" pitchFamily="34" charset="0"/>
                <a:ea typeface="Inter" pitchFamily="34" charset="-122"/>
              </a:rPr>
              <a:t>: </a:t>
            </a:r>
            <a:r>
              <a:rPr lang="es-EC" sz="1500" dirty="0">
                <a:solidFill>
                  <a:srgbClr val="272525"/>
                </a:solidFill>
                <a:latin typeface="Inter" pitchFamily="34" charset="0"/>
                <a:ea typeface="Inter" pitchFamily="34" charset="-122"/>
              </a:rPr>
              <a:t>Los árboles no se distribuyen al azar, sino que siguen una regla de proximidad para formar parches o "islas". Este algoritmo busca minimizar la exposición individual y maximizar la densidad del grupo, creando una estructura de "colmena" vegetal.</a:t>
            </a:r>
            <a:endParaRPr lang="en-US" sz="1500" dirty="0">
              <a:solidFill>
                <a:srgbClr val="272525"/>
              </a:solidFill>
              <a:latin typeface="Inter" pitchFamily="34" charset="0"/>
              <a:ea typeface="Inter" pitchFamily="34" charset="-122"/>
            </a:endParaRPr>
          </a:p>
        </p:txBody>
      </p:sp>
      <p:sp>
        <p:nvSpPr>
          <p:cNvPr id="8" name="Text 6"/>
          <p:cNvSpPr/>
          <p:nvPr/>
        </p:nvSpPr>
        <p:spPr>
          <a:xfrm>
            <a:off x="884753" y="5716072"/>
            <a:ext cx="3905250" cy="1449586"/>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Aplicación: Planificación de zonas </a:t>
            </a:r>
            <a:r>
              <a:rPr lang="en-US" sz="1500" dirty="0" err="1">
                <a:solidFill>
                  <a:srgbClr val="272525"/>
                </a:solidFill>
                <a:latin typeface="Inter" pitchFamily="34" charset="0"/>
                <a:ea typeface="Inter" pitchFamily="34" charset="-122"/>
                <a:cs typeface="Inter" pitchFamily="34" charset="-120"/>
              </a:rPr>
              <a:t>verdes</a:t>
            </a:r>
            <a:r>
              <a:rPr lang="en-US" sz="1500" dirty="0">
                <a:solidFill>
                  <a:srgbClr val="272525"/>
                </a:solidFill>
                <a:latin typeface="Inter" pitchFamily="34" charset="0"/>
                <a:ea typeface="Inter" pitchFamily="34" charset="-122"/>
                <a:cs typeface="Inter" pitchFamily="34" charset="-120"/>
              </a:rPr>
              <a:t> </a:t>
            </a:r>
            <a:r>
              <a:rPr lang="en-US" sz="1500" dirty="0" err="1">
                <a:solidFill>
                  <a:srgbClr val="272525"/>
                </a:solidFill>
                <a:latin typeface="Inter" pitchFamily="34" charset="0"/>
                <a:ea typeface="Inter" pitchFamily="34" charset="-122"/>
                <a:cs typeface="Inter" pitchFamily="34" charset="-120"/>
              </a:rPr>
              <a:t>urbanas</a:t>
            </a:r>
            <a:r>
              <a:rPr lang="en-US" sz="1500" dirty="0">
                <a:solidFill>
                  <a:srgbClr val="272525"/>
                </a:solidFill>
                <a:latin typeface="Inter" pitchFamily="34" charset="0"/>
                <a:ea typeface="Inter" pitchFamily="34" charset="-122"/>
                <a:cs typeface="Inter" pitchFamily="34" charset="-120"/>
              </a:rPr>
              <a:t>. </a:t>
            </a:r>
            <a:r>
              <a:rPr lang="en-US" sz="1500" dirty="0" err="1">
                <a:solidFill>
                  <a:srgbClr val="272525"/>
                </a:solidFill>
                <a:latin typeface="Inter" pitchFamily="34" charset="0"/>
                <a:ea typeface="Inter" pitchFamily="34" charset="-122"/>
                <a:cs typeface="Inter" pitchFamily="34" charset="-120"/>
              </a:rPr>
              <a:t>Diseñar</a:t>
            </a:r>
            <a:r>
              <a:rPr lang="en-US" sz="1500" dirty="0">
                <a:solidFill>
                  <a:srgbClr val="272525"/>
                </a:solidFill>
                <a:latin typeface="Inter" pitchFamily="34" charset="0"/>
                <a:ea typeface="Inter" pitchFamily="34" charset="-122"/>
                <a:cs typeface="Inter" pitchFamily="34" charset="-120"/>
              </a:rPr>
              <a:t> grupos de vegetación estratégica para crear “islas térmicas” que mitiguen heladas urbanas y microclimas extremos.</a:t>
            </a:r>
            <a:endParaRPr lang="en-US" sz="1500" dirty="0"/>
          </a:p>
        </p:txBody>
      </p:sp>
      <p:sp>
        <p:nvSpPr>
          <p:cNvPr id="9" name="Shape 7"/>
          <p:cNvSpPr/>
          <p:nvPr/>
        </p:nvSpPr>
        <p:spPr>
          <a:xfrm>
            <a:off x="5159931" y="2878098"/>
            <a:ext cx="4310420" cy="4794647"/>
          </a:xfrm>
          <a:prstGeom prst="roundRect">
            <a:avLst>
              <a:gd name="adj" fmla="val 1899"/>
            </a:avLst>
          </a:prstGeom>
          <a:solidFill>
            <a:srgbClr val="DADBF1"/>
          </a:solidFill>
          <a:ln w="7620">
            <a:solidFill>
              <a:srgbClr val="C0C1D7"/>
            </a:solidFill>
            <a:prstDash val="solid"/>
          </a:ln>
        </p:spPr>
      </p:sp>
      <p:sp>
        <p:nvSpPr>
          <p:cNvPr id="10" name="Text 8"/>
          <p:cNvSpPr/>
          <p:nvPr/>
        </p:nvSpPr>
        <p:spPr>
          <a:xfrm>
            <a:off x="5362456" y="3080623"/>
            <a:ext cx="3905369" cy="609124"/>
          </a:xfrm>
          <a:prstGeom prst="rect">
            <a:avLst/>
          </a:prstGeom>
          <a:noFill/>
          <a:ln/>
        </p:spPr>
        <p:txBody>
          <a:bodyPr wrap="square" lIns="0" tIns="0" rIns="0" bIns="0" rtlCol="0" anchor="t"/>
          <a:lstStyle/>
          <a:p>
            <a:pPr marL="0" indent="0" algn="l">
              <a:lnSpc>
                <a:spcPts val="2350"/>
              </a:lnSpc>
              <a:buNone/>
            </a:pPr>
            <a:r>
              <a:rPr lang="en-US" sz="1900" b="1" dirty="0">
                <a:solidFill>
                  <a:srgbClr val="272525"/>
                </a:solidFill>
                <a:latin typeface="Inter Bold" pitchFamily="34" charset="0"/>
                <a:ea typeface="Inter Bold" pitchFamily="34" charset="-122"/>
                <a:cs typeface="Inter Bold" pitchFamily="34" charset="-120"/>
              </a:rPr>
              <a:t>2) Extracción de características (feature extraction)</a:t>
            </a:r>
            <a:endParaRPr lang="en-US" sz="1900" dirty="0"/>
          </a:p>
        </p:txBody>
      </p:sp>
      <p:sp>
        <p:nvSpPr>
          <p:cNvPr id="11" name="Text 9"/>
          <p:cNvSpPr/>
          <p:nvPr/>
        </p:nvSpPr>
        <p:spPr>
          <a:xfrm>
            <a:off x="5362456" y="3790236"/>
            <a:ext cx="3905369" cy="1159669"/>
          </a:xfrm>
          <a:prstGeom prst="rect">
            <a:avLst/>
          </a:prstGeom>
          <a:noFill/>
          <a:ln/>
        </p:spPr>
        <p:txBody>
          <a:bodyPr wrap="square" lIns="0" tIns="0" rIns="0" bIns="0" rtlCol="0" anchor="t"/>
          <a:lstStyle/>
          <a:p>
            <a:pPr>
              <a:lnSpc>
                <a:spcPts val="2250"/>
              </a:lnSpc>
            </a:pPr>
            <a:r>
              <a:rPr lang="en-US" sz="1500" dirty="0">
                <a:solidFill>
                  <a:srgbClr val="272525"/>
                </a:solidFill>
                <a:latin typeface="Inter" pitchFamily="34" charset="0"/>
                <a:ea typeface="Inter" pitchFamily="34" charset="-122"/>
                <a:cs typeface="Inter" pitchFamily="34" charset="-120"/>
              </a:rPr>
              <a:t>Biología: </a:t>
            </a:r>
            <a:r>
              <a:rPr lang="es-EC" sz="1500" dirty="0">
                <a:solidFill>
                  <a:srgbClr val="272525"/>
                </a:solidFill>
                <a:latin typeface="Inter" pitchFamily="34" charset="0"/>
                <a:ea typeface="Inter" pitchFamily="34" charset="-122"/>
                <a:cs typeface="Inter" pitchFamily="34" charset="-120"/>
              </a:rPr>
              <a:t> La corteza laminada actúa como un algoritmo de filtrado físico. Separa el agua líquida del flujo de neblina mediante un proceso de interceptación mecánica, transformando un recurso atmosférico disperso en un recurso hídrico concentrado en el suelo.</a:t>
            </a:r>
            <a:endParaRPr lang="en-US" sz="1500" dirty="0"/>
          </a:p>
        </p:txBody>
      </p:sp>
      <p:sp>
        <p:nvSpPr>
          <p:cNvPr id="13" name="Text 11"/>
          <p:cNvSpPr/>
          <p:nvPr/>
        </p:nvSpPr>
        <p:spPr>
          <a:xfrm>
            <a:off x="5354709" y="5983486"/>
            <a:ext cx="3905369" cy="1159669"/>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Aplicación: Diseño de captadores de </a:t>
            </a:r>
            <a:r>
              <a:rPr lang="en-US" sz="1500" dirty="0" err="1">
                <a:solidFill>
                  <a:srgbClr val="272525"/>
                </a:solidFill>
                <a:latin typeface="Inter" pitchFamily="34" charset="0"/>
                <a:ea typeface="Inter" pitchFamily="34" charset="-122"/>
                <a:cs typeface="Inter" pitchFamily="34" charset="-120"/>
              </a:rPr>
              <a:t>niebla</a:t>
            </a:r>
            <a:r>
              <a:rPr lang="en-US" sz="1500" dirty="0">
                <a:solidFill>
                  <a:srgbClr val="272525"/>
                </a:solidFill>
                <a:latin typeface="Inter" pitchFamily="34" charset="0"/>
                <a:ea typeface="Inter" pitchFamily="34" charset="-122"/>
                <a:cs typeface="Inter" pitchFamily="34" charset="-120"/>
              </a:rPr>
              <a:t>,  optimizar materiales y texturas para redes de recolección de agua en zonas áridas y rurales.</a:t>
            </a:r>
            <a:endParaRPr lang="en-US" sz="1500" dirty="0"/>
          </a:p>
        </p:txBody>
      </p:sp>
      <p:sp>
        <p:nvSpPr>
          <p:cNvPr id="14" name="Shape 12"/>
          <p:cNvSpPr/>
          <p:nvPr/>
        </p:nvSpPr>
        <p:spPr>
          <a:xfrm>
            <a:off x="9637752" y="2878098"/>
            <a:ext cx="4310420" cy="4794647"/>
          </a:xfrm>
          <a:prstGeom prst="roundRect">
            <a:avLst>
              <a:gd name="adj" fmla="val 1899"/>
            </a:avLst>
          </a:prstGeom>
          <a:solidFill>
            <a:srgbClr val="DADBF1"/>
          </a:solidFill>
          <a:ln w="7620">
            <a:solidFill>
              <a:srgbClr val="C0C1D7"/>
            </a:solidFill>
            <a:prstDash val="solid"/>
          </a:ln>
        </p:spPr>
      </p:sp>
      <p:sp>
        <p:nvSpPr>
          <p:cNvPr id="15" name="Text 13"/>
          <p:cNvSpPr/>
          <p:nvPr/>
        </p:nvSpPr>
        <p:spPr>
          <a:xfrm>
            <a:off x="9840277" y="3080623"/>
            <a:ext cx="3905369" cy="609124"/>
          </a:xfrm>
          <a:prstGeom prst="rect">
            <a:avLst/>
          </a:prstGeom>
          <a:noFill/>
          <a:ln/>
        </p:spPr>
        <p:txBody>
          <a:bodyPr wrap="square" lIns="0" tIns="0" rIns="0" bIns="0" rtlCol="0" anchor="t"/>
          <a:lstStyle/>
          <a:p>
            <a:pPr marL="0" indent="0" algn="l">
              <a:lnSpc>
                <a:spcPts val="2350"/>
              </a:lnSpc>
              <a:buNone/>
            </a:pPr>
            <a:r>
              <a:rPr lang="en-US" sz="1900" b="1" dirty="0">
                <a:solidFill>
                  <a:srgbClr val="272525"/>
                </a:solidFill>
                <a:latin typeface="Inter Bold" pitchFamily="34" charset="0"/>
                <a:ea typeface="Inter Bold" pitchFamily="34" charset="-122"/>
                <a:cs typeface="Inter Bold" pitchFamily="34" charset="-120"/>
              </a:rPr>
              <a:t>3) Sistemas cooperativos y control distribuido</a:t>
            </a:r>
            <a:endParaRPr lang="en-US" sz="1900" dirty="0"/>
          </a:p>
        </p:txBody>
      </p:sp>
      <p:sp>
        <p:nvSpPr>
          <p:cNvPr id="16" name="Text 14"/>
          <p:cNvSpPr/>
          <p:nvPr/>
        </p:nvSpPr>
        <p:spPr>
          <a:xfrm>
            <a:off x="9840277" y="3790236"/>
            <a:ext cx="3905369" cy="1159669"/>
          </a:xfrm>
          <a:prstGeom prst="rect">
            <a:avLst/>
          </a:prstGeom>
          <a:noFill/>
          <a:ln/>
        </p:spPr>
        <p:txBody>
          <a:bodyPr wrap="square" lIns="0" tIns="0" rIns="0" bIns="0" rtlCol="0" anchor="t"/>
          <a:lstStyle/>
          <a:p>
            <a:pPr>
              <a:lnSpc>
                <a:spcPts val="2250"/>
              </a:lnSpc>
            </a:pPr>
            <a:r>
              <a:rPr lang="en-US" sz="1500" dirty="0">
                <a:solidFill>
                  <a:srgbClr val="272525"/>
                </a:solidFill>
                <a:latin typeface="Inter" pitchFamily="34" charset="0"/>
                <a:ea typeface="Inter" pitchFamily="34" charset="-122"/>
                <a:cs typeface="Inter" pitchFamily="34" charset="-120"/>
              </a:rPr>
              <a:t>Biología: </a:t>
            </a:r>
            <a:r>
              <a:rPr lang="es-EC" sz="1500" dirty="0">
                <a:solidFill>
                  <a:srgbClr val="272525"/>
                </a:solidFill>
                <a:latin typeface="Inter" pitchFamily="34" charset="0"/>
                <a:ea typeface="Inter" pitchFamily="34" charset="-122"/>
                <a:cs typeface="Inter" pitchFamily="34" charset="-120"/>
              </a:rPr>
              <a:t>El bosque opera con un sistema de retroalimentación térmica. Cada árbol aporta una pequeña cantidad de retención de calor; al superar un umbral de densidad, el sistema genera una propiedad emergente (el microclima) que protege a todos los nodos (árboles) del sistema contra el error crítico (la congelación).</a:t>
            </a:r>
            <a:endParaRPr lang="en-US" sz="1500" dirty="0"/>
          </a:p>
        </p:txBody>
      </p:sp>
      <p:sp>
        <p:nvSpPr>
          <p:cNvPr id="18" name="Text 16"/>
          <p:cNvSpPr/>
          <p:nvPr/>
        </p:nvSpPr>
        <p:spPr>
          <a:xfrm>
            <a:off x="9840277" y="6310551"/>
            <a:ext cx="3905369" cy="1159669"/>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Aplicación: Eficiencia energética en redes de </a:t>
            </a:r>
            <a:r>
              <a:rPr lang="en-US" sz="1500" dirty="0" err="1">
                <a:solidFill>
                  <a:srgbClr val="272525"/>
                </a:solidFill>
                <a:latin typeface="Inter" pitchFamily="34" charset="0"/>
                <a:ea typeface="Inter" pitchFamily="34" charset="-122"/>
                <a:cs typeface="Inter" pitchFamily="34" charset="-120"/>
              </a:rPr>
              <a:t>edificios</a:t>
            </a:r>
            <a:r>
              <a:rPr lang="en-US" sz="1500" dirty="0">
                <a:solidFill>
                  <a:srgbClr val="272525"/>
                </a:solidFill>
                <a:latin typeface="Inter" pitchFamily="34" charset="0"/>
                <a:ea typeface="Inter" pitchFamily="34" charset="-122"/>
                <a:cs typeface="Inter" pitchFamily="34" charset="-120"/>
              </a:rPr>
              <a:t>, </a:t>
            </a:r>
            <a:r>
              <a:rPr lang="en-US" sz="1500" dirty="0" err="1">
                <a:solidFill>
                  <a:srgbClr val="272525"/>
                </a:solidFill>
                <a:latin typeface="Inter" pitchFamily="34" charset="0"/>
                <a:ea typeface="Inter" pitchFamily="34" charset="-122"/>
                <a:cs typeface="Inter" pitchFamily="34" charset="-120"/>
              </a:rPr>
              <a:t>coordinación</a:t>
            </a:r>
            <a:r>
              <a:rPr lang="en-US" sz="1500" dirty="0">
                <a:solidFill>
                  <a:srgbClr val="272525"/>
                </a:solidFill>
                <a:latin typeface="Inter" pitchFamily="34" charset="0"/>
                <a:ea typeface="Inter" pitchFamily="34" charset="-122"/>
                <a:cs typeface="Inter" pitchFamily="34" charset="-120"/>
              </a:rPr>
              <a:t> distribuida entre edificios para compartir calor residual y reducir picos de demanda.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956905" y="520660"/>
            <a:ext cx="12716470" cy="1151811"/>
          </a:xfrm>
          <a:prstGeom prst="rect">
            <a:avLst/>
          </a:prstGeom>
          <a:noFill/>
          <a:ln/>
        </p:spPr>
        <p:txBody>
          <a:bodyPr wrap="square" lIns="0" tIns="0" rIns="0" bIns="0" rtlCol="0" anchor="t"/>
          <a:lstStyle/>
          <a:p>
            <a:pPr marL="0" indent="0" algn="l">
              <a:lnSpc>
                <a:spcPts val="4500"/>
              </a:lnSpc>
              <a:buNone/>
            </a:pPr>
            <a:r>
              <a:rPr lang="en-US" sz="3600" b="1" dirty="0">
                <a:solidFill>
                  <a:srgbClr val="000000"/>
                </a:solidFill>
                <a:latin typeface="Inter Bold" pitchFamily="34" charset="0"/>
                <a:ea typeface="Inter Bold" pitchFamily="34" charset="-122"/>
                <a:cs typeface="Inter Bold" pitchFamily="34" charset="-120"/>
              </a:rPr>
              <a:t>Ejemplo práctico: captadores de niebla inspirados en Polylepis</a:t>
            </a:r>
            <a:endParaRPr lang="en-US" sz="3600" dirty="0"/>
          </a:p>
        </p:txBody>
      </p:sp>
      <p:pic>
        <p:nvPicPr>
          <p:cNvPr id="3" name="Image 0" descr="preencoded.png"/>
          <p:cNvPicPr>
            <a:picLocks noChangeAspect="1"/>
          </p:cNvPicPr>
          <p:nvPr/>
        </p:nvPicPr>
        <p:blipFill>
          <a:blip r:embed="rId3"/>
          <a:stretch>
            <a:fillRect/>
          </a:stretch>
        </p:blipFill>
        <p:spPr>
          <a:xfrm>
            <a:off x="956905" y="2065377"/>
            <a:ext cx="5475089" cy="5475089"/>
          </a:xfrm>
          <a:prstGeom prst="rect">
            <a:avLst/>
          </a:prstGeom>
        </p:spPr>
      </p:pic>
      <p:sp>
        <p:nvSpPr>
          <p:cNvPr id="4" name="Text 1"/>
          <p:cNvSpPr/>
          <p:nvPr/>
        </p:nvSpPr>
        <p:spPr>
          <a:xfrm>
            <a:off x="6889194" y="2953941"/>
            <a:ext cx="6791682" cy="2298723"/>
          </a:xfrm>
          <a:prstGeom prst="rect">
            <a:avLst/>
          </a:prstGeom>
          <a:noFill/>
          <a:ln/>
        </p:spPr>
        <p:txBody>
          <a:bodyPr wrap="square" lIns="0" tIns="0" rIns="0" bIns="0" rtlCol="0" anchor="t"/>
          <a:lstStyle/>
          <a:p>
            <a:pPr marL="0" indent="0" algn="l">
              <a:lnSpc>
                <a:spcPts val="2100"/>
              </a:lnSpc>
              <a:buNone/>
            </a:pPr>
            <a:r>
              <a:rPr lang="en-US" sz="2000" dirty="0">
                <a:solidFill>
                  <a:srgbClr val="272525"/>
                </a:solidFill>
                <a:latin typeface="Inter" pitchFamily="34" charset="0"/>
                <a:ea typeface="Inter" pitchFamily="34" charset="-122"/>
                <a:cs typeface="Inter" pitchFamily="34" charset="-120"/>
              </a:rPr>
              <a:t>Propuesta: Implementar paneles con textura micro‑estriada (inspirada en corteza) organizados en grupos optimizados por un algoritmo de clustering. Cada panel extrae agua por condensación (extracción de características) y los módulos se coordinan para maximizar eficiencia según viento y humedad (control distribuido).</a:t>
            </a:r>
            <a:endParaRPr lang="en-US" sz="2000" dirty="0"/>
          </a:p>
        </p:txBody>
      </p:sp>
      <p:sp>
        <p:nvSpPr>
          <p:cNvPr id="5" name="Text 2"/>
          <p:cNvSpPr/>
          <p:nvPr/>
        </p:nvSpPr>
        <p:spPr>
          <a:xfrm>
            <a:off x="6881693" y="5252664"/>
            <a:ext cx="6791682" cy="1151811"/>
          </a:xfrm>
          <a:prstGeom prst="rect">
            <a:avLst/>
          </a:prstGeom>
          <a:noFill/>
          <a:ln/>
        </p:spPr>
        <p:txBody>
          <a:bodyPr wrap="square" lIns="0" tIns="0" rIns="0" bIns="0" rtlCol="0" anchor="t"/>
          <a:lstStyle/>
          <a:p>
            <a:pPr marL="0" indent="0" algn="l">
              <a:lnSpc>
                <a:spcPts val="2100"/>
              </a:lnSpc>
              <a:buNone/>
            </a:pPr>
            <a:r>
              <a:rPr lang="en-US" sz="2000" dirty="0">
                <a:solidFill>
                  <a:srgbClr val="272525"/>
                </a:solidFill>
                <a:latin typeface="Inter" pitchFamily="34" charset="0"/>
                <a:ea typeface="Inter" pitchFamily="34" charset="-122"/>
                <a:cs typeface="Inter" pitchFamily="34" charset="-120"/>
              </a:rPr>
              <a:t>Resultado esperado: suministro complementario de agua potable, menor dependencia de bombas y microclimas locales más favorables para la revegetación.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525</Words>
  <Application>Microsoft Office PowerPoint</Application>
  <PresentationFormat>Personalizado</PresentationFormat>
  <Paragraphs>25</Paragraphs>
  <Slides>3</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Inter Bold</vt:lpstr>
      <vt:lpstr>Calibri</vt:lpstr>
      <vt:lpstr>Arial</vt:lpstr>
      <vt:lpstr>Inter</vt:lpstr>
      <vt:lpstr>Office Theme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lastModifiedBy>Luis Pumisacho</cp:lastModifiedBy>
  <cp:revision>6</cp:revision>
  <dcterms:created xsi:type="dcterms:W3CDTF">2026-04-18T00:22:10Z</dcterms:created>
  <dcterms:modified xsi:type="dcterms:W3CDTF">2026-04-18T00:59:05Z</dcterms:modified>
</cp:coreProperties>
</file>
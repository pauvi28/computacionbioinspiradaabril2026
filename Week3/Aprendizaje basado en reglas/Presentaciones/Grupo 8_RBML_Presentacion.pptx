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BADC3-E207-430C-8F19-60BBEC41DAC1}" type="datetimeFigureOut">
              <a:t>02/05/2026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E9240-650A-414C-88BA-80664188C8EA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9286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Basado en Reglas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Machine Learning (RBML)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24871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evolutivas para detección de anomalías en tráfico de red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315968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443984"/>
            <a:ext cx="1920240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4439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¿Qué es RBML?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32888" y="4443984"/>
            <a:ext cx="1920240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32888" y="44439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Fundamento DEAP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08576" y="4443984"/>
            <a:ext cx="1920240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44439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Aplicaciones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84264" y="4443984"/>
            <a:ext cx="1920240" cy="384048"/>
          </a:xfrm>
          <a:prstGeom prst="rect">
            <a:avLst/>
          </a:prstGeom>
          <a:solidFill>
            <a:srgbClr val="162032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84264" y="44439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Buenas Prácticas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¿Qué es el Aprendizaje Basado en Reglas (RBML)?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aprende reglas explícitas para tomar decisiones: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91056"/>
            <a:ext cx="3657600" cy="502920"/>
          </a:xfrm>
          <a:prstGeom prst="rect">
            <a:avLst/>
          </a:prstGeom>
          <a:solidFill>
            <a:srgbClr val="0D1B2A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9105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condición  ENTONCES  resultado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en el código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05456"/>
            <a:ext cx="3657600" cy="457200"/>
          </a:xfrm>
          <a:prstGeom prst="rect">
            <a:avLst/>
          </a:prstGeom>
          <a:solidFill>
            <a:srgbClr val="0D1B2A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50545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(feature_idx, operator_type, threshold_value)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0540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28416"/>
            <a:ext cx="3657600" cy="475488"/>
          </a:xfrm>
          <a:prstGeom prst="rect">
            <a:avLst/>
          </a:prstGeom>
          <a:solidFill>
            <a:srgbClr val="0D1B2A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32841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packet_size_bytes &gt; 1800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ENTONCES  ANOMALÍA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777240"/>
            <a:ext cx="4251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36592" y="8961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decide el modelo?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36592" y="12618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individuo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conjunto de reglas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6592" y="16276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dato analizado: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19472" y="2011680"/>
            <a:ext cx="3703320" cy="402336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01168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 menos una regla se cumple</a:t>
            </a: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ANOMALÍA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19472" y="2487168"/>
            <a:ext cx="3703320" cy="402336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48716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ninguna regla se cumple</a:t>
            </a: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NORMAL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36592" y="30449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en código: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36592" y="3319272"/>
            <a:ext cx="3931920" cy="658368"/>
          </a:xfrm>
          <a:prstGeom prst="rect">
            <a:avLst/>
          </a:prstGeom>
          <a:solidFill>
            <a:srgbClr val="0D1B2A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927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feature_value &gt; threshold_value: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is_anomaly = True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4709160"/>
            <a:ext cx="85496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091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El modelo aprende un conjunto de reglas que separan tráfico normal de anómalo.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Fundamento para usar DEAP en RBML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en RBML: ¿Cómo encontrar las mejores reglas posibles?  El espacio es enorme: variables · umbrales · combinaciones.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2029968" cy="3401568"/>
          </a:xfrm>
          <a:prstGeom prst="rect">
            <a:avLst/>
          </a:prstGeom>
          <a:solidFill>
            <a:srgbClr val="162032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07008"/>
            <a:ext cx="2029968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" y="120700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700784"/>
            <a:ext cx="1847088" cy="1389888"/>
          </a:xfrm>
          <a:prstGeom prst="rect">
            <a:avLst/>
          </a:prstGeom>
          <a:solidFill>
            <a:srgbClr val="0D1B2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19072"/>
            <a:ext cx="18105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creator.create(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"Individual",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fitness=FitnessMax)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18211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individuo es una lista de reglas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50592" y="1207008"/>
            <a:ext cx="2029968" cy="3401568"/>
          </a:xfrm>
          <a:prstGeom prst="rect">
            <a:avLst/>
          </a:prstGeom>
          <a:solidFill>
            <a:srgbClr val="162032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0592" y="1207008"/>
            <a:ext cx="2029968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52928" y="120700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aleatorias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42032" y="1700784"/>
            <a:ext cx="1847088" cy="1389888"/>
          </a:xfrm>
          <a:prstGeom prst="rect">
            <a:avLst/>
          </a:prstGeom>
          <a:solidFill>
            <a:srgbClr val="0D1B2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1719072"/>
            <a:ext cx="18105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toolbox.register(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"attr_rule",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create_rule)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42032" y="318211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reglas iniciales al azar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26864" y="1207008"/>
            <a:ext cx="2029968" cy="3401568"/>
          </a:xfrm>
          <a:prstGeom prst="rect">
            <a:avLst/>
          </a:prstGeom>
          <a:solidFill>
            <a:srgbClr val="162032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1207008"/>
            <a:ext cx="2029968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0" y="120700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(fitness)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18304" y="1700784"/>
            <a:ext cx="1847088" cy="1389888"/>
          </a:xfrm>
          <a:prstGeom prst="rect">
            <a:avLst/>
          </a:prstGeom>
          <a:solidFill>
            <a:srgbClr val="0D1B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1719072"/>
            <a:ext cx="18105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f1_score(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predictions)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18304" y="318211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 el F1-Score del modelo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3136" y="1207008"/>
            <a:ext cx="2029968" cy="3401568"/>
          </a:xfrm>
          <a:prstGeom prst="rect">
            <a:avLst/>
          </a:prstGeom>
          <a:solidFill>
            <a:srgbClr val="162032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03136" y="1207008"/>
            <a:ext cx="2029968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03136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05472" y="120700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94576" y="1700784"/>
            <a:ext cx="1847088" cy="1389888"/>
          </a:xfrm>
          <a:prstGeom prst="rect">
            <a:avLst/>
          </a:prstGeom>
          <a:solidFill>
            <a:srgbClr val="0D1B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12864" y="1719072"/>
            <a:ext cx="18105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.eaMuPlusLambda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(...)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94576" y="318211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Muta, evalúa y selecciona las mejores reglas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645152"/>
            <a:ext cx="8549640" cy="402336"/>
          </a:xfrm>
          <a:prstGeom prst="rect">
            <a:avLst/>
          </a:prstGeom>
          <a:solidFill>
            <a:srgbClr val="1B2B45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4645152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Busca automáticamente reglas óptimas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542032" y="4645152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Optimiza combinaciones complejas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00016" y="4645152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Evita diseñar reglas manualmente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58000" y="4645152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Se adapta a los datos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Campos de Aplicación del RBML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cuando se necesita interpretabilidad, reglas claras y datos estructurados.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889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88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97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Ciberseguridad  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499616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intrusiones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79222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tráfico de 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121408"/>
            <a:ext cx="2587752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121408"/>
            <a:ext cx="2478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packet_size &gt; 1800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ENTONCES ANOMALÍA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18688" y="109728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097280"/>
            <a:ext cx="27889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097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Finanzas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28416" y="1499616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fraude bancario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28416" y="179222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transacciones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28416" y="2121408"/>
            <a:ext cx="2587752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121408"/>
            <a:ext cx="2478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monto &gt; X 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ubicación sospechosa → fraude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63056" y="109728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63056" y="1097280"/>
            <a:ext cx="278892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1097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Salud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72784" y="1499616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médico asistido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72784" y="179222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signos vitales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72784" y="2121408"/>
            <a:ext cx="2587752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2121408"/>
            <a:ext cx="2478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temperatura &gt; 38 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presión baja → infección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572768" y="2999232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572768" y="2999232"/>
            <a:ext cx="2788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82496" y="29992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Industria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82496" y="3401568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predictivo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82496" y="3694176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de maquinaria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82496" y="4023360"/>
            <a:ext cx="2587752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37360" y="4023360"/>
            <a:ext cx="2478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vibración &gt; 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posible falla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17136" y="2999232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17136" y="2999232"/>
            <a:ext cx="27889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26864" y="29992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Marketing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26864" y="3401568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de clientes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26864" y="3694176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comportamiento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26864" y="4023360"/>
            <a:ext cx="2587752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4023360"/>
            <a:ext cx="2478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compras &gt; X 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frecuencia alta → premium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RBML | Aplicaciones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Buenas Prácticas — Diseño del Sistema (1/2)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06240" cy="1874520"/>
          </a:xfrm>
          <a:prstGeom prst="rect">
            <a:avLst/>
          </a:prstGeom>
          <a:solidFill>
            <a:srgbClr val="162032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47548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77240"/>
            <a:ext cx="4754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86868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bien las variables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1248" y="1216152"/>
            <a:ext cx="352044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21615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FEATURE_NAMES = [...]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FEATURE_RANGES = {...}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" y="19476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Evita reglas absurdas fuera de rango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4206240" cy="1874520"/>
          </a:xfrm>
          <a:prstGeom prst="rect">
            <a:avLst/>
          </a:prstGeom>
          <a:solidFill>
            <a:srgbClr val="162032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777240"/>
            <a:ext cx="475488" cy="1874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777240"/>
            <a:ext cx="4754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76088" y="86868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métrica adecuada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76088" y="1216152"/>
            <a:ext cx="352044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67528" y="121615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f1_score(...)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76088" y="19476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Dataset desbalanceado → importa detectar anomalías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770632"/>
            <a:ext cx="4206240" cy="1874520"/>
          </a:xfrm>
          <a:prstGeom prst="rect">
            <a:avLst/>
          </a:prstGeom>
          <a:solidFill>
            <a:srgbClr val="162032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770632"/>
            <a:ext cx="475488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770632"/>
            <a:ext cx="4754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1248" y="2862072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la complejidad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1248" y="3209544"/>
            <a:ext cx="352044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320954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N_RULES_PER_INDIVIDUAL = 10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3941064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Demasiadas reglas → sobreajuste y difícil interpretación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770632"/>
            <a:ext cx="4206240" cy="1874520"/>
          </a:xfrm>
          <a:prstGeom prst="rect">
            <a:avLst/>
          </a:prstGeom>
          <a:solidFill>
            <a:srgbClr val="162032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2770632"/>
            <a:ext cx="475488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770632"/>
            <a:ext cx="4754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276088" y="2862072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Balancear exploración vs refinamiento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76088" y="3209544"/>
            <a:ext cx="352044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67528" y="320954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rule_mut_prob = 0.3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param_mut_prob = 0.2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76088" y="3941064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Explorar nuevas reglas y refinar las buenas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Buenas Prácticas — Diseño del Sistema (2/2)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75488" cy="1874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754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86868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datos no vistos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41248" y="1216152"/>
            <a:ext cx="352044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21615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X_test, y_test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19476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Fundamental para saber si el modelo generaliza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420624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777240"/>
            <a:ext cx="47548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777240"/>
            <a:ext cx="4754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76088" y="86868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Interpretabilidad (clave en RBML)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76088" y="1216152"/>
            <a:ext cx="352044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67528" y="121615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print(f"SI ({FEATURE_NAMES[feature_idx]} ...)")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76088" y="194767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Puedes leer las reglas finales en lenguaje natural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770632"/>
            <a:ext cx="420624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70632"/>
            <a:ext cx="475488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770632"/>
            <a:ext cx="4754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" y="2862072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errores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1248" y="3209544"/>
            <a:ext cx="352044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320954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zero_division=0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1248" y="3941064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Evita fallos cuando no hay predicciones positivas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770632"/>
            <a:ext cx="420624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770632"/>
            <a:ext cx="475488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770632"/>
            <a:ext cx="47548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76088" y="2862072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76088" y="3209544"/>
            <a:ext cx="352044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67528" y="3209544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random.seed(42)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76088" y="3941064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Permite repetir y comparar experimentos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RBML | Buenas Prácticas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65760" y="1005840"/>
            <a:ext cx="8412480" cy="841248"/>
          </a:xfrm>
          <a:prstGeom prst="rect">
            <a:avLst/>
          </a:prstGeom>
          <a:solidFill>
            <a:srgbClr val="162032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005840"/>
            <a:ext cx="9144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00584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1005840"/>
            <a:ext cx="6126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IA que aprende reglas SI → ENTONCES para clasificar tráfico normal vs. anómalo.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1956816"/>
            <a:ext cx="8412480" cy="841248"/>
          </a:xfrm>
          <a:prstGeom prst="rect">
            <a:avLst/>
          </a:prstGeom>
          <a:solidFill>
            <a:srgbClr val="162032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956816"/>
            <a:ext cx="91440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1956816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DEAP?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23160" y="1956816"/>
            <a:ext cx="6126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la búsqueda de reglas óptimas mediante evolución: mutación, selección y fitness (F1-Score).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2907792"/>
            <a:ext cx="8412480" cy="841248"/>
          </a:xfrm>
          <a:prstGeom prst="rect">
            <a:avLst/>
          </a:prstGeom>
          <a:solidFill>
            <a:srgbClr val="162032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07792"/>
            <a:ext cx="91440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907792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aplica?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2907792"/>
            <a:ext cx="6126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Ciberseguridad, finanzas, salud, industria y marketing — cualquier dominio que requiera reglas interpretables.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858768"/>
            <a:ext cx="8412480" cy="841248"/>
          </a:xfrm>
          <a:prstGeom prst="rect">
            <a:avLst/>
          </a:prstGeom>
          <a:solidFill>
            <a:srgbClr val="162032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858768"/>
            <a:ext cx="91440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858768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23160" y="3858768"/>
            <a:ext cx="6126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bien definidas, F1-Score, complejidad controlada, validación, interpretabilidad y reproducibilidad.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4800600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737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Machine Learning con DEAP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Presentación en pantalla (16:9)</PresentationFormat>
  <Paragraphs>0</Paragraphs>
  <Slides>7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Aprendizaje Basado en Reglas (RBML)</dc:title>
  <dc:subject>PptxGenJS Presentation</dc:subject>
  <dc:creator>PptxGenJS</dc:creator>
  <cp:lastModifiedBy>PptxGenJS</cp:lastModifiedBy>
  <cp:revision>2</cp:revision>
  <dcterms:created xsi:type="dcterms:W3CDTF">2026-05-02T13:46:44Z</dcterms:created>
  <dcterms:modified xsi:type="dcterms:W3CDTF">2026-05-02T14:18:43Z</dcterms:modified>
</cp:coreProperties>
</file>
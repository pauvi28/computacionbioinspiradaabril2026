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  <p:embeddedFont>
      <p:font typeface="Urbanist Medium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8667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45393" y="2543175"/>
            <a:ext cx="97012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Clasificación</a:t>
            </a:r>
            <a:r>
              <a:rPr lang="en-US" sz="60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 err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Inteligente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476375" y="3648075"/>
            <a:ext cx="9239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Aprendizaje</a:t>
            </a:r>
            <a:r>
              <a:rPr lang="en-US" sz="21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Basado</a:t>
            </a:r>
            <a:r>
              <a:rPr lang="en-US" sz="21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21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Reglas </a:t>
            </a:r>
            <a:r>
              <a:rPr lang="en-US" sz="21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mediante</a:t>
            </a:r>
            <a:r>
              <a:rPr lang="en-US" sz="21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Algoritmos</a:t>
            </a:r>
            <a:r>
              <a:rPr lang="en-US" sz="21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Evolutivos</a:t>
            </a:r>
            <a:r>
              <a:rPr lang="en-US" sz="21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con DEAP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909887"/>
            <a:ext cx="952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977355" y="1393031"/>
            <a:ext cx="463057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¿</a:t>
            </a:r>
            <a:r>
              <a:rPr lang="en-US" sz="1800" b="1" i="0" u="none" strike="noStrike" cap="none" dirty="0" err="1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Qué</a:t>
            </a:r>
            <a:r>
              <a:rPr lang="en-US" sz="18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 es la </a:t>
            </a:r>
            <a:r>
              <a:rPr lang="en-US" sz="1800" b="1" i="0" u="none" strike="noStrike" cap="none" dirty="0" err="1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librería</a:t>
            </a:r>
            <a:r>
              <a:rPr lang="en-US" sz="18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 DEAP?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1543665" y="1986117"/>
            <a:ext cx="838691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Distributed Evolutionary Algorithms in Python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  <a:p>
            <a:pPr lvl="0" algn="ctr">
              <a:lnSpc>
                <a:spcPct val="150000"/>
              </a:lnSpc>
            </a:pPr>
            <a:r>
              <a:rPr lang="es-MX" sz="1800" dirty="0">
                <a:solidFill>
                  <a:schemeClr val="bg1"/>
                </a:solidFill>
              </a:rPr>
              <a:t>Es un </a:t>
            </a:r>
            <a:r>
              <a:rPr lang="es-MX" sz="1800" dirty="0" err="1">
                <a:solidFill>
                  <a:schemeClr val="bg1"/>
                </a:solidFill>
              </a:rPr>
              <a:t>framework</a:t>
            </a:r>
            <a:r>
              <a:rPr lang="es-MX" sz="1800" dirty="0">
                <a:solidFill>
                  <a:schemeClr val="bg1"/>
                </a:solidFill>
              </a:rPr>
              <a:t> flexible para computación evolutiva. A diferencia de otras librerías de Machine </a:t>
            </a:r>
            <a:r>
              <a:rPr lang="es-MX" sz="1800" dirty="0" err="1">
                <a:solidFill>
                  <a:schemeClr val="bg1"/>
                </a:solidFill>
              </a:rPr>
              <a:t>Learning</a:t>
            </a:r>
            <a:r>
              <a:rPr lang="es-MX" sz="1800" dirty="0">
                <a:solidFill>
                  <a:schemeClr val="bg1"/>
                </a:solidFill>
              </a:rPr>
              <a:t>, DEAP no te da un modelo "listo para usar", sino que te proporciona las piezas de Lego (operadores de selección, cruce, mutación) para que tú construyas tu propio proceso evolutivo.</a:t>
            </a:r>
            <a:endParaRPr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738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2443162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Marco de Meta-Programación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976562"/>
            <a:ext cx="52768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DEAP no es una "caja negra". Es un </a:t>
            </a:r>
            <a:r>
              <a:rPr lang="en-US" sz="1650" b="1" i="0" u="none" strike="noStrike" cap="non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set de herramientas</a:t>
            </a: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que permite construir cualquier algoritmo evolutivo desde cero.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1025" y="4129087"/>
            <a:ext cx="52768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Su filosofía se basa en la flexibilidad: tú defines qué es un individuo y cómo debe "mutar" o "reproducirse".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6691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El Ecosistema de DEAP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90750"/>
            <a:ext cx="34861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90750"/>
            <a:ext cx="34861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90750"/>
            <a:ext cx="3486150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803910" y="32385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Creator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76300" y="3771900"/>
            <a:ext cx="28956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Permite crear tipos de datos personalizados (Individuos, Fitness) dinámicamente.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575810" y="32385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Toolbox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648200" y="3771900"/>
            <a:ext cx="28956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El "taller" donde registras las funciones de cruce, mutación y selección.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347710" y="32385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Algorithms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20100" y="3771900"/>
            <a:ext cx="28956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Módulos pre-construidos que ejecutan el ciclo evolutivo estándar automáticamente.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4075" y="25336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5336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9300" y="25336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Los Pilares de la Librería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71525" y="1457325"/>
            <a:ext cx="4990623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El Desafío: Organizar Libros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81025" y="1457325"/>
            <a:ext cx="57150" cy="971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3019425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Imagina que tienes miles de documentos mezclados. El sistema debe aprender a separarlos en categorías: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385887" y="4324350"/>
            <a:ext cx="3333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Ciencia: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Física, cosmos, datos.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385887" y="4638675"/>
            <a:ext cx="3333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Fantasía: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Magia, elfo, espada.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385887" y="4953000"/>
            <a:ext cx="3333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Historia: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Imperio, rey, batalla.</a:t>
            </a:r>
            <a:endParaRPr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887" y="43672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5887" y="46815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5887" y="49958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3AAA4-ED27-684A-C346-CC4EAC9C60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E30F6F-96F8-7605-EB55-55EE9AA501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Google Shape;130;p17" descr="image.png">
            <a:extLst>
              <a:ext uri="{FF2B5EF4-FFF2-40B4-BE49-F238E27FC236}">
                <a16:creationId xmlns:a16="http://schemas.microsoft.com/office/drawing/2014/main" id="{47BEC320-BAF4-4C5F-6F25-F6C51B7AA27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6F87D1E-8F99-3801-242C-FBB9941CB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43" y="2356856"/>
            <a:ext cx="10914057" cy="2487188"/>
          </a:xfrm>
          <a:prstGeom prst="rect">
            <a:avLst/>
          </a:prstGeom>
        </p:spPr>
      </p:pic>
      <p:sp>
        <p:nvSpPr>
          <p:cNvPr id="7" name="Google Shape;131;p17">
            <a:extLst>
              <a:ext uri="{FF2B5EF4-FFF2-40B4-BE49-F238E27FC236}">
                <a16:creationId xmlns:a16="http://schemas.microsoft.com/office/drawing/2014/main" id="{285CBE53-BE70-D1CB-7846-558B4A7E1123}"/>
              </a:ext>
            </a:extLst>
          </p:cNvPr>
          <p:cNvSpPr txBox="1"/>
          <p:nvPr/>
        </p:nvSpPr>
        <p:spPr>
          <a:xfrm>
            <a:off x="1239520" y="936054"/>
            <a:ext cx="645818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Definición</a:t>
            </a:r>
            <a:r>
              <a:rPr lang="en-US" sz="3150" b="0" i="0" u="none" strike="noStrike" cap="none" dirty="0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 Palabras clave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522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567E7-7344-3097-8C01-7C73A6FAA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8F68D5-930C-DB20-DBE6-55215298F2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Google Shape;130;p17" descr="image.png">
            <a:extLst>
              <a:ext uri="{FF2B5EF4-FFF2-40B4-BE49-F238E27FC236}">
                <a16:creationId xmlns:a16="http://schemas.microsoft.com/office/drawing/2014/main" id="{67823CD8-7E0C-8B1B-006D-787FCD90C3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D4A4297-73BD-9471-405B-A157CAC6C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927" y="1219200"/>
            <a:ext cx="6988146" cy="5082980"/>
          </a:xfrm>
          <a:prstGeom prst="rect">
            <a:avLst/>
          </a:prstGeom>
        </p:spPr>
      </p:pic>
      <p:sp>
        <p:nvSpPr>
          <p:cNvPr id="7" name="Google Shape;131;p17">
            <a:extLst>
              <a:ext uri="{FF2B5EF4-FFF2-40B4-BE49-F238E27FC236}">
                <a16:creationId xmlns:a16="http://schemas.microsoft.com/office/drawing/2014/main" id="{433027DF-9C2E-A95C-ED8F-2F8B753F0B20}"/>
              </a:ext>
            </a:extLst>
          </p:cNvPr>
          <p:cNvSpPr txBox="1"/>
          <p:nvPr/>
        </p:nvSpPr>
        <p:spPr>
          <a:xfrm>
            <a:off x="826531" y="448702"/>
            <a:ext cx="1014626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Simulación</a:t>
            </a:r>
            <a:r>
              <a:rPr lang="en-US" sz="3150" b="0" i="0" u="none" strike="noStrike" cap="none" dirty="0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 </a:t>
            </a:r>
            <a:r>
              <a:rPr lang="en-US" sz="3150" b="0" i="0" u="none" strike="noStrike" cap="none" dirty="0" err="1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documentos</a:t>
            </a:r>
            <a:r>
              <a:rPr lang="en-US" sz="3150" b="0" i="0" u="none" strike="noStrike" cap="none" dirty="0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150" b="0" i="0" u="none" strike="noStrike" cap="none" dirty="0" err="1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</a:t>
            </a:r>
            <a:r>
              <a:rPr lang="en-US" sz="3150" b="0" i="0" u="none" strike="noStrike" cap="none" dirty="0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150" b="0" i="0" u="none" strike="noStrike" cap="none" dirty="0" err="1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tienen</a:t>
            </a:r>
            <a:r>
              <a:rPr lang="en-US" sz="3150" b="0" i="0" u="none" strike="noStrike" cap="none" dirty="0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las palabras clave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3936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DD9FF-C6EC-5C98-C15B-F36768A53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C63DC8-4988-1282-4734-DBF9C0A41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Google Shape;145;p18" descr="image.png">
            <a:extLst>
              <a:ext uri="{FF2B5EF4-FFF2-40B4-BE49-F238E27FC236}">
                <a16:creationId xmlns:a16="http://schemas.microsoft.com/office/drawing/2014/main" id="{93B1A52B-F438-90BA-7F65-E815CACEDB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F115AB3-FE76-8F7E-A2A2-2E5264CA8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36" y="457200"/>
            <a:ext cx="11236171" cy="590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36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19337"/>
            <a:ext cx="110299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28962"/>
            <a:ext cx="48863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81025" y="4567237"/>
            <a:ext cx="110299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lang="en-US" sz="1650" b="1" i="0" u="none" strike="noStrike" cap="non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Individuo</a:t>
            </a: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en nuestro código es una "estantería" con varias reglas de este tipo compitiendo por ser la más precisa.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49391" y="2738437"/>
            <a:ext cx="51306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SI aparece: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71550" y="3205162"/>
            <a:ext cx="48863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"Dragón" + "Magia"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211966" y="2709862"/>
            <a:ext cx="51306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ENTONCES es: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Anatomía de una Regla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81025" y="2828925"/>
            <a:ext cx="52768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81025" y="4371975"/>
            <a:ext cx="5276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Aptitud Máxima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334125" y="2600325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Puntuación de Aptitud (Fitness)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334125" y="3133725"/>
            <a:ext cx="5276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Cada conjunto de reglas se pone a prueba con los documentos de entrenamiento.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334125" y="3971925"/>
            <a:ext cx="52768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Por cada libro que clasifica correctamente (ej. identifica un libro de Historia como "Historia"), el individuo gana </a:t>
            </a:r>
            <a:r>
              <a:rPr lang="en-US" sz="1650" b="1" i="0" u="none" strike="noStrike" cap="none">
                <a:solidFill>
                  <a:srgbClr val="F0F6FC"/>
                </a:solidFill>
                <a:latin typeface="Inter"/>
                <a:ea typeface="Inter"/>
                <a:cs typeface="Inter"/>
                <a:sym typeface="Inter"/>
              </a:rPr>
              <a:t>puntos de precisión</a:t>
            </a: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¿Cómo medimos el éxito?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43050"/>
            <a:ext cx="34861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543050"/>
            <a:ext cx="34861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543050"/>
            <a:ext cx="34861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1838325"/>
            <a:ext cx="28956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03910" y="38862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Cruce (Mate)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76300" y="4419600"/>
            <a:ext cx="28956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Dos "padres" intercambian algunas de sus reglas para crear "hijos" con nuevas combinaciones.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575810" y="25908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Mutación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648200" y="3124200"/>
            <a:ext cx="28956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Se añaden palabras nuevas o se borran reglas al azar para explorar ideas que no estaban antes.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347710" y="25908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Selección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420100" y="3124200"/>
            <a:ext cx="28956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Se organiza un "torneo": las reglas con más puntos pasan a la siguiente generación.</a:t>
            </a:r>
            <a:endParaRPr/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5825" y="1847850"/>
            <a:ext cx="28765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67400" y="1885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10725" y="18859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Operadores de Evolución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053" y="47148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581025" y="3748087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607790" y="39766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25876" y="3367087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Población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25877" y="4214812"/>
            <a:ext cx="220593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Se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crean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100 sets de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reglas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al azar.</a:t>
            </a:r>
            <a:endParaRPr dirty="0"/>
          </a:p>
        </p:txBody>
      </p:sp>
      <p:sp>
        <p:nvSpPr>
          <p:cNvPr id="195" name="Google Shape;195;p21"/>
          <p:cNvSpPr/>
          <p:nvPr/>
        </p:nvSpPr>
        <p:spPr>
          <a:xfrm>
            <a:off x="3813720" y="39766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731807" y="3367087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Evaluación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2759381" y="4369593"/>
            <a:ext cx="220593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¿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Cuántos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libros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clasifican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bien?</a:t>
            </a:r>
            <a:endParaRPr dirty="0"/>
          </a:p>
        </p:txBody>
      </p:sp>
      <p:sp>
        <p:nvSpPr>
          <p:cNvPr id="198" name="Google Shape;198;p21"/>
          <p:cNvSpPr/>
          <p:nvPr/>
        </p:nvSpPr>
        <p:spPr>
          <a:xfrm>
            <a:off x="6019651" y="39766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937737" y="3367087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Torneo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937737" y="4529137"/>
            <a:ext cx="220593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Sobreviven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más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aptos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1" name="Google Shape;201;p21"/>
          <p:cNvSpPr/>
          <p:nvPr/>
        </p:nvSpPr>
        <p:spPr>
          <a:xfrm>
            <a:off x="8225581" y="39766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7143668" y="3367087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Variación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7198816" y="4661534"/>
            <a:ext cx="220593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Se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cruzan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mutan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las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reglas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4" name="Google Shape;204;p21"/>
          <p:cNvSpPr/>
          <p:nvPr/>
        </p:nvSpPr>
        <p:spPr>
          <a:xfrm>
            <a:off x="10431512" y="39766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9349598" y="3367087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Repetición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404746" y="4520088"/>
            <a:ext cx="220593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Se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repite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25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generaciones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El Ciclo de la Evolución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7800"/>
            <a:ext cx="110299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81025" y="513397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 medida que pasan las generaciones, la precisión (aptitud) sube hasta encontrar el conjunto de reglas perfecto.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0F6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Aprendizaje en Progreso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3905726" y="1671637"/>
            <a:ext cx="438054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El Resultado Final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2286000" y="2595562"/>
            <a:ext cx="762000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Cuando el proceso termina, tenemos un clasificador capaz de entender frases nuevas como: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"Mi libro sobre dragones en la historia es genial"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3238500" y="4662487"/>
            <a:ext cx="5715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sistema detecta las palabras clave y predice: </a:t>
            </a:r>
            <a:r>
              <a:rPr lang="en-US" sz="16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FANTASÍA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499</Words>
  <Application>Microsoft Office PowerPoint</Application>
  <PresentationFormat>Panorámica</PresentationFormat>
  <Paragraphs>58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Calibri</vt:lpstr>
      <vt:lpstr>Urbanist Medium</vt:lpstr>
      <vt:lpstr>Urbanist</vt:lpstr>
      <vt:lpstr>Inter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Santiago Guallichico</cp:lastModifiedBy>
  <cp:revision>2</cp:revision>
  <dcterms:modified xsi:type="dcterms:W3CDTF">2026-05-02T14:23:59Z</dcterms:modified>
</cp:coreProperties>
</file>
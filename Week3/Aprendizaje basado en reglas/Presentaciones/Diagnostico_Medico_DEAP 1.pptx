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1411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1D1ED-23AB-1DE1-1102-C160F519E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61047A-1143-EA4E-45D7-5226D559D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41CE4D-08E6-0469-ADEC-477C2E710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BCB0D8-053D-DAC7-9B5E-0686A54715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839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3" name="Shape 1"/>
          <p:cNvSpPr/>
          <p:nvPr/>
        </p:nvSpPr>
        <p:spPr>
          <a:xfrm>
            <a:off x="377190" y="4882896"/>
            <a:ext cx="8401050" cy="0"/>
          </a:xfrm>
          <a:prstGeom prst="line">
            <a:avLst/>
          </a:prstGeom>
          <a:noFill/>
          <a:ln w="698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4" name="Text 2"/>
          <p:cNvSpPr/>
          <p:nvPr/>
        </p:nvSpPr>
        <p:spPr>
          <a:xfrm>
            <a:off x="425196" y="4944618"/>
            <a:ext cx="55549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3" dirty="0">
                <a:solidFill>
                  <a:srgbClr val="64748B"/>
                </a:solidFill>
              </a:rPr>
              <a:t>REGLAS.py · Diagnóstico médico con reglas evolutivas · DEAP</a:t>
            </a:r>
            <a:endParaRPr lang="en-US" sz="56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4910328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579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7863840" y="2926080"/>
            <a:ext cx="1645920" cy="164592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Diagnóstico Médico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Programación Evolutiva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267712"/>
            <a:ext cx="384048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basado en Reglas Evolutivas con la librería DEAP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2423160" cy="384048"/>
          </a:xfrm>
          <a:prstGeom prst="roundRect">
            <a:avLst>
              <a:gd name="adj" fmla="val 19048"/>
            </a:avLst>
          </a:prstGeom>
          <a:solidFill>
            <a:srgbClr val="0D3B6E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DEAP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63240" y="3200400"/>
            <a:ext cx="2423160" cy="384048"/>
          </a:xfrm>
          <a:prstGeom prst="roundRect">
            <a:avLst>
              <a:gd name="adj" fmla="val 19048"/>
            </a:avLst>
          </a:prstGeom>
          <a:solidFill>
            <a:srgbClr val="0D3B6E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3063240" y="32004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Programación Evolutiva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3200400"/>
            <a:ext cx="2423160" cy="384048"/>
          </a:xfrm>
          <a:prstGeom prst="roundRect">
            <a:avLst>
              <a:gd name="adj" fmla="val 19048"/>
            </a:avLst>
          </a:prstGeom>
          <a:solidFill>
            <a:srgbClr val="0D3B6E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5669280" y="32004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Machine Learning por Reglas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9A"/>
                </a:solidFill>
              </a:rPr>
              <a:t>Implementación en Python  |  scikit + DEAP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Síntomas y Enfermedades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694944"/>
            <a:ext cx="100584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840480" cy="411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 SÍNTOMAS (binarios: 0 / 1)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14630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512064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9264" y="14630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Fiebre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" y="175564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512064" y="1755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9264" y="17556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Tos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" y="204825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512064" y="2048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9264" y="204825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Fatiga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" y="234086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512064" y="2340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9264" y="234086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Dolor de Garganta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2064" y="263347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512064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9264" y="263347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Congestión Nasal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2064" y="292608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512064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9264" y="29260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Dolor de Cabeza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2064" y="321868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512064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9264" y="321868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Erupción Cutánea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0" y="91440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4572000" y="914400"/>
            <a:ext cx="4114800" cy="411480"/>
          </a:xfrm>
          <a:prstGeom prst="rect">
            <a:avLst/>
          </a:prstGeom>
          <a:solidFill>
            <a:srgbClr val="0D3B6E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457200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 ENFERMEDADES (clases)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36592" y="1508760"/>
            <a:ext cx="3566160" cy="530352"/>
          </a:xfrm>
          <a:prstGeom prst="roundRect">
            <a:avLst>
              <a:gd name="adj" fmla="val 10345"/>
            </a:avLst>
          </a:prstGeom>
          <a:solidFill>
            <a:srgbClr val="E74C3C">
              <a:alpha val="12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2" name="Shape 30"/>
          <p:cNvSpPr/>
          <p:nvPr/>
        </p:nvSpPr>
        <p:spPr>
          <a:xfrm>
            <a:off x="4736592" y="1508760"/>
            <a:ext cx="73152" cy="5303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3" name="Text 31"/>
          <p:cNvSpPr/>
          <p:nvPr/>
        </p:nvSpPr>
        <p:spPr>
          <a:xfrm>
            <a:off x="4901184" y="154533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</a:rPr>
              <a:t>ID 0  •  Gripe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01184" y="17830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Fiebre + Tos + Fatiga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36592" y="2167128"/>
            <a:ext cx="3566160" cy="530352"/>
          </a:xfrm>
          <a:prstGeom prst="roundRect">
            <a:avLst>
              <a:gd name="adj" fmla="val 10345"/>
            </a:avLst>
          </a:prstGeom>
          <a:solidFill>
            <a:srgbClr val="3498DB">
              <a:alpha val="12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6" name="Shape 34"/>
          <p:cNvSpPr/>
          <p:nvPr/>
        </p:nvSpPr>
        <p:spPr>
          <a:xfrm>
            <a:off x="4736592" y="2167128"/>
            <a:ext cx="73152" cy="530352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7" name="Text 35"/>
          <p:cNvSpPr/>
          <p:nvPr/>
        </p:nvSpPr>
        <p:spPr>
          <a:xfrm>
            <a:off x="4901184" y="220370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</a:rPr>
              <a:t>ID 1  •  Resfriado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01184" y="24414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Tos + Dolor garganta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36592" y="2825496"/>
            <a:ext cx="3566160" cy="530352"/>
          </a:xfrm>
          <a:prstGeom prst="roundRect">
            <a:avLst>
              <a:gd name="adj" fmla="val 10345"/>
            </a:avLst>
          </a:prstGeom>
          <a:solidFill>
            <a:srgbClr val="E67E22">
              <a:alpha val="12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0" name="Shape 38"/>
          <p:cNvSpPr/>
          <p:nvPr/>
        </p:nvSpPr>
        <p:spPr>
          <a:xfrm>
            <a:off x="4736592" y="2825496"/>
            <a:ext cx="73152" cy="530352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1" name="Text 39"/>
          <p:cNvSpPr/>
          <p:nvPr/>
        </p:nvSpPr>
        <p:spPr>
          <a:xfrm>
            <a:off x="4901184" y="286207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</a:rPr>
              <a:t>ID 2  •  Sarampión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01184" y="309981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Fiebre + Erupción cutánea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36592" y="3483864"/>
            <a:ext cx="3566160" cy="530352"/>
          </a:xfrm>
          <a:prstGeom prst="roundRect">
            <a:avLst>
              <a:gd name="adj" fmla="val 10345"/>
            </a:avLst>
          </a:prstGeom>
          <a:solidFill>
            <a:srgbClr val="95A5A6">
              <a:alpha val="12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4" name="Shape 42"/>
          <p:cNvSpPr/>
          <p:nvPr/>
        </p:nvSpPr>
        <p:spPr>
          <a:xfrm>
            <a:off x="4736592" y="3483864"/>
            <a:ext cx="73152" cy="530352"/>
          </a:xfrm>
          <a:prstGeom prst="rect">
            <a:avLst/>
          </a:prstGeom>
          <a:solidFill>
            <a:srgbClr val="95A5A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5" name="Text 43"/>
          <p:cNvSpPr/>
          <p:nvPr/>
        </p:nvSpPr>
        <p:spPr>
          <a:xfrm>
            <a:off x="4901184" y="352044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</a:rPr>
              <a:t>ID 3  •  Desconocido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901184" y="375818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Sin síntomas / empate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11480" y="48280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Los síntomas se representan como un vector binario de 7 posiciones. El dataset tiene 9 pacientes de entrenamiento.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del Individuo: La Clase Rule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694944"/>
            <a:ext cx="100584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1234440"/>
          </a:xfrm>
          <a:prstGeom prst="rect">
            <a:avLst/>
          </a:prstGeom>
          <a:solidFill>
            <a:srgbClr val="EAF6F9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4389120" cy="914400"/>
          </a:xfrm>
          <a:prstGeom prst="roundRect">
            <a:avLst>
              <a:gd name="adj" fmla="val 10000"/>
            </a:avLst>
          </a:prstGeom>
          <a:solidFill>
            <a:srgbClr val="028090">
              <a:alpha val="85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ANTECEDENTE (IF)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3502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lista de tuplas  →  (symptom_id, valor_requerido)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577840" y="100584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0D3B6E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5577840" y="10058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CONSECUENTE (THEN)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13350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</a:rPr>
              <a:t>ID de enfermedad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</a:rPr>
              <a:t>(0, 1, 2, 3)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8412480" cy="822960"/>
          </a:xfrm>
          <a:prstGeom prst="rect">
            <a:avLst/>
          </a:prstGeom>
          <a:solidFill>
            <a:srgbClr val="FFFBE6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91440" cy="8229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594360" y="23408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</a:rPr>
              <a:t>Ejemplo de regla: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596896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 (Fiebre=1  AND  Tos=1  AND  Fatiga=1)  ENTONCES  Gripe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273552"/>
            <a:ext cx="8412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365760" y="3273552"/>
            <a:ext cx="8412480" cy="3474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512064" y="327355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</a:rPr>
              <a:t>Método  applies(patient_vector)  →  verifica si la regla cubre al paciente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sym_id, req_val in self.antecedent: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patient_vector[sym_id] != req_val:  return False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   # Todos los síntomas coinciden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48280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creator.Individual hereda de Rule, añadiendo el atributo fitness que exige DEAP para la selección evolutiva.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y Mutación de Reglas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694944"/>
            <a:ext cx="100584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40233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4023360" cy="38404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init_rule()  —  Creación aleatoria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13898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① Elegir 1 a 3 síntomas al azar (sin repetir)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2064" y="179222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② Asignar valor binario (0 ó 1) a cada síntoma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" y="2194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③ Asignar enfermedad aleatoria como consecuente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" y="25968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④ Devolver creator.Individual(antecedente, consecuente)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896112"/>
            <a:ext cx="4114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4663440" y="896112"/>
            <a:ext cx="4114800" cy="384048"/>
          </a:xfrm>
          <a:prstGeom prst="rect">
            <a:avLst/>
          </a:prstGeom>
          <a:solidFill>
            <a:srgbClr val="0D3B6E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4663440" y="8961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mutRule()  —  5 tipos de mutación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28032" y="1399032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4828032" y="13990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046"/>
                </a:solidFill>
              </a:rPr>
              <a:t>change_consequent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364224" y="13990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Cambia la enfermedad predicha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28032" y="1737360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4828032" y="17373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046"/>
                </a:solidFill>
              </a:rPr>
              <a:t>add_condition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64224" y="17373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Añade un síntoma al antecedente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28032" y="2075688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4828032" y="20756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046"/>
                </a:solidFill>
              </a:rPr>
              <a:t>remove_condition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364224" y="20756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Elimina una condición (mín. 1)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28032" y="2414016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4828032" y="24140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046"/>
                </a:solidFill>
              </a:rPr>
              <a:t>change_condition_value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64224" y="24140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Invierte el valor 0↔1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28032" y="275234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7" name="Text 25"/>
          <p:cNvSpPr/>
          <p:nvPr/>
        </p:nvSpPr>
        <p:spPr>
          <a:xfrm>
            <a:off x="4828032" y="27523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046"/>
                </a:solidFill>
              </a:rPr>
              <a:t>change_condition_symptom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64224" y="275234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Reemplaza un síntoma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291840"/>
            <a:ext cx="8412480" cy="1572768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30" name="Shape 28"/>
          <p:cNvSpPr/>
          <p:nvPr/>
        </p:nvSpPr>
        <p:spPr>
          <a:xfrm>
            <a:off x="365760" y="3291840"/>
            <a:ext cx="8412480" cy="347472"/>
          </a:xfrm>
          <a:prstGeom prst="rect">
            <a:avLst/>
          </a:prstGeom>
          <a:solidFill>
            <a:srgbClr val="028090">
              <a:alpha val="20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1" name="Text 29"/>
          <p:cNvSpPr/>
          <p:nvPr/>
        </p:nvSpPr>
        <p:spPr>
          <a:xfrm>
            <a:off x="512064" y="3291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</a:rPr>
              <a:t>Estrategia evolutiva  (μ + λ)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374904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028090">
              <a:alpha val="88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3" name="Text 31"/>
          <p:cNvSpPr/>
          <p:nvPr/>
        </p:nvSpPr>
        <p:spPr>
          <a:xfrm>
            <a:off x="548640" y="3749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Población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30 reglas (μ)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423160" y="4069080"/>
            <a:ext cx="164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606040" y="374904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0D3B6E">
              <a:alpha val="88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6" name="Text 34"/>
          <p:cNvSpPr/>
          <p:nvPr/>
        </p:nvSpPr>
        <p:spPr>
          <a:xfrm>
            <a:off x="2606040" y="3749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Mutación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λ = 90 hijos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80560" y="4069080"/>
            <a:ext cx="164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663440" y="374904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67E22">
              <a:alpha val="88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9" name="Text 37"/>
          <p:cNvSpPr/>
          <p:nvPr/>
        </p:nvSpPr>
        <p:spPr>
          <a:xfrm>
            <a:off x="4663440" y="3749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Evaluación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conjunto completo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37960" y="4069080"/>
            <a:ext cx="164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720840" y="374904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7AE60">
              <a:alpha val="88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2" name="Text 40"/>
          <p:cNvSpPr/>
          <p:nvPr/>
        </p:nvSpPr>
        <p:spPr>
          <a:xfrm>
            <a:off x="6720840" y="3749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Selección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selBest → μ mejores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1480" y="48280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random.choice(pop) selecciona UN padre por cada hijo; mutRule crea una nueva instancia creator.Individual para preservar el atributo fitness.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 de Enfermedad: Sistema de Votación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694944"/>
            <a:ext cx="100584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20299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1115568" y="96012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1115568" y="960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</a:rPr>
              <a:t>Paciente ingresa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" y="1956816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Vector binario de 7 síntomas [1,1,1,0,0,1,0]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95728" y="1965960"/>
            <a:ext cx="1828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dash"/>
          </a:ln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2578608" y="896112"/>
            <a:ext cx="20299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3328416" y="960120"/>
            <a:ext cx="530352" cy="530352"/>
          </a:xfrm>
          <a:prstGeom prst="ellipse">
            <a:avLst/>
          </a:prstGeom>
          <a:solidFill>
            <a:srgbClr val="0D3B6E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3328416" y="960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70048" y="1572768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</a:rPr>
              <a:t>Reglas disparan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06624" y="1956816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Cada regla del conjunto verifica applies() sobre el paciente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08576" y="1965960"/>
            <a:ext cx="1828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dash"/>
          </a:ln>
        </p:spPr>
        <p:txBody>
          <a:bodyPr/>
          <a:lstStyle/>
          <a:p>
            <a:endParaRPr lang="es-EC"/>
          </a:p>
        </p:txBody>
      </p:sp>
      <p:sp>
        <p:nvSpPr>
          <p:cNvPr id="16" name="Shape 14"/>
          <p:cNvSpPr/>
          <p:nvPr/>
        </p:nvSpPr>
        <p:spPr>
          <a:xfrm>
            <a:off x="4791456" y="896112"/>
            <a:ext cx="20299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5541264" y="960120"/>
            <a:ext cx="530352" cy="530352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5541264" y="960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82896" y="1572768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</a:rPr>
              <a:t>Votación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9472" y="1956816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Cada regla que aplica suma +1 voto a su enfermedad consecuente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21424" y="1965960"/>
            <a:ext cx="1828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dash"/>
          </a:ln>
        </p:spPr>
        <p:txBody>
          <a:bodyPr/>
          <a:lstStyle/>
          <a:p>
            <a:endParaRPr lang="es-EC"/>
          </a:p>
        </p:txBody>
      </p:sp>
      <p:sp>
        <p:nvSpPr>
          <p:cNvPr id="22" name="Shape 20"/>
          <p:cNvSpPr/>
          <p:nvPr/>
        </p:nvSpPr>
        <p:spPr>
          <a:xfrm>
            <a:off x="7004304" y="896112"/>
            <a:ext cx="20299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7754112" y="960120"/>
            <a:ext cx="530352" cy="530352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7754112" y="960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95744" y="1572768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</a:rPr>
              <a:t>Diagnóstico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0" y="1956816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La enfermedad con más votos gana. Empate → 'Desconocido'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3182112"/>
            <a:ext cx="8412480" cy="1719072"/>
          </a:xfrm>
          <a:prstGeom prst="rect">
            <a:avLst/>
          </a:prstGeom>
          <a:solidFill>
            <a:srgbClr val="FFF9F0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365760" y="3182112"/>
            <a:ext cx="8412480" cy="347472"/>
          </a:xfrm>
          <a:prstGeom prst="rect">
            <a:avLst/>
          </a:prstGeom>
          <a:solidFill>
            <a:srgbClr val="FDE8C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512064" y="31821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4513"/>
                </a:solidFill>
              </a:rPr>
              <a:t>Casos especiales en evaluate_rule_set()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12064" y="3639312"/>
            <a:ext cx="25603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31" name="Text 29"/>
          <p:cNvSpPr/>
          <p:nvPr/>
        </p:nvSpPr>
        <p:spPr>
          <a:xfrm>
            <a:off x="512064" y="367588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0 reglas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3504" y="3986784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5880"/>
                </a:solidFill>
              </a:rPr>
              <a:t>Ninguna regla aplicable  →  diagnostica "Desconocido" (ID 3)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10128" y="3639312"/>
            <a:ext cx="25603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3310128" y="367588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Empate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01568" y="3986784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5880"/>
                </a:solidFill>
              </a:rPr>
              <a:t>Dos o más enfermedades con igual cantidad de votos  →  "Desconocido"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08192" y="3639312"/>
            <a:ext cx="25603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37" name="Text 35"/>
          <p:cNvSpPr/>
          <p:nvPr/>
        </p:nvSpPr>
        <p:spPr>
          <a:xfrm>
            <a:off x="6108192" y="367588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Exacto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99632" y="3986784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5880"/>
                </a:solidFill>
              </a:rPr>
              <a:t>Una sola enfermedad gana la votación  →  diagnóstico emitido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1480" y="48280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La función devuelve una tupla  (accuracy,)  porque DEAP siempre espera una tupla de fitness, incluso con un solo valor.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DEAP: Componentes Usados de la Librería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694944"/>
            <a:ext cx="100584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91440" cy="126187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548640" y="987552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028090">
              <a:alpha val="85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548640" y="9875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deap.creator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40817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5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FitnessMax(weights=(1.0,))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5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Individual(Rule, fitness=...)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54096" y="1060704"/>
            <a:ext cx="18288" cy="914400"/>
          </a:xfrm>
          <a:prstGeom prst="rect">
            <a:avLst/>
          </a:prstGeom>
          <a:solidFill>
            <a:srgbClr val="D1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3182112" y="1097280"/>
            <a:ext cx="5321808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Define tipos personalizados en tiempo de ejecución. FitnessMax maximiza la precisión. Individual extiende Rule añadiéndole el atributo fitness.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8412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91440" cy="1261872"/>
          </a:xfrm>
          <a:prstGeom prst="rect">
            <a:avLst/>
          </a:prstGeom>
          <a:solidFill>
            <a:srgbClr val="0D3B6E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0D3B6E">
              <a:alpha val="85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548640" y="23774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deap.base.Toolbox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7980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5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individual → init_rule()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305409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5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population → list de reglas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331012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5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evaluate / mutate / select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54096" y="2450592"/>
            <a:ext cx="18288" cy="914400"/>
          </a:xfrm>
          <a:prstGeom prst="rect">
            <a:avLst/>
          </a:prstGeom>
          <a:solidFill>
            <a:srgbClr val="D1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3182112" y="2487168"/>
            <a:ext cx="5321808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Registro central de operadores. Permite registrar y llamar funciones por nombre, desacoplando el algoritmo de la implementación concreta.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2" name="Shape 20"/>
          <p:cNvSpPr/>
          <p:nvPr/>
        </p:nvSpPr>
        <p:spPr>
          <a:xfrm>
            <a:off x="365760" y="3675888"/>
            <a:ext cx="91440" cy="1261872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548640" y="3767328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E67E22">
              <a:alpha val="85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548640" y="37673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deap.tools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418795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5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Statistics(lambda ind: ...)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444398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5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Logbook()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470001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5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selBest(pop, k=MU)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054096" y="3840480"/>
            <a:ext cx="18288" cy="914400"/>
          </a:xfrm>
          <a:prstGeom prst="rect">
            <a:avLst/>
          </a:prstGeom>
          <a:solidFill>
            <a:srgbClr val="D1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3182112" y="3877056"/>
            <a:ext cx="5321808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Statistics acumula métricas (avg, std, min, max) por generación. Logbook las registra. selBest devuelve los k individuos con mayor fitness.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" y="48280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DEAP NO usa crossover en este código — solo mutación. Esto sigue el paradigma puro de Programación Evolutiva (PE), donde solo se transmite un padre.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Sistema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82296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645920" cy="420624"/>
          </a:xfrm>
          <a:prstGeom prst="rect">
            <a:avLst/>
          </a:prstGeom>
          <a:solidFill>
            <a:srgbClr val="028090">
              <a:alpha val="75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Datos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49424" y="1005840"/>
            <a:ext cx="6492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0"/>
                </a:solidFill>
              </a:rPr>
              <a:t>7 síntomas binarios + 4 clases de enfermedad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1645920" cy="420624"/>
          </a:xfrm>
          <a:prstGeom prst="rect">
            <a:avLst/>
          </a:prstGeom>
          <a:solidFill>
            <a:srgbClr val="028090">
              <a:alpha val="75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Individuo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9424" y="1554480"/>
            <a:ext cx="6492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0"/>
                </a:solidFill>
              </a:rPr>
              <a:t>Una Regla IF-THEN (antecedente lista de tuplas)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1645920" cy="420624"/>
          </a:xfrm>
          <a:prstGeom prst="rect">
            <a:avLst/>
          </a:prstGeom>
          <a:solidFill>
            <a:srgbClr val="028090">
              <a:alpha val="75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457200" y="21031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Población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9424" y="2103120"/>
            <a:ext cx="6492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0"/>
                </a:solidFill>
              </a:rPr>
              <a:t>30 reglas evaluadas como conjunto (μ+λ)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1645920" cy="420624"/>
          </a:xfrm>
          <a:prstGeom prst="rect">
            <a:avLst/>
          </a:prstGeom>
          <a:solidFill>
            <a:srgbClr val="028090">
              <a:alpha val="75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Fitness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49424" y="2651760"/>
            <a:ext cx="6492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0"/>
                </a:solidFill>
              </a:rPr>
              <a:t>Precisión del conjunto sobre 9 pacientes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1645920" cy="420624"/>
          </a:xfrm>
          <a:prstGeom prst="rect">
            <a:avLst/>
          </a:prstGeom>
          <a:solidFill>
            <a:srgbClr val="028090">
              <a:alpha val="75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457200" y="320040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Mutación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49424" y="3200400"/>
            <a:ext cx="6492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0"/>
                </a:solidFill>
              </a:rPr>
              <a:t>5 operadores: valor, síntoma, enfermedad, añadir/quitar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1645920" cy="420624"/>
          </a:xfrm>
          <a:prstGeom prst="rect">
            <a:avLst/>
          </a:prstGeom>
          <a:solidFill>
            <a:srgbClr val="028090">
              <a:alpha val="75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Inferencia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49424" y="3749040"/>
            <a:ext cx="6492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0"/>
                </a:solidFill>
              </a:rPr>
              <a:t>Votación por reglas → mayoría o 'Desconocido'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1645920" cy="420624"/>
          </a:xfrm>
          <a:prstGeom prst="rect">
            <a:avLst/>
          </a:prstGeom>
          <a:solidFill>
            <a:srgbClr val="028090">
              <a:alpha val="75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5" name="Text 23"/>
          <p:cNvSpPr/>
          <p:nvPr/>
        </p:nvSpPr>
        <p:spPr>
          <a:xfrm>
            <a:off x="457200" y="429768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DEAP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49424" y="4297680"/>
            <a:ext cx="6492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0"/>
                </a:solidFill>
              </a:rPr>
              <a:t>creator · Toolbox · Statistics · Logbook · selBest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55F7B-61BD-8288-8AC0-08E81019D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179B3D8-74B4-0F64-14F5-72909683E36F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3C9C63F-439F-2A96-C2E7-9DECF4530D16}"/>
              </a:ext>
            </a:extLst>
          </p:cNvPr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F132A92-8818-6856-B92D-D084692BFC51}"/>
              </a:ext>
            </a:extLst>
          </p:cNvPr>
          <p:cNvSpPr/>
          <p:nvPr/>
        </p:nvSpPr>
        <p:spPr>
          <a:xfrm>
            <a:off x="7863840" y="2926080"/>
            <a:ext cx="1645920" cy="164592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EC75510-759D-0D1B-0195-72BB285A9CB3}"/>
              </a:ext>
            </a:extLst>
          </p:cNvPr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Diagnóstico Médico</a:t>
            </a:r>
            <a:endParaRPr lang="en-US" sz="3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C7026DF-A1EE-436B-A9C9-FCAB8456B56D}"/>
              </a:ext>
            </a:extLst>
          </p:cNvPr>
          <p:cNvSpPr/>
          <p:nvPr/>
        </p:nvSpPr>
        <p:spPr>
          <a:xfrm>
            <a:off x="457200" y="16276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EXPLICACION DEL CODIGO</a:t>
            </a:r>
            <a:endParaRPr lang="en-US" sz="2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23E8B0D-33E2-B774-DB10-C3D43A1732DA}"/>
              </a:ext>
            </a:extLst>
          </p:cNvPr>
          <p:cNvSpPr/>
          <p:nvPr/>
        </p:nvSpPr>
        <p:spPr>
          <a:xfrm>
            <a:off x="457200" y="2267712"/>
            <a:ext cx="384048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52895AF-CB5E-824F-5E66-072E9AB15B94}"/>
              </a:ext>
            </a:extLst>
          </p:cNvPr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9A"/>
                </a:solidFill>
              </a:rPr>
              <a:t>Implementación en Python  |  scikit + DEAP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7416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196" y="21259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Librerías y definición del problema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438912" y="576072"/>
            <a:ext cx="809244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dirty="0">
                <a:solidFill>
                  <a:srgbClr val="475569"/>
                </a:solidFill>
              </a:rPr>
              <a:t>Se importan herramientas y se declaran los síntomas/enfermedades del ejemplo.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93776" y="994410"/>
            <a:ext cx="4183380" cy="3394710"/>
          </a:xfrm>
          <a:prstGeom prst="roundRect">
            <a:avLst>
              <a:gd name="adj" fmla="val 1818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5" name="Shape 3"/>
          <p:cNvSpPr/>
          <p:nvPr/>
        </p:nvSpPr>
        <p:spPr>
          <a:xfrm>
            <a:off x="493776" y="994410"/>
            <a:ext cx="4183380" cy="26060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6" name="Text 4"/>
          <p:cNvSpPr/>
          <p:nvPr/>
        </p:nvSpPr>
        <p:spPr>
          <a:xfrm>
            <a:off x="617220" y="1066419"/>
            <a:ext cx="393649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3" b="1" dirty="0">
                <a:solidFill>
                  <a:srgbClr val="D1D5DB"/>
                </a:solidFill>
              </a:rPr>
              <a:t>Fragmento: imports + variables base</a:t>
            </a:r>
            <a:endParaRPr lang="en-US" sz="563" dirty="0"/>
          </a:p>
        </p:txBody>
      </p:sp>
      <p:sp>
        <p:nvSpPr>
          <p:cNvPr id="7" name="Text 5"/>
          <p:cNvSpPr/>
          <p:nvPr/>
        </p:nvSpPr>
        <p:spPr>
          <a:xfrm>
            <a:off x="630936" y="1351026"/>
            <a:ext cx="3909060" cy="290093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deap import base, creator, tools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SYMPTOMS = {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0: 'Fiebre', 1: 'Tos', 2: 'Fatiga',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3: 'Dolor_Garganta', 4: 'Congestion_Nasal',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5: 'Dolor_Cabeza', 6: 'Erupcion_Cutanea'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DISEASES = {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0: 'Gripe', 1: 'Resfriado',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2: 'Sarampion', 3: 'Desconocido'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4869180" y="1062990"/>
            <a:ext cx="3737610" cy="318897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9" name="Shape 7"/>
          <p:cNvSpPr/>
          <p:nvPr/>
        </p:nvSpPr>
        <p:spPr>
          <a:xfrm>
            <a:off x="4869180" y="1062990"/>
            <a:ext cx="61722" cy="318897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10" name="Text 8"/>
          <p:cNvSpPr/>
          <p:nvPr/>
        </p:nvSpPr>
        <p:spPr>
          <a:xfrm>
            <a:off x="5047488" y="1213866"/>
            <a:ext cx="3442716" cy="290093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990" dirty="0">
                <a:solidFill>
                  <a:srgbClr val="475569"/>
                </a:solidFill>
              </a:rPr>
              <a:t>• random: crea reglas aleatorias y mutaciones.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numpy: convierte pacientes a vectores numéricos.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DEAP: framework evolutivo; se usa base, creator y tools.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matplotlib: grafica la evolución de la precisión.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Síntomas y enfermedades están codificados con IDs numéricos.</a:t>
            </a:r>
            <a:endParaRPr lang="en-US" sz="9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196" y="21259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Dataset y preparación de pacientes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438912" y="576072"/>
            <a:ext cx="809244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dirty="0">
                <a:solidFill>
                  <a:srgbClr val="475569"/>
                </a:solidFill>
              </a:rPr>
              <a:t>Los casos simulados se convierten en vectores de síntomas 0/1.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93776" y="973836"/>
            <a:ext cx="4320540" cy="3463290"/>
          </a:xfrm>
          <a:prstGeom prst="roundRect">
            <a:avLst>
              <a:gd name="adj" fmla="val 1782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5" name="Shape 3"/>
          <p:cNvSpPr/>
          <p:nvPr/>
        </p:nvSpPr>
        <p:spPr>
          <a:xfrm>
            <a:off x="493776" y="973836"/>
            <a:ext cx="4320540" cy="26060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6" name="Text 4"/>
          <p:cNvSpPr/>
          <p:nvPr/>
        </p:nvSpPr>
        <p:spPr>
          <a:xfrm>
            <a:off x="617220" y="1045845"/>
            <a:ext cx="407365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3" b="1" dirty="0">
                <a:solidFill>
                  <a:srgbClr val="D1D5DB"/>
                </a:solidFill>
              </a:rPr>
              <a:t>Fragmento resumido: datos + vectorización</a:t>
            </a:r>
            <a:endParaRPr lang="en-US" sz="563" dirty="0"/>
          </a:p>
        </p:txBody>
      </p:sp>
      <p:sp>
        <p:nvSpPr>
          <p:cNvPr id="7" name="Text 5"/>
          <p:cNvSpPr/>
          <p:nvPr/>
        </p:nvSpPr>
        <p:spPr>
          <a:xfrm>
            <a:off x="630936" y="1330452"/>
            <a:ext cx="4046220" cy="296951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TRAINING_DATA = [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({'Fiebre':1, 'Tos':1, 'Fatiga':1,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'Dolor_Cabeza':1, 'Erupcion_Cutanea':0}, 0), # Gripe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({'Fiebre':0, 'Tos':1, 'Dolor_Garganta':1,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'Congestion_Nasal':1}, 1), # Resfriado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({'Fiebre':1, 'Tos':0,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'Erupcion_Cutanea':1}, 2), # Sarampion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prepare_patient_data(symptoms_dict):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patient_vector = np.zeros(NUM_SYMPTOMS)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s_id, s_name in SYMPTOMS.items():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s_name in symptoms_dict: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patient_vector[s_id] = symptoms_dict[s_name]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patient_vector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5006340" y="1083564"/>
            <a:ext cx="3429000" cy="315468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9" name="Shape 7"/>
          <p:cNvSpPr/>
          <p:nvPr/>
        </p:nvSpPr>
        <p:spPr>
          <a:xfrm>
            <a:off x="5006340" y="1083564"/>
            <a:ext cx="61722" cy="3154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10" name="Text 8"/>
          <p:cNvSpPr/>
          <p:nvPr/>
        </p:nvSpPr>
        <p:spPr>
          <a:xfrm>
            <a:off x="5184648" y="1234440"/>
            <a:ext cx="3134106" cy="28666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990" dirty="0">
                <a:solidFill>
                  <a:srgbClr val="475569"/>
                </a:solidFill>
              </a:rPr>
              <a:t>• Cada paciente tiene síntomas observados y diagnóstico real.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La función crea un vector ordenado según SYMPTOMS.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Ejemplo: [1, 1, 1, 0, 0, 1, 0] puede representar fiebre, tos, fatiga y dolor de cabeza.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Esto permite comparar reglas con pacientes usando índices numéricos.</a:t>
            </a:r>
            <a:endParaRPr lang="en-US" sz="9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196" y="21259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Clase Rule: la regla médica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438912" y="576072"/>
            <a:ext cx="809244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dirty="0">
                <a:solidFill>
                  <a:srgbClr val="475569"/>
                </a:solidFill>
              </a:rPr>
              <a:t>Cada individuo del algoritmo evolutivo es una regla SI... ENTONCES...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93776" y="973836"/>
            <a:ext cx="4491990" cy="3531870"/>
          </a:xfrm>
          <a:prstGeom prst="roundRect">
            <a:avLst>
              <a:gd name="adj" fmla="val 1748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5" name="Shape 3"/>
          <p:cNvSpPr/>
          <p:nvPr/>
        </p:nvSpPr>
        <p:spPr>
          <a:xfrm>
            <a:off x="493776" y="973836"/>
            <a:ext cx="4491990" cy="26060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6" name="Text 4"/>
          <p:cNvSpPr/>
          <p:nvPr/>
        </p:nvSpPr>
        <p:spPr>
          <a:xfrm>
            <a:off x="617220" y="1045845"/>
            <a:ext cx="424510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3" b="1" dirty="0">
                <a:solidFill>
                  <a:srgbClr val="D1D5DB"/>
                </a:solidFill>
              </a:rPr>
              <a:t>Fragmento: clase Rule</a:t>
            </a:r>
            <a:endParaRPr lang="en-US" sz="563" dirty="0"/>
          </a:p>
        </p:txBody>
      </p:sp>
      <p:sp>
        <p:nvSpPr>
          <p:cNvPr id="7" name="Text 5"/>
          <p:cNvSpPr/>
          <p:nvPr/>
        </p:nvSpPr>
        <p:spPr>
          <a:xfrm>
            <a:off x="630936" y="1330452"/>
            <a:ext cx="4217670" cy="303809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Rule: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antecedent, consequent):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self.antecedent = list(antecedent)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self.consequent = consequent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applies(self, patient_symptoms_vector):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sym_id, req_val in self.antecedent: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patient_symptoms_vector[sym_id] != req_val: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return False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True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__str__(self):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antecedent_str = " AND ".join([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f"{SYMPTOMS[s_id]}={val}"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s_id, val in self.antecedent])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f"SI ({antecedent_str}) ENTONCES {DISEASES[self.consequent]}"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5177790" y="1062990"/>
            <a:ext cx="3360420" cy="325755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9" name="Shape 7"/>
          <p:cNvSpPr/>
          <p:nvPr/>
        </p:nvSpPr>
        <p:spPr>
          <a:xfrm>
            <a:off x="5177790" y="1062990"/>
            <a:ext cx="61722" cy="325755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10" name="Text 8"/>
          <p:cNvSpPr/>
          <p:nvPr/>
        </p:nvSpPr>
        <p:spPr>
          <a:xfrm>
            <a:off x="5356098" y="1213866"/>
            <a:ext cx="3065526" cy="296951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990" dirty="0">
                <a:solidFill>
                  <a:srgbClr val="475569"/>
                </a:solidFill>
              </a:rPr>
              <a:t>• antecedent: condiciones de síntomas, por ejemplo [(0,1), (1,1)].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consequent: enfermedad que propone la regla.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applies(): devuelve True solo si todas las condiciones coinciden.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__str__(): imprime la regla en lenguaje entendible.</a:t>
            </a:r>
            <a:endParaRPr lang="en-US" sz="9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196" y="21259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DEAP: Fitness e Individual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438912" y="576072"/>
            <a:ext cx="809244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dirty="0">
                <a:solidFill>
                  <a:srgbClr val="475569"/>
                </a:solidFill>
              </a:rPr>
              <a:t>Aquí DEAP convierte la clase Rule en un individuo evolutivo con fitness.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617220" y="1152144"/>
            <a:ext cx="3669030" cy="2263140"/>
          </a:xfrm>
          <a:prstGeom prst="roundRect">
            <a:avLst>
              <a:gd name="adj" fmla="val 2727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5" name="Shape 3"/>
          <p:cNvSpPr/>
          <p:nvPr/>
        </p:nvSpPr>
        <p:spPr>
          <a:xfrm>
            <a:off x="617220" y="1152144"/>
            <a:ext cx="3669030" cy="26060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6" name="Text 4"/>
          <p:cNvSpPr/>
          <p:nvPr/>
        </p:nvSpPr>
        <p:spPr>
          <a:xfrm>
            <a:off x="740664" y="1224153"/>
            <a:ext cx="342214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3" b="1" dirty="0">
                <a:solidFill>
                  <a:srgbClr val="D1D5DB"/>
                </a:solidFill>
              </a:rPr>
              <a:t>Fragmento: creator.create</a:t>
            </a:r>
            <a:endParaRPr lang="en-US" sz="563" dirty="0"/>
          </a:p>
        </p:txBody>
      </p:sp>
      <p:sp>
        <p:nvSpPr>
          <p:cNvPr id="7" name="Text 5"/>
          <p:cNvSpPr/>
          <p:nvPr/>
        </p:nvSpPr>
        <p:spPr>
          <a:xfrm>
            <a:off x="754380" y="1508760"/>
            <a:ext cx="3394710" cy="176936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creator.create(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"FitnessMax",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base.Fitness,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weights=(1.0,)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creator.create(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"Individual",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Rule,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fitness=creator.FitnessMax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4629150" y="1083564"/>
            <a:ext cx="3840480" cy="24688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9" name="Shape 7"/>
          <p:cNvSpPr/>
          <p:nvPr/>
        </p:nvSpPr>
        <p:spPr>
          <a:xfrm>
            <a:off x="4629150" y="1083564"/>
            <a:ext cx="61722" cy="2468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10" name="Text 8"/>
          <p:cNvSpPr/>
          <p:nvPr/>
        </p:nvSpPr>
        <p:spPr>
          <a:xfrm>
            <a:off x="4807458" y="1234440"/>
            <a:ext cx="3545586" cy="21808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990" dirty="0">
                <a:solidFill>
                  <a:srgbClr val="475569"/>
                </a:solidFill>
              </a:rPr>
              <a:t>• FitnessMax indica que se quiere maximizar la precisión.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weights=(1.0,) significa un solo objetivo: accuracy.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Individual hereda de Rule, pero ahora tiene atributo fitness.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Sin este paso, DEAP no sabría cómo comparar reglas.</a:t>
            </a:r>
            <a:endParaRPr lang="en-US" sz="990" dirty="0"/>
          </a:p>
        </p:txBody>
      </p:sp>
      <p:sp>
        <p:nvSpPr>
          <p:cNvPr id="11" name="Shape 9"/>
          <p:cNvSpPr/>
          <p:nvPr/>
        </p:nvSpPr>
        <p:spPr>
          <a:xfrm>
            <a:off x="1028700" y="3874770"/>
            <a:ext cx="7132320" cy="37719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12" name="Text 10"/>
          <p:cNvSpPr/>
          <p:nvPr/>
        </p:nvSpPr>
        <p:spPr>
          <a:xfrm>
            <a:off x="1138428" y="3984498"/>
            <a:ext cx="6912864" cy="15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930" b="1" dirty="0">
                <a:solidFill>
                  <a:srgbClr val="0F172A"/>
                </a:solidFill>
              </a:rPr>
              <a:t>DEAP aquí funciona como “motor evolutivo”; la lógica médica la define el código.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196" y="21259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Inicialización: crear reglas aleatorias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438912" y="576072"/>
            <a:ext cx="809244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dirty="0">
                <a:solidFill>
                  <a:srgbClr val="475569"/>
                </a:solidFill>
              </a:rPr>
              <a:t>La población inicial nace con reglas simples de 1 a 3 condiciones.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93776" y="973836"/>
            <a:ext cx="4251960" cy="3394710"/>
          </a:xfrm>
          <a:prstGeom prst="roundRect">
            <a:avLst>
              <a:gd name="adj" fmla="val 1818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5" name="Shape 3"/>
          <p:cNvSpPr/>
          <p:nvPr/>
        </p:nvSpPr>
        <p:spPr>
          <a:xfrm>
            <a:off x="493776" y="973836"/>
            <a:ext cx="4251960" cy="26060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6" name="Text 4"/>
          <p:cNvSpPr/>
          <p:nvPr/>
        </p:nvSpPr>
        <p:spPr>
          <a:xfrm>
            <a:off x="617220" y="1045845"/>
            <a:ext cx="400507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3" b="1" dirty="0">
                <a:solidFill>
                  <a:srgbClr val="D1D5DB"/>
                </a:solidFill>
              </a:rPr>
              <a:t>Fragmento: init_rule()</a:t>
            </a:r>
            <a:endParaRPr lang="en-US" sz="563" dirty="0"/>
          </a:p>
        </p:txBody>
      </p:sp>
      <p:sp>
        <p:nvSpPr>
          <p:cNvPr id="7" name="Text 5"/>
          <p:cNvSpPr/>
          <p:nvPr/>
        </p:nvSpPr>
        <p:spPr>
          <a:xfrm>
            <a:off x="630936" y="1330452"/>
            <a:ext cx="3977640" cy="290093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init_rule():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num_cond = random.randint(1, 3)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antecedent = []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available_symptoms = list(range(NUM_SYMPTOMS))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random.shuffle(available_symptoms)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range(num_cond):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sym_id = available_symptoms.pop()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req_val = random.randint(0, 1)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antecedent.append((sym_id, req_val))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consequent = random.randint(0, NUM_DISEASES - 1)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creator.Individual(antecedent, consequent)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4937760" y="1062990"/>
            <a:ext cx="3566160" cy="315468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9" name="Shape 7"/>
          <p:cNvSpPr/>
          <p:nvPr/>
        </p:nvSpPr>
        <p:spPr>
          <a:xfrm>
            <a:off x="4937760" y="1062990"/>
            <a:ext cx="61722" cy="3154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10" name="Text 8"/>
          <p:cNvSpPr/>
          <p:nvPr/>
        </p:nvSpPr>
        <p:spPr>
          <a:xfrm>
            <a:off x="5116068" y="1213866"/>
            <a:ext cx="3271266" cy="28666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990" dirty="0">
                <a:solidFill>
                  <a:srgbClr val="475569"/>
                </a:solidFill>
              </a:rPr>
              <a:t>• Escoge entre 1 y 3 síntomas para formar el antecedente.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Cada síntoma pide valor 0 o 1: ausente o presente.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El diagnóstico consecuente también se asigna aleatoriamente.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Devuelve creator.Individual para que la regla tenga fitness DEAP.</a:t>
            </a:r>
            <a:endParaRPr lang="en-US" sz="9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196" y="21259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Mutación: cómo evoluciona una regla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438912" y="576072"/>
            <a:ext cx="809244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dirty="0">
                <a:solidFill>
                  <a:srgbClr val="475569"/>
                </a:solidFill>
              </a:rPr>
              <a:t>La función mutRule() modifica la estructura o el diagnóstico de una regla.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93776" y="932688"/>
            <a:ext cx="4286250" cy="3600450"/>
          </a:xfrm>
          <a:prstGeom prst="roundRect">
            <a:avLst>
              <a:gd name="adj" fmla="val 1714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5" name="Shape 3"/>
          <p:cNvSpPr/>
          <p:nvPr/>
        </p:nvSpPr>
        <p:spPr>
          <a:xfrm>
            <a:off x="493776" y="932688"/>
            <a:ext cx="4286250" cy="26060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6" name="Text 4"/>
          <p:cNvSpPr/>
          <p:nvPr/>
        </p:nvSpPr>
        <p:spPr>
          <a:xfrm>
            <a:off x="617220" y="1004697"/>
            <a:ext cx="403936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3" b="1" dirty="0">
                <a:solidFill>
                  <a:srgbClr val="D1D5DB"/>
                </a:solidFill>
              </a:rPr>
              <a:t>Fragmento resumido: mutRule()</a:t>
            </a:r>
            <a:endParaRPr lang="en-US" sz="563" dirty="0"/>
          </a:p>
        </p:txBody>
      </p:sp>
      <p:sp>
        <p:nvSpPr>
          <p:cNvPr id="7" name="Text 5"/>
          <p:cNvSpPr/>
          <p:nvPr/>
        </p:nvSpPr>
        <p:spPr>
          <a:xfrm>
            <a:off x="630936" y="1289304"/>
            <a:ext cx="4011930" cy="310667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mutRule(individual):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mutated_rule = creator.Individual(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list(individual.antecedent),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individual.consequent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action = random.choice([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'change_consequent',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'add_condition',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'remove_condition',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'change_condition_value',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'change_condition_symptom'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Según la acción elegida: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- cambia enfermedad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- añade/quita condición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- invierte 0/1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- cambia el síntoma usado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mutated_rule,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4951476" y="1062990"/>
            <a:ext cx="3497580" cy="332613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9" name="Shape 7"/>
          <p:cNvSpPr/>
          <p:nvPr/>
        </p:nvSpPr>
        <p:spPr>
          <a:xfrm>
            <a:off x="4951476" y="1062990"/>
            <a:ext cx="61722" cy="332613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10" name="Text 8"/>
          <p:cNvSpPr/>
          <p:nvPr/>
        </p:nvSpPr>
        <p:spPr>
          <a:xfrm>
            <a:off x="5129784" y="1213866"/>
            <a:ext cx="3202686" cy="303809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990" dirty="0">
                <a:solidFill>
                  <a:srgbClr val="475569"/>
                </a:solidFill>
              </a:rPr>
              <a:t>• Es una mutación personalizada porque una regla no es un arreglo simple.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Puede cambiar el diagnóstico: Gripe → Resfriado, por ejemplo.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Puede hacer la regla más específica añadiendo condiciones.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Puede hacerla más general quitando condiciones.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DEAP exige devolver una tupla: return mutated_rule,</a:t>
            </a:r>
            <a:endParaRPr lang="en-US" sz="9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196" y="21259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Evaluación: inferencia por votación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438912" y="576072"/>
            <a:ext cx="809244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dirty="0">
                <a:solidFill>
                  <a:srgbClr val="475569"/>
                </a:solidFill>
              </a:rPr>
              <a:t>El conjunto de reglas se prueba contra todos los pacientes del dataset.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93776" y="918972"/>
            <a:ext cx="4423410" cy="3669030"/>
          </a:xfrm>
          <a:prstGeom prst="roundRect">
            <a:avLst>
              <a:gd name="adj" fmla="val 1682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5" name="Shape 3"/>
          <p:cNvSpPr/>
          <p:nvPr/>
        </p:nvSpPr>
        <p:spPr>
          <a:xfrm>
            <a:off x="493776" y="918972"/>
            <a:ext cx="4423410" cy="26060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6" name="Text 4"/>
          <p:cNvSpPr/>
          <p:nvPr/>
        </p:nvSpPr>
        <p:spPr>
          <a:xfrm>
            <a:off x="617220" y="990981"/>
            <a:ext cx="417652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3" b="1" dirty="0">
                <a:solidFill>
                  <a:srgbClr val="D1D5DB"/>
                </a:solidFill>
              </a:rPr>
              <a:t>Fragmento resumido: evaluate_rule_set()</a:t>
            </a:r>
            <a:endParaRPr lang="en-US" sz="563" dirty="0"/>
          </a:p>
        </p:txBody>
      </p:sp>
      <p:sp>
        <p:nvSpPr>
          <p:cNvPr id="7" name="Text 5"/>
          <p:cNvSpPr/>
          <p:nvPr/>
        </p:nvSpPr>
        <p:spPr>
          <a:xfrm>
            <a:off x="630936" y="1275588"/>
            <a:ext cx="4149090" cy="317525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evaluate_rule_set(rule_set, dataset):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correct_diagnoses = 0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patient_vector, actual_id in dataset: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votes = {d_id: 0 for d_id in range(NUM_DISEASES)}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fired_rules_count = 0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rule in rule_set: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rule.applies(patient_vector):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votes[rule.consequent] += 1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fired_rules_count += 1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fired_rules_count == 0: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predicted_id = 3 # Desconocido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ganador por mayoría; empate =&gt; Desconocido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predicted_id = enfermedad_con_mas_votos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predicted_id == actual_id: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correct_diagnoses += 1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accuracy,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5109210" y="1062990"/>
            <a:ext cx="3326130" cy="336042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9" name="Shape 7"/>
          <p:cNvSpPr/>
          <p:nvPr/>
        </p:nvSpPr>
        <p:spPr>
          <a:xfrm>
            <a:off x="5109210" y="1062990"/>
            <a:ext cx="61722" cy="33604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10" name="Text 8"/>
          <p:cNvSpPr/>
          <p:nvPr/>
        </p:nvSpPr>
        <p:spPr>
          <a:xfrm>
            <a:off x="5287518" y="1213866"/>
            <a:ext cx="3031236" cy="307238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990" dirty="0">
                <a:solidFill>
                  <a:srgbClr val="475569"/>
                </a:solidFill>
              </a:rPr>
              <a:t>• Cada regla que aplica al paciente emite un voto por su enfermedad.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La enfermedad con más votos se vuelve el diagnóstico predicho.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Si ninguna regla aplica, la salida es Desconocido.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Si hay empate, también se usa Desconocido.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El fitness es accuracy = aciertos / total de pacientes.</a:t>
            </a:r>
            <a:endParaRPr lang="en-US" sz="9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196" y="21259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Toolbox de DEAP: registro de operadores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438912" y="576072"/>
            <a:ext cx="809244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dirty="0">
                <a:solidFill>
                  <a:srgbClr val="475569"/>
                </a:solidFill>
              </a:rPr>
              <a:t>El toolbox es el tablero de control del algoritmo evolutivo.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534924" y="994410"/>
            <a:ext cx="3943350" cy="3017520"/>
          </a:xfrm>
          <a:prstGeom prst="roundRect">
            <a:avLst>
              <a:gd name="adj" fmla="val 2045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5" name="Shape 3"/>
          <p:cNvSpPr/>
          <p:nvPr/>
        </p:nvSpPr>
        <p:spPr>
          <a:xfrm>
            <a:off x="534924" y="994410"/>
            <a:ext cx="3943350" cy="26060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6" name="Text 4"/>
          <p:cNvSpPr/>
          <p:nvPr/>
        </p:nvSpPr>
        <p:spPr>
          <a:xfrm>
            <a:off x="658368" y="1066419"/>
            <a:ext cx="369646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3" b="1" dirty="0">
                <a:solidFill>
                  <a:srgbClr val="D1D5DB"/>
                </a:solidFill>
              </a:rPr>
              <a:t>Fragmento: toolbox</a:t>
            </a:r>
            <a:endParaRPr lang="en-US" sz="563" dirty="0"/>
          </a:p>
        </p:txBody>
      </p:sp>
      <p:sp>
        <p:nvSpPr>
          <p:cNvPr id="7" name="Text 5"/>
          <p:cNvSpPr/>
          <p:nvPr/>
        </p:nvSpPr>
        <p:spPr>
          <a:xfrm>
            <a:off x="672084" y="1351026"/>
            <a:ext cx="3669030" cy="25237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toolbox = base.Toolbox()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toolbox.register("individual", init_rule)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toolbox.register("population", tools.initRepeat,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list, toolbox.individual)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toolbox.register("evaluate", evaluate_rule_set,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dataset=PREPARED_TRAINING_DATA)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toolbox.register("mutate", mutRule)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toolbox.register("select", tools.selBest)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4766310" y="1062990"/>
            <a:ext cx="3737610" cy="291465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9" name="Shape 7"/>
          <p:cNvSpPr/>
          <p:nvPr/>
        </p:nvSpPr>
        <p:spPr>
          <a:xfrm>
            <a:off x="4766310" y="1062990"/>
            <a:ext cx="61722" cy="291465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10" name="Text 8"/>
          <p:cNvSpPr/>
          <p:nvPr/>
        </p:nvSpPr>
        <p:spPr>
          <a:xfrm>
            <a:off x="4944618" y="1213866"/>
            <a:ext cx="3442716" cy="262661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990" dirty="0">
                <a:solidFill>
                  <a:srgbClr val="475569"/>
                </a:solidFill>
              </a:rPr>
              <a:t>• individual: cómo crear una regla.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population: cómo crear una lista de reglas.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evaluate: cómo medir la precisión del conjunto.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mutate: qué función genera variaciones.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select: tools.selBest conserva los mejores individuos.</a:t>
            </a:r>
            <a:endParaRPr lang="en-US" sz="990" dirty="0"/>
          </a:p>
        </p:txBody>
      </p:sp>
      <p:sp>
        <p:nvSpPr>
          <p:cNvPr id="11" name="Shape 9"/>
          <p:cNvSpPr/>
          <p:nvPr/>
        </p:nvSpPr>
        <p:spPr>
          <a:xfrm>
            <a:off x="925830" y="4169664"/>
            <a:ext cx="7338060" cy="37719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12" name="Text 10"/>
          <p:cNvSpPr/>
          <p:nvPr/>
        </p:nvSpPr>
        <p:spPr>
          <a:xfrm>
            <a:off x="1035558" y="4279392"/>
            <a:ext cx="7118604" cy="15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930" b="1" dirty="0">
                <a:solidFill>
                  <a:srgbClr val="0F172A"/>
                </a:solidFill>
              </a:rPr>
              <a:t>Este bloque evita escribir un algoritmo evolutivo desde cero: DEAP llama funciones registradas.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196" y="21259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Ciclo evolutivo principal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438912" y="576072"/>
            <a:ext cx="809244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dirty="0">
                <a:solidFill>
                  <a:srgbClr val="475569"/>
                </a:solidFill>
              </a:rPr>
              <a:t>Se generan hijos por mutación, se evalúa el conjunto combinado y sobreviven los mejores.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45770" y="905256"/>
            <a:ext cx="4354830" cy="3669030"/>
          </a:xfrm>
          <a:prstGeom prst="roundRect">
            <a:avLst>
              <a:gd name="adj" fmla="val 1682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5" name="Shape 3"/>
          <p:cNvSpPr/>
          <p:nvPr/>
        </p:nvSpPr>
        <p:spPr>
          <a:xfrm>
            <a:off x="445770" y="905256"/>
            <a:ext cx="4354830" cy="26060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6" name="Text 4"/>
          <p:cNvSpPr/>
          <p:nvPr/>
        </p:nvSpPr>
        <p:spPr>
          <a:xfrm>
            <a:off x="569214" y="977265"/>
            <a:ext cx="410794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3" b="1" dirty="0">
                <a:solidFill>
                  <a:srgbClr val="D1D5DB"/>
                </a:solidFill>
              </a:rPr>
              <a:t>Fragmento: main()</a:t>
            </a:r>
            <a:endParaRPr lang="en-US" sz="563" dirty="0"/>
          </a:p>
        </p:txBody>
      </p:sp>
      <p:sp>
        <p:nvSpPr>
          <p:cNvPr id="7" name="Text 5"/>
          <p:cNvSpPr/>
          <p:nvPr/>
        </p:nvSpPr>
        <p:spPr>
          <a:xfrm>
            <a:off x="582930" y="1261872"/>
            <a:ext cx="4080510" cy="317525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POPULATION_SIZE = 30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NUM_GENERATIONS = 10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 = POPULATION_SIZE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 = POPULATION_SIZE * 3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 = toolbox.population(n=POPULATION_SIZE)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gen in range(1, NUM_GENERATIONS + 1):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offspring = []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range(LAMBDA):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parent = random.choice(pop)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child = toolbox.mutate(toolbox.clone(parent))[0]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offspring.append(child)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combined_population = pop + offspring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current_accuracy, = toolbox.evaluate(combined_population)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ind in combined_population: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ind.fitness.values = current_accuracy,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pop = toolbox.select(combined_population, k=MU)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5006340" y="1062990"/>
            <a:ext cx="3429000" cy="325755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9" name="Shape 7"/>
          <p:cNvSpPr/>
          <p:nvPr/>
        </p:nvSpPr>
        <p:spPr>
          <a:xfrm>
            <a:off x="5006340" y="1062990"/>
            <a:ext cx="61722" cy="325755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10" name="Text 8"/>
          <p:cNvSpPr/>
          <p:nvPr/>
        </p:nvSpPr>
        <p:spPr>
          <a:xfrm>
            <a:off x="5184648" y="1213866"/>
            <a:ext cx="3134106" cy="296951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990" dirty="0">
                <a:solidFill>
                  <a:srgbClr val="475569"/>
                </a:solidFill>
              </a:rPr>
              <a:t>• Se parte de 30 reglas iniciales.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Cada generación produce 90 hijos mutados.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Padres e hijos se juntan para formar el conjunto evaluado.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A todos se les asigna la precisión del conjunto.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selBest conserva 30 reglas para la siguiente generación.</a:t>
            </a:r>
            <a:endParaRPr lang="en-US" sz="9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196" y="21259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Estadísticas, salida y visualización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438912" y="576072"/>
            <a:ext cx="809244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dirty="0">
                <a:solidFill>
                  <a:srgbClr val="475569"/>
                </a:solidFill>
              </a:rPr>
              <a:t>El programa registra la precisión por generación y muestra las reglas finales.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93776" y="994410"/>
            <a:ext cx="4183380" cy="3360420"/>
          </a:xfrm>
          <a:prstGeom prst="roundRect">
            <a:avLst>
              <a:gd name="adj" fmla="val 1837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5" name="Shape 3"/>
          <p:cNvSpPr/>
          <p:nvPr/>
        </p:nvSpPr>
        <p:spPr>
          <a:xfrm>
            <a:off x="493776" y="994410"/>
            <a:ext cx="4183380" cy="26060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6" name="Text 4"/>
          <p:cNvSpPr/>
          <p:nvPr/>
        </p:nvSpPr>
        <p:spPr>
          <a:xfrm>
            <a:off x="617220" y="1066419"/>
            <a:ext cx="393649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3" b="1" dirty="0">
                <a:solidFill>
                  <a:srgbClr val="D1D5DB"/>
                </a:solidFill>
              </a:rPr>
              <a:t>Fragmento: métricas + gráfica</a:t>
            </a:r>
            <a:endParaRPr lang="en-US" sz="563" dirty="0"/>
          </a:p>
        </p:txBody>
      </p:sp>
      <p:sp>
        <p:nvSpPr>
          <p:cNvPr id="7" name="Text 5"/>
          <p:cNvSpPr/>
          <p:nvPr/>
        </p:nvSpPr>
        <p:spPr>
          <a:xfrm>
            <a:off x="630936" y="1351026"/>
            <a:ext cx="3909060" cy="28666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 = tools.Statistics(lambda ind: ind.fitness.values[0])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stats.register("avg", np.mean)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stats.register("std", np.std)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stats.register("min", np.min)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stats.register("max", np.max)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logbook = tools.Logbook()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logbook.header = "gen", "evals", "min", "avg", "max"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final_accuracy, = toolbox.evaluate(best_rules_found)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print(f"Precisión Final: {final_accuracy:.2%}")</a:t>
            </a:r>
            <a:endParaRPr lang="en-US" sz="720" dirty="0"/>
          </a:p>
          <a:p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plt.plot(gen, max_fitness, label="Mejor Precisión")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plt.plot(gen, avg_fitness, label="Precisión Promedio")</a:t>
            </a:r>
            <a:endParaRPr lang="en-US" sz="720" dirty="0"/>
          </a:p>
          <a:p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4869180" y="1062990"/>
            <a:ext cx="3737610" cy="318897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9" name="Shape 7"/>
          <p:cNvSpPr/>
          <p:nvPr/>
        </p:nvSpPr>
        <p:spPr>
          <a:xfrm>
            <a:off x="4869180" y="1062990"/>
            <a:ext cx="61722" cy="318897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10" name="Text 8"/>
          <p:cNvSpPr/>
          <p:nvPr/>
        </p:nvSpPr>
        <p:spPr>
          <a:xfrm>
            <a:off x="5047488" y="1213866"/>
            <a:ext cx="3442716" cy="290093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990" dirty="0">
                <a:solidFill>
                  <a:srgbClr val="475569"/>
                </a:solidFill>
              </a:rPr>
              <a:t>• tools.Statistics calcula métricas del fitness.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tools.Logbook guarda el historial por generación.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Se imprime el mejor conjunto de reglas encontrado.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La gráfica permite ver si la precisión mejora con las generaciones.</a:t>
            </a:r>
            <a:endParaRPr lang="en-US" sz="990" dirty="0"/>
          </a:p>
          <a:p>
            <a:r>
              <a:rPr lang="en-US" sz="990" dirty="0">
                <a:solidFill>
                  <a:srgbClr val="475569"/>
                </a:solidFill>
              </a:rPr>
              <a:t>• Ojo: como el dataset es pequeño, la gráfica es demostrativa.</a:t>
            </a:r>
            <a:endParaRPr lang="en-US" sz="9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2785</Words>
  <Application>Microsoft Office PowerPoint</Application>
  <PresentationFormat>Presentación en pantalla (16:9)</PresentationFormat>
  <Paragraphs>399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Diagnóstico Médico con Programación Evolutiva</dc:title>
  <dc:subject>PptxGenJS Presentation</dc:subject>
  <dc:creator>PptxGenJS</dc:creator>
  <cp:lastModifiedBy>CEVALLOS REA JORDY GABRIEL</cp:lastModifiedBy>
  <cp:revision>2</cp:revision>
  <dcterms:created xsi:type="dcterms:W3CDTF">2026-05-02T13:32:38Z</dcterms:created>
  <dcterms:modified xsi:type="dcterms:W3CDTF">2026-05-02T14:03:06Z</dcterms:modified>
</cp:coreProperties>
</file>